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8"/>
  </p:notesMasterIdLst>
  <p:sldIdLst>
    <p:sldId id="256" r:id="rId2"/>
    <p:sldId id="257" r:id="rId3"/>
    <p:sldId id="264" r:id="rId4"/>
    <p:sldId id="263" r:id="rId5"/>
    <p:sldId id="272" r:id="rId6"/>
    <p:sldId id="258" r:id="rId7"/>
    <p:sldId id="259" r:id="rId8"/>
    <p:sldId id="265" r:id="rId9"/>
    <p:sldId id="260" r:id="rId10"/>
    <p:sldId id="266" r:id="rId11"/>
    <p:sldId id="267" r:id="rId12"/>
    <p:sldId id="261" r:id="rId13"/>
    <p:sldId id="262" r:id="rId14"/>
    <p:sldId id="269" r:id="rId15"/>
    <p:sldId id="270" r:id="rId16"/>
    <p:sldId id="271" r:id="rId17"/>
  </p:sldIdLst>
  <p:sldSz cx="9144000" cy="5143500" type="screen16x9"/>
  <p:notesSz cx="6858000" cy="9144000"/>
  <p:embeddedFontLst>
    <p:embeddedFont>
      <p:font typeface="Maven Pro" panose="020B0604020202020204" charset="0"/>
      <p:regular r:id="rId19"/>
      <p:bold r:id="rId20"/>
    </p:embeddedFont>
    <p:embeddedFont>
      <p:font typeface="Nunito"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88" d="100"/>
          <a:sy n="88" d="100"/>
        </p:scale>
        <p:origin x="1234" y="2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enri\OneDrive\Bureau\CV_HDC\23.OPENCLASSROOMS\PROJET%202\REALISATION\Donne&#769;es+saison+re&#769;gulie&#768;re+NBA+2024_2025%20(version%202).xlsb.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enri\OneDrive\Bureau\CV_HDC\23.OPENCLASSROOMS\PROJET%202\REALISATION\Donne&#769;es+saison+re&#769;gulie&#768;re+NBA+2024_2025%20(version%202).xlsb.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enri\OneDrive\Bureau\CV_HDC\23.OPENCLASSROOMS\PROJET%202\REALISATION\Donne&#769;es+saison+re&#769;gulie&#768;re+NBA+2024_2025%20(version%202).xlsb.xlsx" TargetMode="External"/><Relationship Id="rId2" Type="http://schemas.microsoft.com/office/2011/relationships/chartColorStyle" Target="colors4.xml"/><Relationship Id="rId1" Type="http://schemas.microsoft.com/office/2011/relationships/chartStyle" Target="style4.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henri\OneDrive\Bureau\CV_HDC\23.OPENCLASSROOMS\PROJET%202\REALISATION\Donne&#769;es+saison+re&#769;gulie&#768;re+NBA+2024_2025%20(version%202).xlsb.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[Données+saison+régulière+NBA+2024_2025 (version 2).xlsb.xlsx]Vue d'ensemble!Tableau croisé dynamique2</c:name>
    <c:fmtId val="11"/>
  </c:pivotSource>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fr-FR" sz="1100" b="1" dirty="0">
                <a:solidFill>
                  <a:schemeClr val="bg2"/>
                </a:solidFill>
              </a:rPr>
              <a:t>Répartition des temps de jeux</a:t>
            </a:r>
          </a:p>
        </c:rich>
      </c:tx>
      <c:layout>
        <c:manualLayout>
          <c:xMode val="edge"/>
          <c:yMode val="edge"/>
          <c:x val="0.1159010921216712"/>
          <c:y val="3.5650623885918005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s>
    <c:plotArea>
      <c:layout/>
      <c:barChart>
        <c:barDir val="col"/>
        <c:grouping val="clustered"/>
        <c:varyColors val="1"/>
        <c:ser>
          <c:idx val="0"/>
          <c:order val="0"/>
          <c:tx>
            <c:strRef>
              <c:f>'Vue d''ensemble'!$B$21</c:f>
              <c:strCache>
                <c:ptCount val="1"/>
                <c:pt idx="0">
                  <c:v>Total</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DA59-45F8-8F54-62886BC00439}"/>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DA59-45F8-8F54-62886BC00439}"/>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DA59-45F8-8F54-62886BC00439}"/>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7-DA59-45F8-8F54-62886BC00439}"/>
              </c:ext>
            </c:extLst>
          </c:dPt>
          <c:cat>
            <c:strRef>
              <c:f>'Vue d''ensemble'!$A$22:$A$26</c:f>
              <c:strCache>
                <c:ptCount val="4"/>
                <c:pt idx="0">
                  <c:v>&lt;10 min</c:v>
                </c:pt>
                <c:pt idx="1">
                  <c:v>10–19 min</c:v>
                </c:pt>
                <c:pt idx="2">
                  <c:v>20–29 min</c:v>
                </c:pt>
                <c:pt idx="3">
                  <c:v>30–39 min</c:v>
                </c:pt>
              </c:strCache>
            </c:strRef>
          </c:cat>
          <c:val>
            <c:numRef>
              <c:f>'Vue d''ensemble'!$B$22:$B$26</c:f>
              <c:numCache>
                <c:formatCode>General</c:formatCode>
                <c:ptCount val="4"/>
                <c:pt idx="0">
                  <c:v>111</c:v>
                </c:pt>
                <c:pt idx="1">
                  <c:v>187</c:v>
                </c:pt>
                <c:pt idx="2">
                  <c:v>169</c:v>
                </c:pt>
                <c:pt idx="3">
                  <c:v>102</c:v>
                </c:pt>
              </c:numCache>
            </c:numRef>
          </c:val>
          <c:extLst>
            <c:ext xmlns:c16="http://schemas.microsoft.com/office/drawing/2014/chart" uri="{C3380CC4-5D6E-409C-BE32-E72D297353CC}">
              <c16:uniqueId val="{00000008-DA59-45F8-8F54-62886BC00439}"/>
            </c:ext>
          </c:extLst>
        </c:ser>
        <c:dLbls>
          <c:showLegendKey val="0"/>
          <c:showVal val="0"/>
          <c:showCatName val="0"/>
          <c:showSerName val="0"/>
          <c:showPercent val="0"/>
          <c:showBubbleSize val="0"/>
        </c:dLbls>
        <c:gapWidth val="219"/>
        <c:overlap val="-27"/>
        <c:axId val="1691120704"/>
        <c:axId val="1691121184"/>
      </c:barChart>
      <c:catAx>
        <c:axId val="16911207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900" b="0" dirty="0">
                    <a:solidFill>
                      <a:schemeClr val="bg2"/>
                    </a:solidFill>
                  </a:rPr>
                  <a:t>Tranches</a:t>
                </a:r>
                <a:r>
                  <a:rPr lang="fr-FR" sz="900" b="0" baseline="0" dirty="0">
                    <a:solidFill>
                      <a:schemeClr val="bg2"/>
                    </a:solidFill>
                  </a:rPr>
                  <a:t> de minutes joués par match</a:t>
                </a:r>
                <a:endParaRPr lang="fr-FR" sz="900" b="0" dirty="0">
                  <a:solidFill>
                    <a:schemeClr val="bg2"/>
                  </a:solidFill>
                </a:endParaRPr>
              </a:p>
            </c:rich>
          </c:tx>
          <c:layout>
            <c:manualLayout>
              <c:xMode val="edge"/>
              <c:yMode val="edge"/>
              <c:x val="0.13961888948819912"/>
              <c:y val="0.8988536749831422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91121184"/>
        <c:crosses val="autoZero"/>
        <c:auto val="1"/>
        <c:lblAlgn val="ctr"/>
        <c:lblOffset val="100"/>
        <c:noMultiLvlLbl val="0"/>
      </c:catAx>
      <c:valAx>
        <c:axId val="1691121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900" b="0" dirty="0">
                    <a:solidFill>
                      <a:schemeClr val="bg2"/>
                    </a:solidFill>
                  </a:rPr>
                  <a:t>Nombre de joueurs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911207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[Données+saison+régulière+NBA+2024_2025 (version 2).xlsb.xlsx]Vue d'ensemble!Tableau croisé dynamique13</c:name>
    <c:fmtId val="11"/>
  </c:pivotSource>
  <c:chart>
    <c:title>
      <c:tx>
        <c:rich>
          <a:bodyPr rot="0" spcFirstLastPara="1" vertOverflow="ellipsis" vert="horz" wrap="square" anchor="ctr" anchorCtr="1"/>
          <a:lstStyle/>
          <a:p>
            <a:pPr>
              <a:defRPr sz="1200" b="1" i="0" u="none" strike="noStrike" kern="1200" spc="0" baseline="0">
                <a:solidFill>
                  <a:schemeClr val="bg2"/>
                </a:solidFill>
                <a:latin typeface="+mn-lt"/>
                <a:ea typeface="+mn-ea"/>
                <a:cs typeface="+mn-cs"/>
              </a:defRPr>
            </a:pPr>
            <a:r>
              <a:rPr lang="en-US" sz="1100" b="1" dirty="0" err="1">
                <a:solidFill>
                  <a:schemeClr val="bg2"/>
                </a:solidFill>
              </a:rPr>
              <a:t>Répartition</a:t>
            </a:r>
            <a:r>
              <a:rPr lang="en-US" sz="1100" b="1" dirty="0">
                <a:solidFill>
                  <a:schemeClr val="bg2"/>
                </a:solidFill>
              </a:rPr>
              <a:t> des </a:t>
            </a:r>
            <a:r>
              <a:rPr lang="en-US" sz="1100" b="1" dirty="0" err="1">
                <a:solidFill>
                  <a:schemeClr val="bg2"/>
                </a:solidFill>
              </a:rPr>
              <a:t>joueurs</a:t>
            </a:r>
            <a:r>
              <a:rPr lang="en-US" sz="1100" b="1" dirty="0">
                <a:solidFill>
                  <a:schemeClr val="bg2"/>
                </a:solidFill>
              </a:rPr>
              <a:t> par tranche </a:t>
            </a:r>
            <a:r>
              <a:rPr lang="en-US" sz="1100" b="1" dirty="0" err="1">
                <a:solidFill>
                  <a:schemeClr val="bg2"/>
                </a:solidFill>
              </a:rPr>
              <a:t>d'âge</a:t>
            </a:r>
            <a:endParaRPr lang="en-US" sz="1100" b="1" dirty="0">
              <a:solidFill>
                <a:schemeClr val="bg2"/>
              </a:solidFill>
            </a:endParaRP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bg2"/>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
        <c:idx val="15"/>
        <c:spPr>
          <a:solidFill>
            <a:schemeClr val="accent1"/>
          </a:solidFill>
          <a:ln>
            <a:noFill/>
          </a:ln>
          <a:effectLst/>
        </c:spPr>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pivotFmt>
      <c:pivotFmt>
        <c:idx val="18"/>
        <c:spPr>
          <a:solidFill>
            <a:schemeClr val="accent1"/>
          </a:solidFill>
          <a:ln>
            <a:noFill/>
          </a:ln>
          <a:effectLst/>
        </c:spPr>
      </c:pivotFmt>
      <c:pivotFmt>
        <c:idx val="19"/>
        <c:spPr>
          <a:solidFill>
            <a:schemeClr val="accent1"/>
          </a:solidFill>
          <a:ln>
            <a:noFill/>
          </a:ln>
          <a:effectLst/>
        </c:spPr>
      </c:pivotFmt>
      <c:pivotFmt>
        <c:idx val="20"/>
        <c:spPr>
          <a:solidFill>
            <a:schemeClr val="accent1"/>
          </a:solidFill>
          <a:ln>
            <a:noFill/>
          </a:ln>
          <a:effectLst/>
        </c:spPr>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pivotFmt>
      <c:pivotFmt>
        <c:idx val="23"/>
        <c:spPr>
          <a:solidFill>
            <a:schemeClr val="accent1"/>
          </a:solidFill>
          <a:ln>
            <a:noFill/>
          </a:ln>
          <a:effectLst/>
        </c:spPr>
      </c:pivotFmt>
      <c:pivotFmt>
        <c:idx val="24"/>
        <c:spPr>
          <a:solidFill>
            <a:schemeClr val="accent1"/>
          </a:solidFill>
          <a:ln>
            <a:noFill/>
          </a:ln>
          <a:effectLst/>
        </c:spPr>
      </c:pivotFmt>
      <c:pivotFmt>
        <c:idx val="25"/>
        <c:spPr>
          <a:solidFill>
            <a:schemeClr val="accent1"/>
          </a:solidFill>
          <a:ln>
            <a:noFill/>
          </a:ln>
          <a:effectLst/>
        </c:spPr>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pivotFmt>
      <c:pivotFmt>
        <c:idx val="28"/>
        <c:spPr>
          <a:solidFill>
            <a:schemeClr val="accent1"/>
          </a:solidFill>
          <a:ln>
            <a:noFill/>
          </a:ln>
          <a:effectLst/>
        </c:spPr>
      </c:pivotFmt>
      <c:pivotFmt>
        <c:idx val="29"/>
        <c:spPr>
          <a:solidFill>
            <a:schemeClr val="accent1"/>
          </a:solidFill>
          <a:ln>
            <a:noFill/>
          </a:ln>
          <a:effectLst/>
        </c:spPr>
      </c:pivotFmt>
      <c:pivotFmt>
        <c:idx val="30"/>
        <c:spPr>
          <a:solidFill>
            <a:schemeClr val="accent1"/>
          </a:solidFill>
          <a:ln>
            <a:noFill/>
          </a:ln>
          <a:effectLst/>
        </c:spPr>
      </c:pivotFmt>
    </c:pivotFmts>
    <c:plotArea>
      <c:layout/>
      <c:barChart>
        <c:barDir val="col"/>
        <c:grouping val="clustered"/>
        <c:varyColors val="1"/>
        <c:ser>
          <c:idx val="0"/>
          <c:order val="0"/>
          <c:tx>
            <c:strRef>
              <c:f>'Vue d''ensemble'!$B$159</c:f>
              <c:strCache>
                <c:ptCount val="1"/>
                <c:pt idx="0">
                  <c:v>Total</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451D-421D-B655-EA13A3A38A7B}"/>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451D-421D-B655-EA13A3A38A7B}"/>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451D-421D-B655-EA13A3A38A7B}"/>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7-451D-421D-B655-EA13A3A38A7B}"/>
              </c:ext>
            </c:extLst>
          </c:dPt>
          <c:cat>
            <c:strRef>
              <c:f>'Vue d''ensemble'!$A$160:$A$164</c:f>
              <c:strCache>
                <c:ptCount val="4"/>
                <c:pt idx="0">
                  <c:v>18–22</c:v>
                </c:pt>
                <c:pt idx="1">
                  <c:v>23–27</c:v>
                </c:pt>
                <c:pt idx="2">
                  <c:v>28–32</c:v>
                </c:pt>
                <c:pt idx="3">
                  <c:v>33+</c:v>
                </c:pt>
              </c:strCache>
            </c:strRef>
          </c:cat>
          <c:val>
            <c:numRef>
              <c:f>'Vue d''ensemble'!$B$160:$B$164</c:f>
              <c:numCache>
                <c:formatCode>General</c:formatCode>
                <c:ptCount val="4"/>
                <c:pt idx="0">
                  <c:v>107</c:v>
                </c:pt>
                <c:pt idx="1">
                  <c:v>284</c:v>
                </c:pt>
                <c:pt idx="2">
                  <c:v>125</c:v>
                </c:pt>
                <c:pt idx="3">
                  <c:v>53</c:v>
                </c:pt>
              </c:numCache>
            </c:numRef>
          </c:val>
          <c:extLst>
            <c:ext xmlns:c16="http://schemas.microsoft.com/office/drawing/2014/chart" uri="{C3380CC4-5D6E-409C-BE32-E72D297353CC}">
              <c16:uniqueId val="{00000008-451D-421D-B655-EA13A3A38A7B}"/>
            </c:ext>
          </c:extLst>
        </c:ser>
        <c:dLbls>
          <c:showLegendKey val="0"/>
          <c:showVal val="0"/>
          <c:showCatName val="0"/>
          <c:showSerName val="0"/>
          <c:showPercent val="0"/>
          <c:showBubbleSize val="0"/>
        </c:dLbls>
        <c:gapWidth val="219"/>
        <c:overlap val="-27"/>
        <c:axId val="1770123328"/>
        <c:axId val="1770129568"/>
      </c:barChart>
      <c:catAx>
        <c:axId val="1770123328"/>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r>
                  <a:rPr lang="fr-FR" sz="900">
                    <a:solidFill>
                      <a:schemeClr val="bg2"/>
                    </a:solidFill>
                  </a:rPr>
                  <a:t>Tranche</a:t>
                </a:r>
                <a:r>
                  <a:rPr lang="fr-FR" sz="900" baseline="0">
                    <a:solidFill>
                      <a:schemeClr val="bg2"/>
                    </a:solidFill>
                  </a:rPr>
                  <a:t> d'âge</a:t>
                </a:r>
                <a:endParaRPr lang="fr-FR" sz="900">
                  <a:solidFill>
                    <a:schemeClr val="bg2"/>
                  </a:solidFill>
                </a:endParaRPr>
              </a:p>
            </c:rich>
          </c:tx>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70129568"/>
        <c:crosses val="autoZero"/>
        <c:auto val="1"/>
        <c:lblAlgn val="ctr"/>
        <c:lblOffset val="100"/>
        <c:noMultiLvlLbl val="0"/>
      </c:catAx>
      <c:valAx>
        <c:axId val="17701295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900" dirty="0">
                    <a:solidFill>
                      <a:schemeClr val="bg2"/>
                    </a:solidFill>
                  </a:rPr>
                  <a:t>Nombre de joueurs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701233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[Données+saison+régulière+NBA+2024_2025 (version 2).xlsb.xlsx]Production_Profil de tir!Tableau croisé dynamique14</c:name>
    <c:fmtId val="3"/>
  </c:pivotSource>
  <c:chart>
    <c:title>
      <c:tx>
        <c:rich>
          <a:bodyPr rot="0" spcFirstLastPara="1" vertOverflow="ellipsis" vert="horz" wrap="square" anchor="ctr" anchorCtr="1"/>
          <a:lstStyle/>
          <a:p>
            <a:pPr>
              <a:defRPr sz="1100" b="1" i="0" u="none" strike="noStrike" kern="1200" spc="0" baseline="0">
                <a:solidFill>
                  <a:schemeClr val="bg2"/>
                </a:solidFill>
                <a:latin typeface="+mn-lt"/>
                <a:ea typeface="+mn-ea"/>
                <a:cs typeface="+mn-cs"/>
              </a:defRPr>
            </a:pPr>
            <a:r>
              <a:rPr lang="fr-FR" sz="1000" b="1" dirty="0">
                <a:solidFill>
                  <a:schemeClr val="bg2"/>
                </a:solidFill>
              </a:rPr>
              <a:t>Top 10</a:t>
            </a:r>
          </a:p>
          <a:p>
            <a:pPr>
              <a:defRPr sz="1100" b="1">
                <a:solidFill>
                  <a:schemeClr val="bg2"/>
                </a:solidFill>
              </a:defRPr>
            </a:pPr>
            <a:r>
              <a:rPr lang="fr-FR" sz="1000" b="1" dirty="0">
                <a:solidFill>
                  <a:schemeClr val="bg2"/>
                </a:solidFill>
              </a:rPr>
              <a:t>Points par équipe en moyenne par jeu </a:t>
            </a:r>
          </a:p>
        </c:rich>
      </c:tx>
      <c:layout>
        <c:manualLayout>
          <c:xMode val="edge"/>
          <c:yMode val="edge"/>
          <c:x val="0.25338564128247215"/>
          <c:y val="3.2401395031100566E-2"/>
        </c:manualLayout>
      </c:layout>
      <c:overlay val="0"/>
      <c:spPr>
        <a:noFill/>
        <a:ln>
          <a:noFill/>
        </a:ln>
        <a:effectLst/>
      </c:spPr>
      <c:txPr>
        <a:bodyPr rot="0" spcFirstLastPara="1" vertOverflow="ellipsis" vert="horz" wrap="square" anchor="ctr" anchorCtr="1"/>
        <a:lstStyle/>
        <a:p>
          <a:pPr>
            <a:defRPr sz="1100" b="1" i="0" u="none" strike="noStrike" kern="1200" spc="0" baseline="0">
              <a:solidFill>
                <a:schemeClr val="bg2"/>
              </a:solidFill>
              <a:latin typeface="+mn-lt"/>
              <a:ea typeface="+mn-ea"/>
              <a:cs typeface="+mn-cs"/>
            </a:defRPr>
          </a:pPr>
          <a:endParaRPr lang="fr-FR"/>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
        <c:idx val="15"/>
        <c:spPr>
          <a:solidFill>
            <a:schemeClr val="accent1"/>
          </a:solidFill>
          <a:ln>
            <a:noFill/>
          </a:ln>
          <a:effectLst/>
        </c:spPr>
      </c:pivotFmt>
      <c:pivotFmt>
        <c:idx val="16"/>
        <c:spPr>
          <a:solidFill>
            <a:schemeClr val="accent1"/>
          </a:solidFill>
          <a:ln>
            <a:noFill/>
          </a:ln>
          <a:effectLst/>
        </c:spPr>
      </c:pivotFmt>
      <c:pivotFmt>
        <c:idx val="17"/>
        <c:spPr>
          <a:solidFill>
            <a:schemeClr val="accent1"/>
          </a:solidFill>
          <a:ln>
            <a:noFill/>
          </a:ln>
          <a:effectLst/>
        </c:spPr>
      </c:pivotFmt>
      <c:pivotFmt>
        <c:idx val="18"/>
        <c:spPr>
          <a:solidFill>
            <a:schemeClr val="accent1"/>
          </a:solidFill>
          <a:ln>
            <a:noFill/>
          </a:ln>
          <a:effectLst/>
        </c:spPr>
      </c:pivotFmt>
      <c:pivotFmt>
        <c:idx val="19"/>
        <c:spPr>
          <a:solidFill>
            <a:schemeClr val="accent1"/>
          </a:solidFill>
          <a:ln>
            <a:noFill/>
          </a:ln>
          <a:effectLst/>
        </c:spPr>
      </c:pivotFmt>
      <c:pivotFmt>
        <c:idx val="20"/>
        <c:spPr>
          <a:solidFill>
            <a:schemeClr val="accent1"/>
          </a:solidFill>
          <a:ln>
            <a:noFill/>
          </a:ln>
          <a:effectLst/>
        </c:spPr>
      </c:pivotFmt>
      <c:pivotFmt>
        <c:idx val="21"/>
        <c:spPr>
          <a:solidFill>
            <a:schemeClr val="accent1"/>
          </a:solidFill>
          <a:ln>
            <a:noFill/>
          </a:ln>
          <a:effectLst/>
        </c:spPr>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pivotFmt>
      <c:pivotFmt>
        <c:idx val="24"/>
        <c:spPr>
          <a:solidFill>
            <a:schemeClr val="accent1"/>
          </a:solidFill>
          <a:ln>
            <a:noFill/>
          </a:ln>
          <a:effectLst/>
        </c:spPr>
      </c:pivotFmt>
      <c:pivotFmt>
        <c:idx val="25"/>
        <c:spPr>
          <a:solidFill>
            <a:schemeClr val="accent1"/>
          </a:solidFill>
          <a:ln>
            <a:noFill/>
          </a:ln>
          <a:effectLst/>
        </c:spPr>
      </c:pivotFmt>
      <c:pivotFmt>
        <c:idx val="26"/>
        <c:spPr>
          <a:solidFill>
            <a:schemeClr val="accent1"/>
          </a:solidFill>
          <a:ln>
            <a:noFill/>
          </a:ln>
          <a:effectLst/>
        </c:spPr>
      </c:pivotFmt>
      <c:pivotFmt>
        <c:idx val="27"/>
        <c:spPr>
          <a:solidFill>
            <a:schemeClr val="accent1"/>
          </a:solidFill>
          <a:ln>
            <a:noFill/>
          </a:ln>
          <a:effectLst/>
        </c:spPr>
      </c:pivotFmt>
      <c:pivotFmt>
        <c:idx val="28"/>
        <c:spPr>
          <a:solidFill>
            <a:schemeClr val="accent1"/>
          </a:solidFill>
          <a:ln>
            <a:noFill/>
          </a:ln>
          <a:effectLst/>
        </c:spPr>
      </c:pivotFmt>
      <c:pivotFmt>
        <c:idx val="29"/>
        <c:spPr>
          <a:solidFill>
            <a:schemeClr val="accent1"/>
          </a:solidFill>
          <a:ln>
            <a:noFill/>
          </a:ln>
          <a:effectLst/>
        </c:spPr>
      </c:pivotFmt>
      <c:pivotFmt>
        <c:idx val="30"/>
        <c:spPr>
          <a:solidFill>
            <a:schemeClr val="accent1"/>
          </a:solidFill>
          <a:ln>
            <a:noFill/>
          </a:ln>
          <a:effectLst/>
        </c:spPr>
      </c:pivotFmt>
      <c:pivotFmt>
        <c:idx val="31"/>
        <c:spPr>
          <a:solidFill>
            <a:schemeClr val="accent1"/>
          </a:solidFill>
          <a:ln>
            <a:noFill/>
          </a:ln>
          <a:effectLst/>
        </c:spPr>
      </c:pivotFmt>
      <c:pivotFmt>
        <c:idx val="32"/>
        <c:spPr>
          <a:solidFill>
            <a:schemeClr val="accent1"/>
          </a:solidFill>
          <a:ln>
            <a:noFill/>
          </a:ln>
          <a:effectLst/>
        </c:spPr>
      </c:pivotFmt>
    </c:pivotFmts>
    <c:plotArea>
      <c:layout/>
      <c:barChart>
        <c:barDir val="col"/>
        <c:grouping val="clustered"/>
        <c:varyColors val="1"/>
        <c:ser>
          <c:idx val="0"/>
          <c:order val="0"/>
          <c:tx>
            <c:strRef>
              <c:f>'Production_Profil de tir'!$B$6</c:f>
              <c:strCache>
                <c:ptCount val="1"/>
                <c:pt idx="0">
                  <c:v>Total</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3A6C-458C-A3FA-09517427C359}"/>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3A6C-458C-A3FA-09517427C359}"/>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3A6C-458C-A3FA-09517427C359}"/>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7-3A6C-458C-A3FA-09517427C359}"/>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9-3A6C-458C-A3FA-09517427C359}"/>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B-3A6C-458C-A3FA-09517427C359}"/>
              </c:ext>
            </c:extLst>
          </c:dPt>
          <c:dPt>
            <c:idx val="6"/>
            <c:invertIfNegative val="0"/>
            <c:bubble3D val="0"/>
            <c:spPr>
              <a:solidFill>
                <a:schemeClr val="accent1">
                  <a:lumMod val="60000"/>
                </a:schemeClr>
              </a:solidFill>
              <a:ln>
                <a:noFill/>
              </a:ln>
              <a:effectLst/>
            </c:spPr>
            <c:extLst>
              <c:ext xmlns:c16="http://schemas.microsoft.com/office/drawing/2014/chart" uri="{C3380CC4-5D6E-409C-BE32-E72D297353CC}">
                <c16:uniqueId val="{0000000D-3A6C-458C-A3FA-09517427C359}"/>
              </c:ext>
            </c:extLst>
          </c:dPt>
          <c:dPt>
            <c:idx val="7"/>
            <c:invertIfNegative val="0"/>
            <c:bubble3D val="0"/>
            <c:spPr>
              <a:solidFill>
                <a:schemeClr val="accent2">
                  <a:lumMod val="60000"/>
                </a:schemeClr>
              </a:solidFill>
              <a:ln>
                <a:noFill/>
              </a:ln>
              <a:effectLst/>
            </c:spPr>
            <c:extLst>
              <c:ext xmlns:c16="http://schemas.microsoft.com/office/drawing/2014/chart" uri="{C3380CC4-5D6E-409C-BE32-E72D297353CC}">
                <c16:uniqueId val="{0000000F-3A6C-458C-A3FA-09517427C359}"/>
              </c:ext>
            </c:extLst>
          </c:dPt>
          <c:dPt>
            <c:idx val="8"/>
            <c:invertIfNegative val="0"/>
            <c:bubble3D val="0"/>
            <c:spPr>
              <a:solidFill>
                <a:schemeClr val="accent3">
                  <a:lumMod val="60000"/>
                </a:schemeClr>
              </a:solidFill>
              <a:ln>
                <a:noFill/>
              </a:ln>
              <a:effectLst/>
            </c:spPr>
            <c:extLst>
              <c:ext xmlns:c16="http://schemas.microsoft.com/office/drawing/2014/chart" uri="{C3380CC4-5D6E-409C-BE32-E72D297353CC}">
                <c16:uniqueId val="{00000011-3A6C-458C-A3FA-09517427C359}"/>
              </c:ext>
            </c:extLst>
          </c:dPt>
          <c:dPt>
            <c:idx val="9"/>
            <c:invertIfNegative val="0"/>
            <c:bubble3D val="0"/>
            <c:spPr>
              <a:solidFill>
                <a:schemeClr val="accent4">
                  <a:lumMod val="60000"/>
                </a:schemeClr>
              </a:solidFill>
              <a:ln>
                <a:noFill/>
              </a:ln>
              <a:effectLst/>
            </c:spPr>
            <c:extLst>
              <c:ext xmlns:c16="http://schemas.microsoft.com/office/drawing/2014/chart" uri="{C3380CC4-5D6E-409C-BE32-E72D297353CC}">
                <c16:uniqueId val="{00000013-3A6C-458C-A3FA-09517427C359}"/>
              </c:ext>
            </c:extLst>
          </c:dPt>
          <c:cat>
            <c:strRef>
              <c:f>'Production_Profil de tir'!$A$7:$A$17</c:f>
              <c:strCache>
                <c:ptCount val="10"/>
                <c:pt idx="0">
                  <c:v>PHI</c:v>
                </c:pt>
                <c:pt idx="1">
                  <c:v>NOP</c:v>
                </c:pt>
                <c:pt idx="2">
                  <c:v>CHA</c:v>
                </c:pt>
                <c:pt idx="3">
                  <c:v>TOR</c:v>
                </c:pt>
                <c:pt idx="4">
                  <c:v>BKN</c:v>
                </c:pt>
                <c:pt idx="5">
                  <c:v>DAL</c:v>
                </c:pt>
                <c:pt idx="6">
                  <c:v>UTA</c:v>
                </c:pt>
                <c:pt idx="7">
                  <c:v>DET</c:v>
                </c:pt>
                <c:pt idx="8">
                  <c:v>ATL</c:v>
                </c:pt>
                <c:pt idx="9">
                  <c:v>CLE</c:v>
                </c:pt>
              </c:strCache>
            </c:strRef>
          </c:cat>
          <c:val>
            <c:numRef>
              <c:f>'Production_Profil de tir'!$B$7:$B$17</c:f>
              <c:numCache>
                <c:formatCode>0.00</c:formatCode>
                <c:ptCount val="10"/>
                <c:pt idx="0">
                  <c:v>231.51160578809234</c:v>
                </c:pt>
                <c:pt idx="1">
                  <c:v>219.07614756099238</c:v>
                </c:pt>
                <c:pt idx="2">
                  <c:v>210.56633982883525</c:v>
                </c:pt>
                <c:pt idx="3">
                  <c:v>199.87182807672144</c:v>
                </c:pt>
                <c:pt idx="4">
                  <c:v>193.54481401906716</c:v>
                </c:pt>
                <c:pt idx="5">
                  <c:v>189.00385308294852</c:v>
                </c:pt>
                <c:pt idx="6">
                  <c:v>180.62855838687182</c:v>
                </c:pt>
                <c:pt idx="7">
                  <c:v>179.49491845064864</c:v>
                </c:pt>
                <c:pt idx="8">
                  <c:v>174.46914239761645</c:v>
                </c:pt>
                <c:pt idx="9">
                  <c:v>166.11355302137224</c:v>
                </c:pt>
              </c:numCache>
            </c:numRef>
          </c:val>
          <c:extLst>
            <c:ext xmlns:c16="http://schemas.microsoft.com/office/drawing/2014/chart" uri="{C3380CC4-5D6E-409C-BE32-E72D297353CC}">
              <c16:uniqueId val="{00000014-3A6C-458C-A3FA-09517427C359}"/>
            </c:ext>
          </c:extLst>
        </c:ser>
        <c:dLbls>
          <c:showLegendKey val="0"/>
          <c:showVal val="0"/>
          <c:showCatName val="0"/>
          <c:showSerName val="0"/>
          <c:showPercent val="0"/>
          <c:showBubbleSize val="0"/>
        </c:dLbls>
        <c:gapWidth val="219"/>
        <c:overlap val="-27"/>
        <c:axId val="1770161248"/>
        <c:axId val="1770161728"/>
      </c:barChart>
      <c:catAx>
        <c:axId val="17701612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r>
                  <a:rPr lang="fr-FR">
                    <a:solidFill>
                      <a:schemeClr val="bg2"/>
                    </a:solidFill>
                  </a:rPr>
                  <a:t>Equipe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70161728"/>
        <c:crosses val="autoZero"/>
        <c:auto val="1"/>
        <c:lblAlgn val="ctr"/>
        <c:lblOffset val="100"/>
        <c:noMultiLvlLbl val="0"/>
      </c:catAx>
      <c:valAx>
        <c:axId val="177016172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bg2"/>
                    </a:solidFill>
                    <a:latin typeface="+mn-lt"/>
                    <a:ea typeface="+mn-ea"/>
                    <a:cs typeface="+mn-cs"/>
                  </a:defRPr>
                </a:pPr>
                <a:r>
                  <a:rPr lang="fr-FR">
                    <a:solidFill>
                      <a:schemeClr val="bg2"/>
                    </a:solidFill>
                  </a:rPr>
                  <a:t>Points par jeu</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fr-F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70161248"/>
        <c:crosses val="autoZero"/>
        <c:crossBetween val="between"/>
      </c:valAx>
      <c:spPr>
        <a:noFill/>
        <a:ln>
          <a:noFill/>
        </a:ln>
        <a:effectLst/>
      </c:spPr>
    </c:plotArea>
    <c:legend>
      <c:legendPos val="r"/>
      <c:layout>
        <c:manualLayout>
          <c:xMode val="edge"/>
          <c:yMode val="edge"/>
          <c:x val="0.88319422572178474"/>
          <c:y val="0.14989282589676289"/>
          <c:w val="0.10013910761154855"/>
          <c:h val="0.7978991688538932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'Données NBA enrichies'!$AT$2:$AT$570</cx:f>
        <cx:lvl ptCount="569" formatCode="0,00">
          <cx:pt idx="0">32.69736842105263</cx:pt>
          <cx:pt idx="1">27.594936708860761</cx:pt>
          <cx:pt idx="2">29.600000000000001</cx:pt>
          <cx:pt idx="3">30.402985074626866</cx:pt>
          <cx:pt idx="4">26.805555555555557</cx:pt>
          <cx:pt idx="5">25.600000000000001</cx:pt>
          <cx:pt idx="6">23.896103896103895</cx:pt>
          <cx:pt idx="7">24.19736842105263</cx:pt>
          <cx:pt idx="8">26.100000000000001</cx:pt>
          <cx:pt idx="9">22.797468354430379</cx:pt>
          <cx:pt idx="10">24.402777777777779</cx:pt>
          <cx:pt idx="11">23.297297297297298</cx:pt>
          <cx:pt idx="12">21</cx:pt>
          <cx:pt idx="13">24.5</cx:pt>
          <cx:pt idx="14">22.194805194805195</cx:pt>
          <cx:pt idx="15">24.399999999999999</cx:pt>
          <cx:pt idx="16">24</cx:pt>
          <cx:pt idx="17">26</cx:pt>
          <cx:pt idx="18">26.596774193548388</cx:pt>
          <cx:pt idx="19">22.202702702702702</cx:pt>
          <cx:pt idx="20">20.205128205128204</cx:pt>
          <cx:pt idx="21">20.600000000000001</cx:pt>
          <cx:pt idx="22">20.405405405405407</cx:pt>
          <cx:pt idx="23">21.594202898550726</cx:pt>
          <cx:pt idx="24">20.205479452054796</cx:pt>
          <cx:pt idx="25">23.5</cx:pt>
          <cx:pt idx="26">19.105263157894736</cx:pt>
          <cx:pt idx="27">24.199999999999999</cx:pt>
          <cx:pt idx="28">24.896551724137932</cx:pt>
          <cx:pt idx="29">17.597560975609756</cx:pt>
          <cx:pt idx="30">21.402985074626866</cx:pt>
          <cx:pt idx="31">18.102564102564102</cx:pt>
          <cx:pt idx="32">28.199999999999999</cx:pt>
          <cx:pt idx="33">18.194805194805195</cx:pt>
          <cx:pt idx="34">22.206349206349206</cx:pt>
          <cx:pt idx="35">20.5</cx:pt>
          <cx:pt idx="36">26.307692307692307</cx:pt>
          <cx:pt idx="37">18.602739726027398</cx:pt>
          <cx:pt idx="38">18.506849315068493</cx:pt>
          <cx:pt idx="39">19.300000000000001</cx:pt>
          <cx:pt idx="40">16.800000000000001</cx:pt>
          <cx:pt idx="41">16.304878048780488</cx:pt>
          <cx:pt idx="42">19.100000000000001</cx:pt>
          <cx:pt idx="43">18</cx:pt>
          <cx:pt idx="44">18.5</cx:pt>
          <cx:pt idx="45">19.202898550724637</cx:pt>
          <cx:pt idx="46">18.507042253521128</cx:pt>
          <cx:pt idx="47">21.800000000000001</cx:pt>
          <cx:pt idx="48">20.296875</cx:pt>
          <cx:pt idx="49">18.695652173913043</cx:pt>
          <cx:pt idx="50">24.705882352941178</cx:pt>
          <cx:pt idx="51">19.307692307692307</cx:pt>
          <cx:pt idx="52">16.394736842105264</cx:pt>
          <cx:pt idx="53">24.699999999999999</cx:pt>
          <cx:pt idx="54">21.103448275862068</cx:pt>
          <cx:pt idx="55">15.405063291139241</cx:pt>
          <cx:pt idx="56">16.902777777777779</cx:pt>
          <cx:pt idx="57">25.891304347826086</cx:pt>
          <cx:pt idx="58">14.703703703703704</cx:pt>
          <cx:pt idx="59">25.191489361702128</cx:pt>
          <cx:pt idx="60">21.107142857142858</cx:pt>
          <cx:pt idx="61">23.199999999999999</cx:pt>
          <cx:pt idx="62">16.097222222222221</cx:pt>
          <cx:pt idx="63">18.396825396825395</cx:pt>
          <cx:pt idx="64">14.300000000000001</cx:pt>
          <cx:pt idx="65">14.199999999999999</cx:pt>
          <cx:pt idx="66">16.805970149253731</cx:pt>
          <cx:pt idx="67">21.20754716981132</cx:pt>
          <cx:pt idx="68">15.597222222222221</cx:pt>
          <cx:pt idx="69">17.199999999999999</cx:pt>
          <cx:pt idx="70">24.304347826086957</cx:pt>
          <cx:pt idx="71">13.5</cx:pt>
          <cx:pt idx="72">14.6</cx:pt>
          <cx:pt idx="73">17</cx:pt>
          <cx:pt idx="74">18</cx:pt>
          <cx:pt idx="75">14.105263157894736</cx:pt>
          <cx:pt idx="76">18.807017543859651</cx:pt>
          <cx:pt idx="77">14</cx:pt>
          <cx:pt idx="78">13.597402597402597</cx:pt>
          <cx:pt idx="79">16.296875</cx:pt>
          <cx:pt idx="80">13</cx:pt>
          <cx:pt idx="81">14.6</cx:pt>
          <cx:pt idx="82">12.304878048780488</cx:pt>
          <cx:pt idx="83">14</cx:pt>
          <cx:pt idx="84">13.698630136986301</cx:pt>
          <cx:pt idx="85">12.195121951219512</cx:pt>
          <cx:pt idx="86">13.306666666666667</cx:pt>
          <cx:pt idx="87">13.405405405405405</cx:pt>
          <cx:pt idx="88">13.106666666666667</cx:pt>
          <cx:pt idx="89">12.7012987012987</cx:pt>
          <cx:pt idx="90">14.101449275362318</cx:pt>
          <cx:pt idx="91">17.509090909090908</cx:pt>
          <cx:pt idx="92">14.800000000000001</cx:pt>
          <cx:pt idx="93">12.6</cx:pt>
          <cx:pt idx="94">12.394736842105264</cx:pt>
          <cx:pt idx="95">11.794871794871796</cx:pt>
          <cx:pt idx="96">12</cx:pt>
          <cx:pt idx="97">13.202898550724637</cx:pt>
          <cx:pt idx="98">11.097560975609756</cx:pt>
          <cx:pt idx="99">15.1</cx:pt>
          <cx:pt idx="100">17</cx:pt>
          <cx:pt idx="101">19</cx:pt>
          <cx:pt idx="102">11.294871794871796</cx:pt>
          <cx:pt idx="103">12.5</cx:pt>
          <cx:pt idx="104">13</cx:pt>
          <cx:pt idx="105">11</cx:pt>
          <cx:pt idx="106">12</cx:pt>
          <cx:pt idx="107">11</cx:pt>
          <cx:pt idx="108">14.1</cx:pt>
          <cx:pt idx="109">10.395061728395062</cx:pt>
          <cx:pt idx="110">14.701754385964913</cx:pt>
          <cx:pt idx="111">12.696969696969697</cx:pt>
          <cx:pt idx="112">10.594936708860759</cx:pt>
          <cx:pt idx="113">10.50632911392405</cx:pt>
          <cx:pt idx="114">14.508771929824562</cx:pt>
          <cx:pt idx="115">10.197530864197532</cx:pt>
          <cx:pt idx="116">10.405063291139241</cx:pt>
          <cx:pt idx="117">11.094594594594595</cx:pt>
          <cx:pt idx="118">19.5</cx:pt>
          <cx:pt idx="119">11</cx:pt>
          <cx:pt idx="120">12.507692307692308</cx:pt>
          <cx:pt idx="121">9.9024390243902438</cx:pt>
          <cx:pt idx="122">9.8048780487804876</cx:pt>
          <cx:pt idx="123">21.513513513513512</cx:pt>
          <cx:pt idx="124">9.8987341772151893</cx:pt>
          <cx:pt idx="125">9.8987341772151893</cx:pt>
          <cx:pt idx="126">10.103896103896103</cx:pt>
          <cx:pt idx="127">14.407407407407407</cx:pt>
          <cx:pt idx="128">12.09375</cx:pt>
          <cx:pt idx="129">10.901408450704226</cx:pt>
          <cx:pt idx="130">13.101694915254237</cx:pt>
          <cx:pt idx="131">10.306666666666667</cx:pt>
          <cx:pt idx="132">9.4024390243902438</cx:pt>
          <cx:pt idx="133">11</cx:pt>
          <cx:pt idx="134">19</cx:pt>
          <cx:pt idx="135">10.202702702702704</cx:pt>
          <cx:pt idx="136">9.5063291139240498</cx:pt>
          <cx:pt idx="137">14.705882352941176</cx:pt>
          <cx:pt idx="138">9.6025641025641022</cx:pt>
          <cx:pt idx="139">11.703125</cx:pt>
          <cx:pt idx="140">24.600000000000001</cx:pt>
          <cx:pt idx="141">9.3974358974358978</cx:pt>
          <cx:pt idx="142">12.603448275862069</cx:pt>
          <cx:pt idx="143">12.305084745762711</cx:pt>
          <cx:pt idx="144">9.7972972972972965</cx:pt>
          <cx:pt idx="145">11.693548387096774</cx:pt>
          <cx:pt idx="146">8.8048780487804876</cx:pt>
          <cx:pt idx="147">10.300000000000001</cx:pt>
          <cx:pt idx="148">15.297872340425531</cx:pt>
          <cx:pt idx="149">9.1012658227848107</cx:pt>
          <cx:pt idx="150">10.098591549295774</cx:pt>
          <cx:pt idx="151">9.1025641025641022</cx:pt>
          <cx:pt idx="152">11.60655737704918</cx:pt>
          <cx:pt idx="153">12.298245614035087</cx:pt>
          <cx:pt idx="154">9.6944444444444446</cx:pt>
          <cx:pt idx="155">12.192982456140351</cx:pt>
          <cx:pt idx="156">9.5972222222222214</cx:pt>
          <cx:pt idx="157">11.096774193548388</cx:pt>
          <cx:pt idx="158">8.5999999999999996</cx:pt>
          <cx:pt idx="159">12</cx:pt>
          <cx:pt idx="160">9.8985507246376816</cx:pt>
          <cx:pt idx="161">9.1066666666666674</cx:pt>
          <cx:pt idx="162">13.897959183673469</cx:pt>
          <cx:pt idx="163">18.888888888888889</cx:pt>
          <cx:pt idx="164">10.59375</cx:pt>
          <cx:pt idx="165">10.59375</cx:pt>
          <cx:pt idx="166">14.404255319148936</cx:pt>
          <cx:pt idx="167">15.295454545454545</cx:pt>
          <cx:pt idx="168">8.7012987012987004</cx:pt>
          <cx:pt idx="169">10.40625</cx:pt>
          <cx:pt idx="170">9.0958904109589049</cx:pt>
          <cx:pt idx="171">16.195121951219512</cx:pt>
          <cx:pt idx="172">8.3000000000000007</cx:pt>
          <cx:pt idx="173">8.1999999999999993</cx:pt>
          <cx:pt idx="174">10</cx:pt>
          <cx:pt idx="175">11.103448275862069</cx:pt>
          <cx:pt idx="176">11.192982456140351</cx:pt>
          <cx:pt idx="177">10</cx:pt>
          <cx:pt idx="178">9.4029850746268657</cx:pt>
          <cx:pt idx="179">9.1029411764705888</cx:pt>
          <cx:pt idx="180">8.704225352112676</cx:pt>
          <cx:pt idx="181">11.407407407407407</cx:pt>
          <cx:pt idx="182">9</cx:pt>
          <cx:pt idx="183">9.5</cx:pt>
          <cx:pt idx="184">9.1969696969696972</cx:pt>
          <cx:pt idx="185">10.803571428571429</cx:pt>
          <cx:pt idx="186">8.5070422535211261</cx:pt>
          <cx:pt idx="187">24</cx:pt>
          <cx:pt idx="188">16.189189189189189</cx:pt>
          <cx:pt idx="189">10.101694915254237</cx:pt>
          <cx:pt idx="190">9.296875</cx:pt>
          <cx:pt idx="191">9.9000000000000004</cx:pt>
          <cx:pt idx="192">8.7058823529411757</cx:pt>
          <cx:pt idx="193">9</cx:pt>
          <cx:pt idx="194">7.9054054054054053</cx:pt>
          <cx:pt idx="195">10.796296296296296</cx:pt>
          <cx:pt idx="196">8.1971830985915499</cx:pt>
          <cx:pt idx="197">8.907692307692308</cx:pt>
          <cx:pt idx="198">10.303571428571429</cx:pt>
          <cx:pt idx="199">14.4</cx:pt>
          <cx:pt idx="200">8.3970588235294112</cx:pt>
          <cx:pt idx="201">8.90625</cx:pt>
          <cx:pt idx="202">8.6060606060606055</cx:pt>
          <cx:pt idx="203">21</cx:pt>
          <cx:pt idx="204">9</cx:pt>
          <cx:pt idx="205">16.199999999999999</cx:pt>
          <cx:pt idx="206">12.304347826086957</cx:pt>
          <cx:pt idx="207">17.09090909090909</cx:pt>
          <cx:pt idx="208">8.2985074626865671</cx:pt>
          <cx:pt idx="209">8.1029411764705888</cx:pt>
          <cx:pt idx="210">8.6984126984126977</cx:pt>
          <cx:pt idx="211">8.806451612903226</cx:pt>
          <cx:pt idx="212">17.516129032258064</cx:pt>
          <cx:pt idx="213">9</cx:pt>
          <cx:pt idx="214">12</cx:pt>
          <cx:pt idx="215">7.397260273972603</cx:pt>
          <cx:pt idx="216">9</cx:pt>
          <cx:pt idx="217">7.2027027027027026</cx:pt>
          <cx:pt idx="218">7.3013698630136989</cx:pt>
          <cx:pt idx="219">7.1066666666666665</cx:pt>
          <cx:pt idx="220">8.296875</cx:pt>
          <cx:pt idx="221">9.2982456140350873</cx:pt>
          <cx:pt idx="222">17.600000000000001</cx:pt>
          <cx:pt idx="223">8.203125</cx:pt>
          <cx:pt idx="224">8.6999999999999993</cx:pt>
          <cx:pt idx="225">6.3950617283950617</cx:pt>
          <cx:pt idx="226">7.7014925373134329</cx:pt>
          <cx:pt idx="227">7.197183098591549</cx:pt>
          <cx:pt idx="228">6.9054054054054053</cx:pt>
          <cx:pt idx="229">7.2000000000000002</cx:pt>
          <cx:pt idx="230">7.3970588235294121</cx:pt>
          <cx:pt idx="231">10</cx:pt>
          <cx:pt idx="232">6.9027777777777777</cx:pt>
          <cx:pt idx="233">8.7017543859649127</cx:pt>
          <cx:pt idx="234">10.695652173913043</cx:pt>
          <cx:pt idx="235">8.9090909090909083</cx:pt>
          <cx:pt idx="236">6.5</cx:pt>
          <cx:pt idx="237">15</cx:pt>
          <cx:pt idx="238">9.3921568627450984</cx:pt>
          <cx:pt idx="239">6.4054054054054053</cx:pt>
          <cx:pt idx="240">9.4000000000000004</cx:pt>
          <cx:pt idx="241">6.4027777777777777</cx:pt>
          <cx:pt idx="242">6.1066666666666665</cx:pt>
          <cx:pt idx="243">6.8939393939393936</cx:pt>
          <cx:pt idx="244">8.9019607843137258</cx:pt>
          <cx:pt idx="245">23.789473684210527</cx:pt>
          <cx:pt idx="246">10.204545454545455</cx:pt>
          <cx:pt idx="247">10.69047619047619</cx:pt>
          <cx:pt idx="248">6.5072463768115938</cx:pt>
          <cx:pt idx="249">8.5961538461538467</cx:pt>
          <cx:pt idx="250">10.090909090909092</cx:pt>
          <cx:pt idx="251">5.9066666666666663</cx:pt>
          <cx:pt idx="252">6.5</cx:pt>
          <cx:pt idx="253">6.90625</cx:pt>
          <cx:pt idx="254">11.891891891891891</cx:pt>
          <cx:pt idx="255">6</cx:pt>
          <cx:pt idx="256">6.5074626865671643</cx:pt>
          <cx:pt idx="257">6.3043478260869561</cx:pt>
          <cx:pt idx="258">6</cx:pt>
          <cx:pt idx="259">6.5</cx:pt>
          <cx:pt idx="260">9.1086956521739122</cx:pt>
          <cx:pt idx="261">7.101694915254237</cx:pt>
          <cx:pt idx="262">6.3030303030303028</cx:pt>
          <cx:pt idx="263">7.192982456140351</cx:pt>
          <cx:pt idx="264">6.40625</cx:pt>
          <cx:pt idx="265">6.596774193548387</cx:pt>
          <cx:pt idx="266">5.704225352112676</cx:pt>
          <cx:pt idx="267">6.5</cx:pt>
          <cx:pt idx="268">22.222222222222221</cx:pt>
          <cx:pt idx="269">7.9000000000000004</cx:pt>
          <cx:pt idx="270">6.2063492063492065</cx:pt>
          <cx:pt idx="271">12.9</cx:pt>
          <cx:pt idx="272">6.2950819672131146</cx:pt>
          <cx:pt idx="273">8.704545454545455</cx:pt>
          <cx:pt idx="274">7.0925925925925926</cx:pt>
          <cx:pt idx="275">5.394366197183099</cx:pt>
          <cx:pt idx="276">6.8035714285714288</cx:pt>
          <cx:pt idx="277">6.5</cx:pt>
          <cx:pt idx="278">6.5964912280701755</cx:pt>
          <cx:pt idx="279">6.5964912280701755</cx:pt>
          <cx:pt idx="280">4.5949367088607591</cx:pt>
          <cx:pt idx="281">5.9016393442622954</cx:pt>
          <cx:pt idx="282">6.7924528301886795</cx:pt>
          <cx:pt idx="283">7.3061224489795915</cx:pt>
          <cx:pt idx="284">7.9111111111111114</cx:pt>
          <cx:pt idx="285">5.9000000000000004</cx:pt>
          <cx:pt idx="286">7.5106382978723403</cx:pt>
          <cx:pt idx="287">15.304347826086957</cx:pt>
          <cx:pt idx="288">5.1029411764705879</cx:pt>
          <cx:pt idx="289">6.1964285714285712</cx:pt>
          <cx:pt idx="290">4.5</cx:pt>
          <cx:pt idx="291">5.5</cx:pt>
          <cx:pt idx="292">8.0952380952380949</cx:pt>
          <cx:pt idx="293">8.2926829268292686</cx:pt>
          <cx:pt idx="294">6.1090909090909093</cx:pt>
          <cx:pt idx="295">5.7931034482758621</cx:pt>
          <cx:pt idx="296">5.3015873015873014</cx:pt>
          <cx:pt idx="297">8.7894736842105257</cx:pt>
          <cx:pt idx="298">4.5</cx:pt>
          <cx:pt idx="299">7.1956521739130439</cx:pt>
          <cx:pt idx="300">4.506849315068493</cx:pt>
          <cx:pt idx="301">9.4000000000000004</cx:pt>
          <cx:pt idx="302">7.6904761904761907</cx:pt>
          <cx:pt idx="303">5.406779661016949</cx:pt>
          <cx:pt idx="304">6.7021276595744679</cx:pt>
          <cx:pt idx="305">5.5087719298245617</cx:pt>
          <cx:pt idx="306">8.6944444444444446</cx:pt>
          <cx:pt idx="307">4</cx:pt>
          <cx:pt idx="308">5.2000000000000002</cx:pt>
          <cx:pt idx="309">5</cx:pt>
          <cx:pt idx="310">9</cx:pt>
          <cx:pt idx="311">12.708333333333334</cx:pt>
          <cx:pt idx="312">6.9090909090909092</cx:pt>
          <cx:pt idx="313">6.9090909090909092</cx:pt>
          <cx:pt idx="314">7.2999999999999998</cx:pt>
          <cx:pt idx="315">4.2028985507246377</cx:pt>
          <cx:pt idx="316">7</cx:pt>
          <cx:pt idx="317">5.7000000000000002</cx:pt>
          <cx:pt idx="318">7.0999999999999996</cx:pt>
          <cx:pt idx="319">7.8055555555555554</cx:pt>
          <cx:pt idx="320">4.6065573770491799</cx:pt>
          <cx:pt idx="321">5.8936170212765955</cx:pt>
          <cx:pt idx="322">6.3953488372093021</cx:pt>
          <cx:pt idx="323">8.3030303030303028</cx:pt>
          <cx:pt idx="324">6.6097560975609753</cx:pt>
          <cx:pt idx="325">4.5</cx:pt>
          <cx:pt idx="326">9.5</cx:pt>
          <cx:pt idx="327">7.5999999999999996</cx:pt>
          <cx:pt idx="328">6.7948717948717947</cx:pt>
          <cx:pt idx="329">4.1967213114754101</cx:pt>
          <cx:pt idx="330">4.9038461538461542</cx:pt>
          <cx:pt idx="331">5</cx:pt>
          <cx:pt idx="332">4.5999999999999996</cx:pt>
          <cx:pt idx="333">12.4</cx:pt>
          <cx:pt idx="334">6.8055555555555554</cx:pt>
          <cx:pt idx="335">4.1034482758620694</cx:pt>
          <cx:pt idx="336">9.115384615384615</cx:pt>
          <cx:pt idx="337">5</cx:pt>
          <cx:pt idx="338">6.5</cx:pt>
          <cx:pt idx="339">5.2000000000000002</cx:pt>
          <cx:pt idx="340">4.1071428571428568</cx:pt>
          <cx:pt idx="341">4.5999999999999996</cx:pt>
          <cx:pt idx="342">4.4038461538461542</cx:pt>
          <cx:pt idx="343">7.387096774193548</cx:pt>
          <cx:pt idx="344">3.4029850746268657</cx:pt>
          <cx:pt idx="345">3.896551724137931</cx:pt>
          <cx:pt idx="346">4.5102040816326534</cx:pt>
          <cx:pt idx="347">7.5862068965517242</cx:pt>
          <cx:pt idx="348">5.2926829268292686</cx:pt>
          <cx:pt idx="349">3.7068965517241379</cx:pt>
          <cx:pt idx="350">7.2068965517241379</cx:pt>
          <cx:pt idx="351">3.6964285714285716</cx:pt>
          <cx:pt idx="352">10.300000000000001</cx:pt>
          <cx:pt idx="353">8.5</cx:pt>
          <cx:pt idx="354">3.9038461538461537</cx:pt>
          <cx:pt idx="355">4.8095238095238093</cx:pt>
          <cx:pt idx="356">4.1020408163265305</cx:pt>
          <cx:pt idx="357">5</cx:pt>
          <cx:pt idx="358">6</cx:pt>
          <cx:pt idx="359">5.2972972972972974</cx:pt>
          <cx:pt idx="360">5.9090909090909092</cx:pt>
          <cx:pt idx="361">4.1956521739130439</cx:pt>
          <cx:pt idx="362">3.7058823529411766</cx:pt>
          <cx:pt idx="363">3.5961538461538463</cx:pt>
          <cx:pt idx="364">4.1111111111111107</cx:pt>
          <cx:pt idx="365">14.076923076923077</cx:pt>
          <cx:pt idx="366">3.192982456140351</cx:pt>
          <cx:pt idx="367">6.5925925925925926</cx:pt>
          <cx:pt idx="368">3.5</cx:pt>
          <cx:pt idx="369">8.6999999999999993</cx:pt>
          <cx:pt idx="370">5.40625</cx:pt>
          <cx:pt idx="371">3.5957446808510638</cx:pt>
          <cx:pt idx="372">4.2000000000000002</cx:pt>
          <cx:pt idx="373">5.387096774193548</cx:pt>
          <cx:pt idx="374">10.375</cx:pt>
          <cx:pt idx="375">4.0999999999999996</cx:pt>
          <cx:pt idx="376">4.2894736842105265</cx:pt>
          <cx:pt idx="377">4.2894736842105265</cx:pt>
          <cx:pt idx="378">5.7857142857142856</cx:pt>
          <cx:pt idx="379">5.5862068965517242</cx:pt>
          <cx:pt idx="380">4.3888888888888893</cx:pt>
          <cx:pt idx="381">3</cx:pt>
          <cx:pt idx="382">4</cx:pt>
          <cx:pt idx="383">4.3055555555555554</cx:pt>
          <cx:pt idx="384">4.6060606060606064</cx:pt>
          <cx:pt idx="385">4.1081081081081079</cx:pt>
          <cx:pt idx="386">4.903225806451613</cx:pt>
          <cx:pt idx="387">4.1944444444444446</cx:pt>
          <cx:pt idx="388">6.208333333333333</cx:pt>
          <cx:pt idx="389">4.1111111111111107</cx:pt>
          <cx:pt idx="390">4.2000000000000002</cx:pt>
          <cx:pt idx="391">3.5</cx:pt>
          <cx:pt idx="392">3</cx:pt>
          <cx:pt idx="393">5.1071428571428568</cx:pt>
          <cx:pt idx="394">10.071428571428571</cx:pt>
          <cx:pt idx="395">3.810810810810811</cx:pt>
          <cx:pt idx="396">4.3125</cx:pt>
          <cx:pt idx="397">4.3125</cx:pt>
          <cx:pt idx="398">3.5128205128205128</cx:pt>
          <cx:pt idx="399">3.9142857142857141</cx:pt>
          <cx:pt idx="400">3.8055555555555554</cx:pt>
          <cx:pt idx="401">4.387096774193548</cx:pt>
          <cx:pt idx="402">4.387096774193548</cx:pt>
          <cx:pt idx="403">3.3999999999999999</cx:pt>
          <cx:pt idx="404">2.5</cx:pt>
          <cx:pt idx="405">2.607843137254902</cx:pt>
          <cx:pt idx="406">2.5098039215686274</cx:pt>
          <cx:pt idx="407">3.1000000000000001</cx:pt>
          <cx:pt idx="408">5.3043478260869561</cx:pt>
          <cx:pt idx="409">3.8125</cx:pt>
          <cx:pt idx="410">4.6923076923076925</cx:pt>
          <cx:pt idx="411">6</cx:pt>
          <cx:pt idx="412">2.6086956521739131</cx:pt>
          <cx:pt idx="413">8.4285714285714288</cx:pt>
          <cx:pt idx="414">2.1090909090909089</cx:pt>
          <cx:pt idx="415">5.7999999999999998</cx:pt>
          <cx:pt idx="416">4.1071428571428568</cx:pt>
          <cx:pt idx="417">5.7000000000000002</cx:pt>
          <cx:pt idx="418">7.5333333333333332</cx:pt>
          <cx:pt idx="419">3.6129032258064515</cx:pt>
          <cx:pt idx="420">7.333333333333333</cx:pt>
          <cx:pt idx="421">3.7931034482758621</cx:pt>
          <cx:pt idx="422">2.3913043478260869</cx:pt>
          <cx:pt idx="423">12.111111111111111</cx:pt>
          <cx:pt idx="424">4.1923076923076925</cx:pt>
          <cx:pt idx="425">2.5116279069767442</cx:pt>
          <cx:pt idx="426">2.8918918918918921</cx:pt>
          <cx:pt idx="427">7.1333333333333337</cx:pt>
          <cx:pt idx="428">3.2121212121212119</cx:pt>
          <cx:pt idx="429">7.5714285714285712</cx:pt>
          <cx:pt idx="430">2.1000000000000001</cx:pt>
          <cx:pt idx="431">4.2000000000000002</cx:pt>
          <cx:pt idx="432">3</cx:pt>
          <cx:pt idx="433">2.5128205128205128</cx:pt>
          <cx:pt idx="434">2.1086956521739131</cx:pt>
          <cx:pt idx="435">2.5</cx:pt>
          <cx:pt idx="436">1.7924528301886793</cx:pt>
          <cx:pt idx="437">2.6111111111111112</cx:pt>
          <cx:pt idx="438">2.4054054054054053</cx:pt>
          <cx:pt idx="439">6.2142857142857144</cx:pt>
          <cx:pt idx="440">5.117647058823529</cx:pt>
          <cx:pt idx="441">6.615384615384615</cx:pt>
          <cx:pt idx="442">3.5</cx:pt>
          <cx:pt idx="443">1.5961538461538463</cx:pt>
          <cx:pt idx="444">3.3199999999999998</cx:pt>
          <cx:pt idx="445">2</cx:pt>
          <cx:pt idx="446">2.4117647058823528</cx:pt>
          <cx:pt idx="447">2.3142857142857145</cx:pt>
          <cx:pt idx="448">4.875</cx:pt>
          <cx:pt idx="449">5.1333333333333337</cx:pt>
          <cx:pt idx="450">1.8999999999999999</cx:pt>
          <cx:pt idx="451">5.7692307692307692</cx:pt>
          <cx:pt idx="452">4.4117647058823533</cx:pt>
          <cx:pt idx="453">1.6086956521739131</cx:pt>
          <cx:pt idx="454">3.6000000000000001</cx:pt>
          <cx:pt idx="455">1.7</cx:pt>
          <cx:pt idx="456">2.9130434782608696</cx:pt>
          <cx:pt idx="457">8.375</cx:pt>
          <cx:pt idx="458">1.8108108108108107</cx:pt>
          <cx:pt idx="459">6.7000000000000002</cx:pt>
          <cx:pt idx="460">3.2999999999999998</cx:pt>
          <cx:pt idx="461">10.333333333333334</cx:pt>
          <cx:pt idx="462">4.4285714285714288</cx:pt>
          <cx:pt idx="463">2.2962962962962963</cx:pt>
          <cx:pt idx="464">2.9047619047619047</cx:pt>
          <cx:pt idx="465">5.9000000000000004</cx:pt>
          <cx:pt idx="466">3.4117647058823528</cx:pt>
          <cx:pt idx="467">3.5</cx:pt>
          <cx:pt idx="468">3.7333333333333334</cx:pt>
          <cx:pt idx="469">7.8571428571428568</cx:pt>
          <cx:pt idx="470">2.2000000000000002</cx:pt>
          <cx:pt idx="471">9</cx:pt>
          <cx:pt idx="472">5.2999999999999998</cx:pt>
          <cx:pt idx="473">5.8888888888888893</cx:pt>
          <cx:pt idx="474">2.2083333333333335</cx:pt>
          <cx:pt idx="475">1.8928571428571428</cx:pt>
          <cx:pt idx="476">8.6666666666666661</cx:pt>
          <cx:pt idx="477">1.9199999999999999</cx:pt>
          <cx:pt idx="478">3.2857142857142856</cx:pt>
          <cx:pt idx="479">2.0909090909090908</cx:pt>
          <cx:pt idx="480">7.166666666666667</cx:pt>
          <cx:pt idx="481">2.6875</cx:pt>
          <cx:pt idx="482">7</cx:pt>
          <cx:pt idx="483">2.9230769230769229</cx:pt>
          <cx:pt idx="484">3.7000000000000002</cx:pt>
          <cx:pt idx="485">2.1176470588235294</cx:pt>
          <cx:pt idx="486">7.2000000000000002</cx:pt>
          <cx:pt idx="487">1.7142857142857142</cx:pt>
          <cx:pt idx="488">7</cx:pt>
          <cx:pt idx="489">1.5909090909090908</cx:pt>
          <cx:pt idx="490">2.1875</cx:pt>
          <cx:pt idx="491">2.125</cx:pt>
          <cx:pt idx="492">3.0909090909090908</cx:pt>
          <cx:pt idx="493">1</cx:pt>
          <cx:pt idx="494">1.5</cx:pt>
          <cx:pt idx="495">1.6842105263157894</cx:pt>
          <cx:pt idx="496">4</cx:pt>
          <cx:pt idx="497">3.2000000000000002</cx:pt>
          <cx:pt idx="498">1.2916666666666667</cx:pt>
          <cx:pt idx="499">1.7222222222222223</cx:pt>
          <cx:pt idx="500">2.7272727272727271</cx:pt>
          <cx:pt idx="501">1.3809523809523809</cx:pt>
          <cx:pt idx="502">1.5263157894736843</cx:pt>
          <cx:pt idx="503">7</cx:pt>
          <cx:pt idx="504">2</cx:pt>
          <cx:pt idx="505">1.3</cx:pt>
          <cx:pt idx="506">1.411764705882353</cx:pt>
          <cx:pt idx="507">1.5</cx:pt>
          <cx:pt idx="508">6</cx:pt>
          <cx:pt idx="509">1.7692307692307692</cx:pt>
          <cx:pt idx="510">2.5555555555555554</cx:pt>
          <cx:pt idx="511">2.2999999999999998</cx:pt>
          <cx:pt idx="512">1.8333333333333333</cx:pt>
          <cx:pt idx="513">3.6666666666666665</cx:pt>
          <cx:pt idx="514">1.5384615384615385</cx:pt>
          <cx:pt idx="515">1.3846153846153846</cx:pt>
          <cx:pt idx="516">3.3999999999999999</cx:pt>
          <cx:pt idx="517">0.89473684210526316</cx:pt>
          <cx:pt idx="518">4</cx:pt>
          <cx:pt idx="519">2.6666666666666665</cx:pt>
          <cx:pt idx="520">1.875</cx:pt>
          <cx:pt idx="521">0.68181818181818177</cx:pt>
          <cx:pt idx="522">0.78947368421052633</cx:pt>
          <cx:pt idx="523">14</cx:pt>
          <cx:pt idx="524">1.5555555555555556</cx:pt>
          <cx:pt idx="525">1.5555555555555556</cx:pt>
          <cx:pt idx="526">0.93333333333333335</cx:pt>
          <cx:pt idx="527">4.666666666666667</cx:pt>
          <cx:pt idx="528">1</cx:pt>
          <cx:pt idx="529">1</cx:pt>
          <cx:pt idx="530">1.8333333333333333</cx:pt>
          <cx:pt idx="531">1.8333333333333333</cx:pt>
          <cx:pt idx="532">1.6666666666666667</cx:pt>
          <cx:pt idx="533">0.69230769230769229</cx:pt>
          <cx:pt idx="534">3</cx:pt>
          <cx:pt idx="535">1.125</cx:pt>
          <cx:pt idx="536">2</cx:pt>
          <cx:pt idx="537">0.66666666666666663</cx:pt>
          <cx:pt idx="538">0.88888888888888884</cx:pt>
          <cx:pt idx="539">1.6000000000000001</cx:pt>
          <cx:pt idx="540">2.3333333333333335</cx:pt>
          <cx:pt idx="541">1</cx:pt>
          <cx:pt idx="542">0.77777777777777779</cx:pt>
          <cx:pt idx="543">6</cx:pt>
          <cx:pt idx="544">1.5</cx:pt>
          <cx:pt idx="545">6</cx:pt>
          <cx:pt idx="546">3</cx:pt>
          <cx:pt idx="547">5</cx:pt>
          <cx:pt idx="548">1.25</cx:pt>
          <cx:pt idx="549">0.7142857142857143</cx:pt>
          <cx:pt idx="550">4</cx:pt>
          <cx:pt idx="551">0.80000000000000004</cx:pt>
          <cx:pt idx="552">0.59999999999999998</cx:pt>
          <cx:pt idx="553">1</cx:pt>
          <cx:pt idx="554">1.5</cx:pt>
          <cx:pt idx="555">0.375</cx:pt>
          <cx:pt idx="556">0.75</cx:pt>
          <cx:pt idx="557">1</cx:pt>
          <cx:pt idx="558">0.33333333333333331</cx:pt>
          <cx:pt idx="559">0.33333333333333331</cx:pt>
          <cx:pt idx="560">0</cx:pt>
          <cx:pt idx="561">0</cx:pt>
          <cx:pt idx="562">0</cx:pt>
          <cx:pt idx="563">0</cx:pt>
          <cx:pt idx="564">0</cx:pt>
          <cx:pt idx="565">0</cx:pt>
          <cx:pt idx="566">0</cx:pt>
          <cx:pt idx="567">0</cx:pt>
          <cx:pt idx="568">0</cx:pt>
        </cx:lvl>
      </cx:numDim>
    </cx:data>
  </cx:chartData>
  <cx:chart>
    <cx:title pos="t" align="ctr" overlay="0">
      <cx:tx>
        <cx:rich>
          <a:bodyPr spcFirstLastPara="1" vertOverflow="ellipsis" horzOverflow="overflow" wrap="square" lIns="0" tIns="0" rIns="0" bIns="0" anchor="ctr" anchorCtr="1"/>
          <a:lstStyle/>
          <a:p>
            <a:pPr algn="ctr" rtl="0">
              <a:defRPr/>
            </a:pPr>
            <a:r>
              <a:rPr lang="fr-FR" sz="1100" b="1" i="0" u="none" strike="noStrike" baseline="0" dirty="0">
                <a:solidFill>
                  <a:srgbClr val="000000">
                    <a:lumMod val="65000"/>
                    <a:lumOff val="35000"/>
                  </a:srgbClr>
                </a:solidFill>
                <a:latin typeface="Arial"/>
                <a:cs typeface="Arial"/>
              </a:rPr>
              <a:t>Répartition du </a:t>
            </a:r>
            <a:r>
              <a:rPr lang="fr-FR" sz="1100" b="1" i="0" u="none" strike="noStrike" baseline="0" dirty="0" err="1">
                <a:solidFill>
                  <a:srgbClr val="000000">
                    <a:lumMod val="65000"/>
                    <a:lumOff val="35000"/>
                  </a:srgbClr>
                </a:solidFill>
                <a:latin typeface="Arial"/>
                <a:cs typeface="Arial"/>
              </a:rPr>
              <a:t>scoring</a:t>
            </a:r>
            <a:r>
              <a:rPr lang="fr-FR" sz="1100" b="1" i="0" u="none" strike="noStrike" baseline="0" dirty="0">
                <a:solidFill>
                  <a:srgbClr val="000000">
                    <a:lumMod val="65000"/>
                    <a:lumOff val="35000"/>
                  </a:srgbClr>
                </a:solidFill>
                <a:latin typeface="Arial"/>
                <a:cs typeface="Arial"/>
              </a:rPr>
              <a:t> _ Points par match</a:t>
            </a:r>
          </a:p>
        </cx:rich>
      </cx:tx>
    </cx:title>
    <cx:plotArea>
      <cx:plotAreaRegion>
        <cx:series layoutId="boxWhisker" uniqueId="{9CE30137-08BB-40BA-A628-F2EBEEB0B56A}">
          <cx:tx>
            <cx:txData>
              <cx:f>'Données NBA enrichies'!$AT$1</cx:f>
              <cx:v>PTS_pg</cx:v>
            </cx:txData>
          </cx:tx>
          <cx:dataId val="0"/>
          <cx:layoutPr>
            <cx:visibility meanLine="0" meanMarker="1" nonoutliers="0" outliers="1"/>
            <cx:statistics quartileMethod="exclusive"/>
          </cx:layoutPr>
        </cx:series>
      </cx:plotAreaRegion>
      <cx:axis id="0">
        <cx:catScaling gapWidth="1"/>
        <cx:title>
          <cx:txPr>
            <a:bodyPr spcFirstLastPara="1" vertOverflow="ellipsis" horzOverflow="overflow" wrap="square" lIns="0" tIns="0" rIns="0" bIns="0" anchor="ctr" anchorCtr="1"/>
            <a:lstStyle/>
            <a:p>
              <a:pPr algn="ctr" rtl="0">
                <a:defRPr/>
              </a:pPr>
              <a:endParaRPr lang="fr-FR" sz="900" b="0" i="0" u="none" strike="noStrike" baseline="0">
                <a:solidFill>
                  <a:srgbClr val="000000">
                    <a:lumMod val="65000"/>
                    <a:lumOff val="35000"/>
                  </a:srgbClr>
                </a:solidFill>
                <a:latin typeface="Arial"/>
                <a:cs typeface="Arial"/>
              </a:endParaRPr>
            </a:p>
          </cx:txPr>
        </cx:title>
        <cx:tickLabels/>
      </cx:axis>
      <cx:axis id="1">
        <cx:valScaling/>
        <cx:title>
          <cx:tx>
            <cx:txData>
              <cx:v>Nombre de points par match</cx:v>
            </cx:txData>
          </cx:tx>
          <cx:txPr>
            <a:bodyPr spcFirstLastPara="1" vertOverflow="ellipsis" horzOverflow="overflow" wrap="square" lIns="0" tIns="0" rIns="0" bIns="0" anchor="ctr" anchorCtr="1"/>
            <a:lstStyle/>
            <a:p>
              <a:pPr algn="ctr" rtl="0">
                <a:defRPr/>
              </a:pPr>
              <a:r>
                <a:rPr lang="fr-FR" sz="900" b="0" i="0" u="none" strike="noStrike" baseline="0">
                  <a:solidFill>
                    <a:srgbClr val="000000">
                      <a:lumMod val="65000"/>
                      <a:lumOff val="35000"/>
                    </a:srgbClr>
                  </a:solidFill>
                  <a:latin typeface="Arial"/>
                  <a:cs typeface="Arial"/>
                </a:rPr>
                <a:t>Nombre de points par match</a:t>
              </a:r>
            </a:p>
          </cx:txPr>
        </cx:title>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7d0a8579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67d0a8579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67d0a85795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67d0a85795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67d0a85795_0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67d0a85795_0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67d0a85795_0_6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67d0a85795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67d0a85795_0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67d0a85795_0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67d0a85795_0_6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67d0a85795_0_6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 Type="http://schemas.openxmlformats.org/officeDocument/2006/relationships/notesSlide" Target="../notesSlides/notesSlide3.xml"/><Relationship Id="rId16"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hart" Target="../charts/chart2.xml"/><Relationship Id="rId5" Type="http://schemas.openxmlformats.org/officeDocument/2006/relationships/image" Target="../media/image19.png"/><Relationship Id="rId4" Type="http://schemas.microsoft.com/office/2014/relationships/chartEx" Target="../charts/chartEx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2149880" y="2632102"/>
            <a:ext cx="7771360" cy="1028700"/>
          </a:xfrm>
          <a:prstGeom prst="rect">
            <a:avLst/>
          </a:prstGeom>
        </p:spPr>
        <p:txBody>
          <a:bodyPr spcFirstLastPara="1" wrap="square" lIns="91425" tIns="91425" rIns="91425" bIns="91425" anchor="ctr" anchorCtr="0">
            <a:normAutofit fontScale="90000"/>
          </a:bodyPr>
          <a:lstStyle/>
          <a:p>
            <a:pPr lvl="0" algn="ctr"/>
            <a:r>
              <a:rPr lang="fr-FR" sz="3000" dirty="0"/>
              <a:t>Analyse de la saison NBA 2024-25  Enseignements pour Les Pionniers</a:t>
            </a:r>
            <a:endParaRPr sz="3000" dirty="0"/>
          </a:p>
        </p:txBody>
      </p:sp>
      <p:pic>
        <p:nvPicPr>
          <p:cNvPr id="278" name="Google Shape;278;p13" descr="Logo Les Pionniers"/>
          <p:cNvPicPr preferRelativeResize="0"/>
          <p:nvPr/>
        </p:nvPicPr>
        <p:blipFill>
          <a:blip r:embed="rId3">
            <a:alphaModFix/>
          </a:blip>
          <a:stretch>
            <a:fillRect/>
          </a:stretch>
        </p:blipFill>
        <p:spPr>
          <a:xfrm>
            <a:off x="546971" y="2363100"/>
            <a:ext cx="2308200" cy="2308200"/>
          </a:xfrm>
          <a:prstGeom prst="rect">
            <a:avLst/>
          </a:prstGeom>
          <a:noFill/>
          <a:ln>
            <a:noFill/>
          </a:ln>
        </p:spPr>
      </p:pic>
      <p:sp>
        <p:nvSpPr>
          <p:cNvPr id="5" name="ZoneTexte 4">
            <a:extLst>
              <a:ext uri="{FF2B5EF4-FFF2-40B4-BE49-F238E27FC236}">
                <a16:creationId xmlns:a16="http://schemas.microsoft.com/office/drawing/2014/main" id="{C9537B14-867B-A065-BD8A-22CF2E06C555}"/>
              </a:ext>
            </a:extLst>
          </p:cNvPr>
          <p:cNvSpPr txBox="1"/>
          <p:nvPr/>
        </p:nvSpPr>
        <p:spPr>
          <a:xfrm>
            <a:off x="102326" y="147440"/>
            <a:ext cx="5982788" cy="307777"/>
          </a:xfrm>
          <a:prstGeom prst="rect">
            <a:avLst/>
          </a:prstGeom>
          <a:noFill/>
          <a:ln>
            <a:noFill/>
          </a:ln>
        </p:spPr>
        <p:txBody>
          <a:bodyPr wrap="square" rtlCol="0">
            <a:spAutoFit/>
          </a:bodyPr>
          <a:lstStyle/>
          <a:p>
            <a:pPr algn="ctr"/>
            <a:r>
              <a:rPr lang="fr-FR" dirty="0">
                <a:solidFill>
                  <a:schemeClr val="bg1"/>
                </a:solidFill>
              </a:rPr>
              <a:t>Projet 2 – Parcours Business Intelligence </a:t>
            </a:r>
            <a:r>
              <a:rPr lang="fr-FR" dirty="0" err="1">
                <a:solidFill>
                  <a:schemeClr val="bg1"/>
                </a:solidFill>
              </a:rPr>
              <a:t>Analyst</a:t>
            </a:r>
            <a:r>
              <a:rPr lang="fr-FR" dirty="0">
                <a:solidFill>
                  <a:schemeClr val="bg1"/>
                </a:solidFill>
              </a:rPr>
              <a:t> – </a:t>
            </a:r>
            <a:r>
              <a:rPr lang="fr-FR" dirty="0" err="1">
                <a:solidFill>
                  <a:schemeClr val="bg1"/>
                </a:solidFill>
              </a:rPr>
              <a:t>OpenClassrooms</a:t>
            </a:r>
            <a:endParaRPr lang="fr-FR" dirty="0">
              <a:solidFill>
                <a:schemeClr val="bg1"/>
              </a:solidFill>
            </a:endParaRPr>
          </a:p>
        </p:txBody>
      </p:sp>
      <p:sp>
        <p:nvSpPr>
          <p:cNvPr id="8" name="ZoneTexte 7">
            <a:extLst>
              <a:ext uri="{FF2B5EF4-FFF2-40B4-BE49-F238E27FC236}">
                <a16:creationId xmlns:a16="http://schemas.microsoft.com/office/drawing/2014/main" id="{850020DD-962E-5D3F-90CD-CAC4AEB20235}"/>
              </a:ext>
            </a:extLst>
          </p:cNvPr>
          <p:cNvSpPr txBox="1"/>
          <p:nvPr/>
        </p:nvSpPr>
        <p:spPr>
          <a:xfrm>
            <a:off x="5349240" y="4614743"/>
            <a:ext cx="4572000" cy="276999"/>
          </a:xfrm>
          <a:prstGeom prst="rect">
            <a:avLst/>
          </a:prstGeom>
          <a:noFill/>
        </p:spPr>
        <p:txBody>
          <a:bodyPr wrap="square">
            <a:spAutoFit/>
          </a:bodyPr>
          <a:lstStyle/>
          <a:p>
            <a:pPr algn="ctr"/>
            <a:r>
              <a:rPr lang="fr-FR" sz="1200" dirty="0">
                <a:solidFill>
                  <a:schemeClr val="bg1"/>
                </a:solidFill>
              </a:rPr>
              <a:t>Henrique DA COSTA _ 17/10/2025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Objectif du projet</a:t>
            </a:r>
            <a:endParaRPr dirty="0"/>
          </a:p>
        </p:txBody>
      </p:sp>
      <p:sp>
        <p:nvSpPr>
          <p:cNvPr id="2" name="Espace réservé du texte 1">
            <a:extLst>
              <a:ext uri="{FF2B5EF4-FFF2-40B4-BE49-F238E27FC236}">
                <a16:creationId xmlns:a16="http://schemas.microsoft.com/office/drawing/2014/main" id="{31381EB7-7889-638F-7C39-9230A9622CF1}"/>
              </a:ext>
            </a:extLst>
          </p:cNvPr>
          <p:cNvSpPr>
            <a:spLocks noGrp="1" noChangeArrowheads="1"/>
          </p:cNvSpPr>
          <p:nvPr>
            <p:ph type="body" idx="1"/>
          </p:nvPr>
        </p:nvSpPr>
        <p:spPr bwMode="auto">
          <a:xfrm>
            <a:off x="806950" y="1763840"/>
            <a:ext cx="7754046"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bg2"/>
                </a:solidFill>
                <a:effectLst/>
                <a:latin typeface="Arial" panose="020B0604020202020204" pitchFamily="34" charset="0"/>
              </a:rPr>
              <a:t> </a:t>
            </a:r>
            <a:r>
              <a:rPr kumimoji="0" lang="fr-FR" altLang="fr-FR" sz="1800" b="1" i="0" u="none" strike="noStrike" cap="none" normalizeH="0" baseline="0" dirty="0">
                <a:ln>
                  <a:noFill/>
                </a:ln>
                <a:solidFill>
                  <a:schemeClr val="bg2"/>
                </a:solidFill>
                <a:effectLst/>
                <a:latin typeface="Arial" panose="020B0604020202020204" pitchFamily="34" charset="0"/>
              </a:rPr>
              <a:t>Mission</a:t>
            </a:r>
            <a:r>
              <a:rPr kumimoji="0" lang="fr-FR" altLang="fr-FR" sz="1800" b="0" i="0" u="none" strike="noStrike" cap="none" normalizeH="0" baseline="0" dirty="0">
                <a:ln>
                  <a:noFill/>
                </a:ln>
                <a:solidFill>
                  <a:schemeClr val="bg2"/>
                </a:solidFill>
                <a:effectLst/>
                <a:latin typeface="Arial" panose="020B0604020202020204" pitchFamily="34" charset="0"/>
              </a:rPr>
              <a:t> : Identifier les </a:t>
            </a:r>
            <a:r>
              <a:rPr kumimoji="0" lang="fr-FR" altLang="fr-FR" sz="1800" b="1" i="0" u="none" strike="noStrike" cap="none" normalizeH="0" baseline="0" dirty="0">
                <a:ln>
                  <a:noFill/>
                </a:ln>
                <a:solidFill>
                  <a:schemeClr val="bg2"/>
                </a:solidFill>
                <a:effectLst/>
                <a:latin typeface="Arial" panose="020B0604020202020204" pitchFamily="34" charset="0"/>
              </a:rPr>
              <a:t>facteurs clés de performance</a:t>
            </a:r>
            <a:r>
              <a:rPr kumimoji="0" lang="fr-FR" altLang="fr-FR" sz="1800" b="0" i="0" u="none" strike="noStrike" cap="none" normalizeH="0" baseline="0" dirty="0">
                <a:ln>
                  <a:noFill/>
                </a:ln>
                <a:solidFill>
                  <a:schemeClr val="bg2"/>
                </a:solidFill>
                <a:effectLst/>
                <a:latin typeface="Arial" panose="020B0604020202020204" pitchFamily="34" charset="0"/>
              </a:rPr>
              <a:t> des joueurs NBA.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bg2"/>
                </a:solidFill>
                <a:effectLst/>
                <a:latin typeface="Arial" panose="020B0604020202020204" pitchFamily="34" charset="0"/>
              </a:rPr>
              <a:t> </a:t>
            </a:r>
            <a:r>
              <a:rPr kumimoji="0" lang="fr-FR" altLang="fr-FR" sz="1800" b="1" i="0" u="none" strike="noStrike" cap="none" normalizeH="0" baseline="0" dirty="0">
                <a:ln>
                  <a:noFill/>
                </a:ln>
                <a:solidFill>
                  <a:schemeClr val="bg2"/>
                </a:solidFill>
                <a:effectLst/>
                <a:latin typeface="Arial" panose="020B0604020202020204" pitchFamily="34" charset="0"/>
              </a:rPr>
              <a:t>Objectifs </a:t>
            </a:r>
            <a:r>
              <a:rPr kumimoji="0" lang="fr-FR" altLang="fr-FR" sz="18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bg2"/>
              </a:solidFill>
              <a:effectLst/>
              <a:latin typeface="Arial" panose="020B0604020202020204" pitchFamily="34" charset="0"/>
            </a:endParaRPr>
          </a:p>
          <a:p>
            <a:pPr marL="800100" lvl="1" indent="-342900" eaLnBrk="0" fontAlgn="base" hangingPunct="0">
              <a:lnSpc>
                <a:spcPct val="100000"/>
              </a:lnSpc>
              <a:spcBef>
                <a:spcPct val="0"/>
              </a:spcBef>
              <a:spcAft>
                <a:spcPct val="0"/>
              </a:spcAft>
              <a:buClrTx/>
              <a:buSzTx/>
              <a:buFont typeface="+mj-lt"/>
              <a:buAutoNum type="arabicPeriod"/>
            </a:pPr>
            <a:r>
              <a:rPr kumimoji="0" lang="fr-FR" altLang="fr-FR" sz="1600" b="0" i="0" u="none" strike="noStrike" cap="none" normalizeH="0" baseline="0" dirty="0">
                <a:ln>
                  <a:noFill/>
                </a:ln>
                <a:solidFill>
                  <a:schemeClr val="bg2"/>
                </a:solidFill>
                <a:effectLst/>
                <a:latin typeface="Arial" panose="020B0604020202020204" pitchFamily="34" charset="0"/>
              </a:rPr>
              <a:t>S’inspirer des </a:t>
            </a:r>
            <a:r>
              <a:rPr kumimoji="0" lang="fr-FR" altLang="fr-FR" sz="1600" b="1" i="0" u="none" strike="noStrike" cap="none" normalizeH="0" baseline="0" dirty="0">
                <a:ln>
                  <a:noFill/>
                </a:ln>
                <a:solidFill>
                  <a:schemeClr val="bg2"/>
                </a:solidFill>
                <a:effectLst/>
                <a:latin typeface="Arial" panose="020B0604020202020204" pitchFamily="34" charset="0"/>
              </a:rPr>
              <a:t>styles de jeu performants</a:t>
            </a:r>
            <a:r>
              <a:rPr kumimoji="0" lang="fr-FR" altLang="fr-FR" sz="1600" b="0" i="0" u="none" strike="noStrike" cap="none" normalizeH="0" baseline="0" dirty="0">
                <a:ln>
                  <a:noFill/>
                </a:ln>
                <a:solidFill>
                  <a:schemeClr val="bg2"/>
                </a:solidFill>
                <a:effectLst/>
                <a:latin typeface="Arial" panose="020B0604020202020204" pitchFamily="34" charset="0"/>
              </a:rPr>
              <a:t>.</a:t>
            </a:r>
          </a:p>
          <a:p>
            <a:pPr marL="800100" lvl="1" indent="-342900" eaLnBrk="0" fontAlgn="base" hangingPunct="0">
              <a:lnSpc>
                <a:spcPct val="100000"/>
              </a:lnSpc>
              <a:spcBef>
                <a:spcPct val="0"/>
              </a:spcBef>
              <a:spcAft>
                <a:spcPct val="0"/>
              </a:spcAft>
              <a:buClrTx/>
              <a:buSzTx/>
              <a:buFont typeface="+mj-lt"/>
              <a:buAutoNum type="arabicPeriod"/>
            </a:pPr>
            <a:r>
              <a:rPr kumimoji="0" lang="fr-FR" altLang="fr-FR" sz="1600" b="0" i="0" u="none" strike="noStrike" cap="none" normalizeH="0" baseline="0" dirty="0">
                <a:ln>
                  <a:noFill/>
                </a:ln>
                <a:solidFill>
                  <a:schemeClr val="bg2"/>
                </a:solidFill>
                <a:effectLst/>
                <a:latin typeface="Arial" panose="020B0604020202020204" pitchFamily="34" charset="0"/>
              </a:rPr>
              <a:t>Améliorer la </a:t>
            </a:r>
            <a:r>
              <a:rPr kumimoji="0" lang="fr-FR" altLang="fr-FR" sz="1600" b="1" i="0" u="none" strike="noStrike" cap="none" normalizeH="0" baseline="0" dirty="0">
                <a:ln>
                  <a:noFill/>
                </a:ln>
                <a:solidFill>
                  <a:schemeClr val="bg2"/>
                </a:solidFill>
                <a:effectLst/>
                <a:latin typeface="Arial" panose="020B0604020202020204" pitchFamily="34" charset="0"/>
              </a:rPr>
              <a:t>stratégie d’entraînement et de recrutement</a:t>
            </a:r>
            <a:r>
              <a:rPr kumimoji="0" lang="fr-FR" altLang="fr-FR" sz="1600" b="0" i="0" u="none" strike="noStrike" cap="none" normalizeH="0" baseline="0" dirty="0">
                <a:ln>
                  <a:noFill/>
                </a:ln>
                <a:solidFill>
                  <a:schemeClr val="bg2"/>
                </a:solidFill>
                <a:effectLst/>
                <a:latin typeface="Arial" panose="020B0604020202020204" pitchFamily="34" charset="0"/>
              </a:rPr>
              <a:t>.</a:t>
            </a:r>
          </a:p>
          <a:p>
            <a:pPr marL="800100" lvl="1" indent="-342900" eaLnBrk="0" fontAlgn="base" hangingPunct="0">
              <a:lnSpc>
                <a:spcPct val="100000"/>
              </a:lnSpc>
              <a:spcBef>
                <a:spcPct val="0"/>
              </a:spcBef>
              <a:spcAft>
                <a:spcPct val="0"/>
              </a:spcAft>
              <a:buClrTx/>
              <a:buSzTx/>
              <a:buFont typeface="+mj-lt"/>
              <a:buAutoNum type="arabicPeriod"/>
            </a:pPr>
            <a:r>
              <a:rPr kumimoji="0" lang="fr-FR" altLang="fr-FR" sz="1600" b="0" i="0" u="none" strike="noStrike" cap="none" normalizeH="0" baseline="0" dirty="0">
                <a:ln>
                  <a:noFill/>
                </a:ln>
                <a:solidFill>
                  <a:schemeClr val="bg2"/>
                </a:solidFill>
                <a:effectLst/>
                <a:latin typeface="Arial" panose="020B0604020202020204" pitchFamily="34" charset="0"/>
              </a:rPr>
              <a:t>Valoriser la </a:t>
            </a:r>
            <a:r>
              <a:rPr kumimoji="0" lang="fr-FR" altLang="fr-FR" sz="1600" b="1" i="0" u="none" strike="noStrike" cap="none" normalizeH="0" baseline="0" dirty="0">
                <a:ln>
                  <a:noFill/>
                </a:ln>
                <a:solidFill>
                  <a:schemeClr val="bg2"/>
                </a:solidFill>
                <a:effectLst/>
                <a:latin typeface="Arial" panose="020B0604020202020204" pitchFamily="34" charset="0"/>
              </a:rPr>
              <a:t>data comme outil de décision</a:t>
            </a:r>
            <a:r>
              <a:rPr kumimoji="0" lang="fr-FR" altLang="fr-FR" sz="16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0F4DA593-EE5D-9BAB-7A8E-AC91E93972B4}"/>
              </a:ext>
            </a:extLst>
          </p:cNvPr>
          <p:cNvSpPr>
            <a:spLocks noGrp="1"/>
          </p:cNvSpPr>
          <p:nvPr>
            <p:ph type="sldNum" idx="12"/>
          </p:nvPr>
        </p:nvSpPr>
        <p:spPr/>
        <p:txBody>
          <a:bodyPr/>
          <a:lstStyle/>
          <a:p>
            <a:pPr marL="0" lvl="0" indent="0" algn="r" rtl="0">
              <a:spcBef>
                <a:spcPts val="0"/>
              </a:spcBef>
              <a:spcAft>
                <a:spcPts val="0"/>
              </a:spcAft>
              <a:buNone/>
            </a:pPr>
            <a:r>
              <a:rPr lang="fr-FR" sz="900" dirty="0">
                <a:solidFill>
                  <a:srgbClr val="424242"/>
                </a:solidFill>
                <a:effectLst/>
                <a:latin typeface="Nunito" pitchFamily="2" charset="0"/>
              </a:rPr>
              <a:t>2</a:t>
            </a:r>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8AC4E7-8B33-84FD-DA39-0776F4EC97BB}"/>
              </a:ext>
            </a:extLst>
          </p:cNvPr>
          <p:cNvSpPr>
            <a:spLocks noGrp="1"/>
          </p:cNvSpPr>
          <p:nvPr>
            <p:ph type="title"/>
          </p:nvPr>
        </p:nvSpPr>
        <p:spPr>
          <a:xfrm>
            <a:off x="1234132" y="711787"/>
            <a:ext cx="7030500" cy="777379"/>
          </a:xfrm>
        </p:spPr>
        <p:txBody>
          <a:bodyPr/>
          <a:lstStyle/>
          <a:p>
            <a:r>
              <a:rPr lang="fr-FR" dirty="0"/>
              <a:t>Source &amp; préparation des données</a:t>
            </a:r>
          </a:p>
        </p:txBody>
      </p:sp>
      <p:sp>
        <p:nvSpPr>
          <p:cNvPr id="4" name="Espace réservé du numéro de diapositive 3">
            <a:extLst>
              <a:ext uri="{FF2B5EF4-FFF2-40B4-BE49-F238E27FC236}">
                <a16:creationId xmlns:a16="http://schemas.microsoft.com/office/drawing/2014/main" id="{3FA8B9B9-FCB5-9A33-2768-44D6BE5341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a:t>
            </a:fld>
            <a:endParaRPr lang="fr-FR"/>
          </a:p>
        </p:txBody>
      </p:sp>
      <p:sp>
        <p:nvSpPr>
          <p:cNvPr id="5" name="Rectangle 1">
            <a:extLst>
              <a:ext uri="{FF2B5EF4-FFF2-40B4-BE49-F238E27FC236}">
                <a16:creationId xmlns:a16="http://schemas.microsoft.com/office/drawing/2014/main" id="{27890F47-399B-DF6C-0634-8B7720B71249}"/>
              </a:ext>
            </a:extLst>
          </p:cNvPr>
          <p:cNvSpPr>
            <a:spLocks noGrp="1" noChangeArrowheads="1"/>
          </p:cNvSpPr>
          <p:nvPr>
            <p:ph type="body" idx="1"/>
          </p:nvPr>
        </p:nvSpPr>
        <p:spPr bwMode="auto">
          <a:xfrm>
            <a:off x="163656" y="1489166"/>
            <a:ext cx="898034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kumimoji="0" lang="fr-FR" altLang="fr-FR" sz="1400" b="0" i="0" u="none" strike="noStrike" cap="none" normalizeH="0" baseline="0" dirty="0">
                <a:ln>
                  <a:noFill/>
                </a:ln>
                <a:solidFill>
                  <a:schemeClr val="bg2"/>
                </a:solidFill>
                <a:effectLst/>
                <a:latin typeface="Arial" panose="020B0604020202020204" pitchFamily="34" charset="0"/>
              </a:rPr>
              <a:t>Jeu de données </a:t>
            </a:r>
            <a:r>
              <a:rPr kumimoji="0" lang="fr-FR" altLang="fr-FR" sz="1400" b="1" i="1" u="none" strike="noStrike" cap="none" normalizeH="0" baseline="0" dirty="0">
                <a:ln>
                  <a:noFill/>
                </a:ln>
                <a:solidFill>
                  <a:schemeClr val="bg2"/>
                </a:solidFill>
                <a:effectLst/>
                <a:latin typeface="Arial" panose="020B0604020202020204" pitchFamily="34" charset="0"/>
              </a:rPr>
              <a:t>NBA 2024/25 </a:t>
            </a:r>
            <a:r>
              <a:rPr kumimoji="0" lang="fr-FR" altLang="fr-FR" sz="1400" b="0" i="0" u="none" strike="noStrike" cap="none" normalizeH="0" baseline="0" dirty="0">
                <a:ln>
                  <a:noFill/>
                </a:ln>
                <a:solidFill>
                  <a:schemeClr val="bg2"/>
                </a:solidFill>
                <a:effectLst/>
                <a:latin typeface="Arial" panose="020B0604020202020204" pitchFamily="34" charset="0"/>
              </a:rPr>
              <a:t>(statistiques saison complètes).</a:t>
            </a:r>
          </a:p>
          <a:p>
            <a:pPr marL="285750" indent="-285750" eaLnBrk="0" fontAlgn="base" hangingPunct="0">
              <a:lnSpc>
                <a:spcPct val="100000"/>
              </a:lnSpc>
              <a:spcBef>
                <a:spcPct val="0"/>
              </a:spcBef>
              <a:spcAft>
                <a:spcPct val="0"/>
              </a:spcAft>
              <a:buClrTx/>
              <a:buSzTx/>
            </a:pPr>
            <a:r>
              <a:rPr kumimoji="0" lang="fr-FR" altLang="fr-FR" sz="1400" b="1" i="1" u="none" strike="noStrike" cap="none" normalizeH="0" baseline="0" dirty="0">
                <a:ln>
                  <a:noFill/>
                </a:ln>
                <a:solidFill>
                  <a:schemeClr val="bg2"/>
                </a:solidFill>
                <a:effectLst/>
                <a:latin typeface="Arial" panose="020B0604020202020204" pitchFamily="34" charset="0"/>
              </a:rPr>
              <a:t>Nettoyage</a:t>
            </a:r>
            <a:r>
              <a:rPr kumimoji="0" lang="fr-FR" altLang="fr-FR" sz="1400" b="0" i="0" u="none" strike="noStrike" cap="none" normalizeH="0" baseline="0" dirty="0">
                <a:ln>
                  <a:noFill/>
                </a:ln>
                <a:solidFill>
                  <a:schemeClr val="bg2"/>
                </a:solidFill>
                <a:effectLst/>
                <a:latin typeface="Arial" panose="020B0604020202020204" pitchFamily="34" charset="0"/>
              </a:rPr>
              <a:t> : suppression lignes incomplètes, filtrage GP ≥ 30, Min ≥ 300.</a:t>
            </a:r>
          </a:p>
          <a:p>
            <a:pPr marL="285750" indent="-285750" eaLnBrk="0" fontAlgn="base" hangingPunct="0">
              <a:lnSpc>
                <a:spcPct val="100000"/>
              </a:lnSpc>
              <a:spcBef>
                <a:spcPct val="0"/>
              </a:spcBef>
              <a:spcAft>
                <a:spcPct val="0"/>
              </a:spcAft>
              <a:buClrTx/>
              <a:buSzTx/>
            </a:pPr>
            <a:r>
              <a:rPr kumimoji="0" lang="fr-FR" altLang="fr-FR" sz="1400" b="1" i="1" u="none" strike="noStrike" cap="none" normalizeH="0" baseline="0" dirty="0">
                <a:ln>
                  <a:noFill/>
                </a:ln>
                <a:solidFill>
                  <a:schemeClr val="bg2"/>
                </a:solidFill>
                <a:effectLst/>
                <a:latin typeface="Arial" panose="020B0604020202020204" pitchFamily="34" charset="0"/>
              </a:rPr>
              <a:t>Ajout d’indicateurs </a:t>
            </a:r>
            <a:r>
              <a:rPr kumimoji="0" lang="fr-FR" altLang="fr-FR" sz="1400" b="0" i="0" u="none" strike="noStrike" cap="none" normalizeH="0" baseline="0" dirty="0">
                <a:ln>
                  <a:noFill/>
                </a:ln>
                <a:solidFill>
                  <a:schemeClr val="bg2"/>
                </a:solidFill>
                <a:effectLst/>
                <a:latin typeface="Arial" panose="020B0604020202020204" pitchFamily="34" charset="0"/>
              </a:rPr>
              <a:t>calculés : </a:t>
            </a:r>
            <a:r>
              <a:rPr lang="fr-FR" altLang="fr-FR" sz="1400" dirty="0" err="1">
                <a:solidFill>
                  <a:schemeClr val="bg2"/>
                </a:solidFill>
                <a:latin typeface="Arial" panose="020B0604020202020204" pitchFamily="34" charset="0"/>
              </a:rPr>
              <a:t>Min_tot</a:t>
            </a:r>
            <a:r>
              <a:rPr lang="fr-FR" altLang="fr-FR" sz="1400" dirty="0">
                <a:solidFill>
                  <a:schemeClr val="bg2"/>
                </a:solidFill>
                <a:latin typeface="Arial" panose="020B0604020202020204" pitchFamily="34" charset="0"/>
              </a:rPr>
              <a:t>, </a:t>
            </a:r>
            <a:r>
              <a:rPr lang="fr-FR" altLang="fr-FR" sz="1400" dirty="0" err="1">
                <a:solidFill>
                  <a:schemeClr val="bg2"/>
                </a:solidFill>
                <a:latin typeface="Arial" panose="020B0604020202020204" pitchFamily="34" charset="0"/>
              </a:rPr>
              <a:t>PTS_pg</a:t>
            </a:r>
            <a:r>
              <a:rPr lang="fr-FR" altLang="fr-FR" sz="1400" dirty="0">
                <a:solidFill>
                  <a:schemeClr val="bg2"/>
                </a:solidFill>
                <a:latin typeface="Arial" panose="020B0604020202020204" pitchFamily="34" charset="0"/>
              </a:rPr>
              <a:t>, </a:t>
            </a:r>
            <a:r>
              <a:rPr lang="fr-FR" altLang="fr-FR" sz="1400" dirty="0" err="1">
                <a:solidFill>
                  <a:schemeClr val="bg2"/>
                </a:solidFill>
                <a:latin typeface="Arial" panose="020B0604020202020204" pitchFamily="34" charset="0"/>
              </a:rPr>
              <a:t>REB_pg</a:t>
            </a:r>
            <a:r>
              <a:rPr lang="fr-FR" altLang="fr-FR" sz="1400" dirty="0">
                <a:solidFill>
                  <a:schemeClr val="bg2"/>
                </a:solidFill>
                <a:latin typeface="Arial" panose="020B0604020202020204" pitchFamily="34" charset="0"/>
              </a:rPr>
              <a:t>/Min, … [Cf. Onglet « Dictionnaire des données »]</a:t>
            </a:r>
          </a:p>
          <a:p>
            <a:pPr marL="285750" indent="-285750" eaLnBrk="0" fontAlgn="base" hangingPunct="0">
              <a:lnSpc>
                <a:spcPct val="100000"/>
              </a:lnSpc>
              <a:spcBef>
                <a:spcPct val="0"/>
              </a:spcBef>
              <a:spcAft>
                <a:spcPct val="0"/>
              </a:spcAft>
              <a:buClrTx/>
              <a:buSzTx/>
            </a:pPr>
            <a:r>
              <a:rPr lang="fr-FR" altLang="fr-FR" sz="1400" b="1" i="1" dirty="0">
                <a:solidFill>
                  <a:schemeClr val="bg2"/>
                </a:solidFill>
                <a:latin typeface="Arial" panose="020B0604020202020204" pitchFamily="34" charset="0"/>
              </a:rPr>
              <a:t>Normalisation</a:t>
            </a:r>
            <a:r>
              <a:rPr lang="fr-FR" altLang="fr-FR" sz="1400" dirty="0">
                <a:solidFill>
                  <a:schemeClr val="bg2"/>
                </a:solidFill>
                <a:latin typeface="Arial" panose="020B0604020202020204" pitchFamily="34" charset="0"/>
              </a:rPr>
              <a:t> de certaines données : </a:t>
            </a:r>
            <a:r>
              <a:rPr lang="fr-FR" altLang="fr-FR" sz="1400" dirty="0" err="1">
                <a:solidFill>
                  <a:schemeClr val="bg2"/>
                </a:solidFill>
                <a:latin typeface="Arial" panose="020B0604020202020204" pitchFamily="34" charset="0"/>
              </a:rPr>
              <a:t>FGA_norm</a:t>
            </a:r>
            <a:r>
              <a:rPr lang="fr-FR" altLang="fr-FR" sz="1400" dirty="0">
                <a:solidFill>
                  <a:schemeClr val="bg2"/>
                </a:solidFill>
                <a:latin typeface="Arial" panose="020B0604020202020204" pitchFamily="34" charset="0"/>
              </a:rPr>
              <a:t>, </a:t>
            </a:r>
            <a:r>
              <a:rPr lang="fr-FR" altLang="fr-FR" sz="1400" dirty="0" err="1">
                <a:solidFill>
                  <a:schemeClr val="bg2"/>
                </a:solidFill>
                <a:latin typeface="Arial" panose="020B0604020202020204" pitchFamily="34" charset="0"/>
              </a:rPr>
              <a:t>PTS_pg_Norm</a:t>
            </a:r>
            <a:r>
              <a:rPr lang="fr-FR" altLang="fr-FR" sz="1400" dirty="0">
                <a:solidFill>
                  <a:schemeClr val="bg2"/>
                </a:solidFill>
                <a:latin typeface="Arial" panose="020B0604020202020204" pitchFamily="34" charset="0"/>
              </a:rPr>
              <a:t>, … [Cf. « Dictionnaire des données »]</a:t>
            </a:r>
          </a:p>
          <a:p>
            <a:pPr marL="285750" indent="-285750" eaLnBrk="0" fontAlgn="base" hangingPunct="0">
              <a:lnSpc>
                <a:spcPct val="100000"/>
              </a:lnSpc>
              <a:spcBef>
                <a:spcPct val="0"/>
              </a:spcBef>
              <a:spcAft>
                <a:spcPct val="0"/>
              </a:spcAft>
              <a:buClrTx/>
              <a:buSzTx/>
            </a:pPr>
            <a:r>
              <a:rPr lang="fr-FR" altLang="fr-FR" sz="1400" dirty="0">
                <a:solidFill>
                  <a:schemeClr val="bg2"/>
                </a:solidFill>
                <a:latin typeface="Arial" panose="020B0604020202020204" pitchFamily="34" charset="0"/>
              </a:rPr>
              <a:t>Installation de </a:t>
            </a:r>
            <a:r>
              <a:rPr lang="fr-FR" altLang="fr-FR" sz="1400" b="1" i="1" dirty="0">
                <a:solidFill>
                  <a:schemeClr val="bg2"/>
                </a:solidFill>
                <a:latin typeface="Arial" panose="020B0604020202020204" pitchFamily="34" charset="0"/>
              </a:rPr>
              <a:t>mises en forme conditionnelles  </a:t>
            </a:r>
            <a:r>
              <a:rPr lang="fr-FR" altLang="fr-FR" sz="1400" dirty="0">
                <a:solidFill>
                  <a:schemeClr val="bg2"/>
                </a:solidFill>
                <a:latin typeface="Arial" panose="020B0604020202020204" pitchFamily="34" charset="0"/>
              </a:rPr>
              <a:t>sur la table de données enrichie : </a:t>
            </a:r>
          </a:p>
          <a:p>
            <a:pPr marL="457200" lvl="1" indent="0" eaLnBrk="0" fontAlgn="base" hangingPunct="0">
              <a:lnSpc>
                <a:spcPct val="100000"/>
              </a:lnSpc>
              <a:spcBef>
                <a:spcPct val="0"/>
              </a:spcBef>
              <a:spcAft>
                <a:spcPct val="0"/>
              </a:spcAft>
              <a:buClrTx/>
              <a:buSzTx/>
              <a:buNone/>
            </a:pPr>
            <a:r>
              <a:rPr lang="fr-FR" altLang="fr-FR" sz="1400" dirty="0">
                <a:solidFill>
                  <a:schemeClr val="bg2"/>
                </a:solidFill>
                <a:latin typeface="Arial" panose="020B0604020202020204" pitchFamily="34" charset="0"/>
              </a:rPr>
              <a:t>=&gt; </a:t>
            </a:r>
            <a:r>
              <a:rPr lang="fr-FR" altLang="fr-FR" sz="1400" dirty="0">
                <a:solidFill>
                  <a:srgbClr val="00B050"/>
                </a:solidFill>
                <a:latin typeface="Arial" panose="020B0604020202020204" pitchFamily="34" charset="0"/>
              </a:rPr>
              <a:t>tri visuel sur les principaux indicateurs de performance</a:t>
            </a:r>
          </a:p>
        </p:txBody>
      </p:sp>
      <p:pic>
        <p:nvPicPr>
          <p:cNvPr id="8" name="Image 7" descr="Pipeline de traitement des données">
            <a:extLst>
              <a:ext uri="{FF2B5EF4-FFF2-40B4-BE49-F238E27FC236}">
                <a16:creationId xmlns:a16="http://schemas.microsoft.com/office/drawing/2014/main" id="{B8436EDE-AD3F-407F-465A-648E4E3D496E}"/>
              </a:ext>
            </a:extLst>
          </p:cNvPr>
          <p:cNvPicPr>
            <a:picLocks noChangeAspect="1"/>
          </p:cNvPicPr>
          <p:nvPr/>
        </p:nvPicPr>
        <p:blipFill>
          <a:blip r:embed="rId2"/>
          <a:stretch>
            <a:fillRect/>
          </a:stretch>
        </p:blipFill>
        <p:spPr>
          <a:xfrm>
            <a:off x="238994" y="2976856"/>
            <a:ext cx="8421275" cy="1819529"/>
          </a:xfrm>
          <a:prstGeom prst="rect">
            <a:avLst/>
          </a:prstGeom>
        </p:spPr>
      </p:pic>
    </p:spTree>
    <p:extLst>
      <p:ext uri="{BB962C8B-B14F-4D97-AF65-F5344CB8AC3E}">
        <p14:creationId xmlns:p14="http://schemas.microsoft.com/office/powerpoint/2010/main" val="380657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83;p14">
            <a:extLst>
              <a:ext uri="{FF2B5EF4-FFF2-40B4-BE49-F238E27FC236}">
                <a16:creationId xmlns:a16="http://schemas.microsoft.com/office/drawing/2014/main" id="{D27A0A84-64F7-FE7D-F99B-AF47484D3CAC}"/>
              </a:ext>
            </a:extLst>
          </p:cNvPr>
          <p:cNvSpPr txBox="1">
            <a:spLocks noGrp="1"/>
          </p:cNvSpPr>
          <p:nvPr>
            <p:ph type="title" idx="4294967295"/>
          </p:nvPr>
        </p:nvSpPr>
        <p:spPr>
          <a:xfrm>
            <a:off x="1438783" y="541969"/>
            <a:ext cx="7443960" cy="999300"/>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1pPr>
            <a:lvl2pPr marR="0" lvl="1"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2pPr>
            <a:lvl3pPr marR="0" lvl="2"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3pPr>
            <a:lvl4pPr marR="0" lvl="3"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4pPr>
            <a:lvl5pPr marR="0" lvl="4"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5pPr>
            <a:lvl6pPr marR="0" lvl="5"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6pPr>
            <a:lvl7pPr marR="0" lvl="6"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7pPr>
            <a:lvl8pPr marR="0" lvl="7"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8pPr>
            <a:lvl9pPr marR="0" lvl="8"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9pPr>
          </a:lstStyle>
          <a:p>
            <a:pPr marL="0" marR="0" lvl="0" indent="0" algn="l" defTabSz="914400" rtl="0" eaLnBrk="1" fontAlgn="auto" latinLnBrk="0" hangingPunct="1">
              <a:lnSpc>
                <a:spcPct val="100000"/>
              </a:lnSpc>
              <a:spcBef>
                <a:spcPts val="0"/>
              </a:spcBef>
              <a:spcAft>
                <a:spcPts val="0"/>
              </a:spcAft>
              <a:buClr>
                <a:schemeClr val="dk2"/>
              </a:buClr>
              <a:buSzPts val="2800"/>
              <a:buFont typeface="Maven Pro"/>
              <a:buNone/>
              <a:tabLst/>
              <a:defRPr/>
            </a:pPr>
            <a:r>
              <a:rPr kumimoji="0" lang="fr-FR" sz="2400" b="1" i="0" u="none" strike="noStrike" kern="0" cap="none" spc="0" normalizeH="0" baseline="0" noProof="0" dirty="0">
                <a:ln>
                  <a:noFill/>
                </a:ln>
                <a:solidFill>
                  <a:schemeClr val="dk2"/>
                </a:solidFill>
                <a:effectLst/>
                <a:uLnTx/>
                <a:uFillTx/>
                <a:latin typeface="Maven Pro"/>
                <a:ea typeface="Maven Pro"/>
                <a:cs typeface="Maven Pro"/>
                <a:sym typeface="Maven Pro"/>
              </a:rPr>
              <a:t>Données les plus importantes dans le fichier NBA</a:t>
            </a:r>
          </a:p>
        </p:txBody>
      </p:sp>
      <p:sp>
        <p:nvSpPr>
          <p:cNvPr id="5" name="Espace réservé du numéro de diapositive 4">
            <a:extLst>
              <a:ext uri="{FF2B5EF4-FFF2-40B4-BE49-F238E27FC236}">
                <a16:creationId xmlns:a16="http://schemas.microsoft.com/office/drawing/2014/main" id="{F8FF8B8E-C7A4-11D7-C2C5-329878D34F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sp>
        <p:nvSpPr>
          <p:cNvPr id="8" name="Rectangle : coins arrondis 7">
            <a:extLst>
              <a:ext uri="{FF2B5EF4-FFF2-40B4-BE49-F238E27FC236}">
                <a16:creationId xmlns:a16="http://schemas.microsoft.com/office/drawing/2014/main" id="{BA84CF70-3A53-E34E-932D-56C6225F31EB}"/>
              </a:ext>
            </a:extLst>
          </p:cNvPr>
          <p:cNvSpPr/>
          <p:nvPr/>
        </p:nvSpPr>
        <p:spPr>
          <a:xfrm>
            <a:off x="1849483" y="1236617"/>
            <a:ext cx="2420983" cy="43542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2"/>
                </a:solidFill>
              </a:rPr>
              <a:t>Données de base du joueur</a:t>
            </a:r>
          </a:p>
        </p:txBody>
      </p:sp>
      <p:sp>
        <p:nvSpPr>
          <p:cNvPr id="9" name="Rectangle : coins arrondis 8">
            <a:extLst>
              <a:ext uri="{FF2B5EF4-FFF2-40B4-BE49-F238E27FC236}">
                <a16:creationId xmlns:a16="http://schemas.microsoft.com/office/drawing/2014/main" id="{7BFBAB37-F663-A196-129E-E5B83C7967ED}"/>
              </a:ext>
            </a:extLst>
          </p:cNvPr>
          <p:cNvSpPr/>
          <p:nvPr/>
        </p:nvSpPr>
        <p:spPr>
          <a:xfrm>
            <a:off x="4810400" y="1236617"/>
            <a:ext cx="2420983" cy="435428"/>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2"/>
                </a:solidFill>
              </a:rPr>
              <a:t>Performance offensive</a:t>
            </a:r>
          </a:p>
        </p:txBody>
      </p:sp>
      <p:sp>
        <p:nvSpPr>
          <p:cNvPr id="10" name="Rectangle : coins arrondis 9">
            <a:extLst>
              <a:ext uri="{FF2B5EF4-FFF2-40B4-BE49-F238E27FC236}">
                <a16:creationId xmlns:a16="http://schemas.microsoft.com/office/drawing/2014/main" id="{9CC247AB-C5C1-1D59-AFD8-318990E6D856}"/>
              </a:ext>
            </a:extLst>
          </p:cNvPr>
          <p:cNvSpPr/>
          <p:nvPr/>
        </p:nvSpPr>
        <p:spPr>
          <a:xfrm>
            <a:off x="1849483" y="3105696"/>
            <a:ext cx="2420983" cy="435428"/>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2">
                    <a:lumMod val="75000"/>
                  </a:schemeClr>
                </a:solidFill>
              </a:rPr>
              <a:t>Création et efficacité avancée</a:t>
            </a:r>
          </a:p>
        </p:txBody>
      </p:sp>
      <p:sp>
        <p:nvSpPr>
          <p:cNvPr id="11" name="Rectangle : coins arrondis 10">
            <a:extLst>
              <a:ext uri="{FF2B5EF4-FFF2-40B4-BE49-F238E27FC236}">
                <a16:creationId xmlns:a16="http://schemas.microsoft.com/office/drawing/2014/main" id="{8B7F99F1-7459-7D31-99B8-6C8B6BAD6F1F}"/>
              </a:ext>
            </a:extLst>
          </p:cNvPr>
          <p:cNvSpPr/>
          <p:nvPr/>
        </p:nvSpPr>
        <p:spPr>
          <a:xfrm>
            <a:off x="4810400" y="3105696"/>
            <a:ext cx="2420983" cy="43542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2"/>
                </a:solidFill>
              </a:rPr>
              <a:t>Défense et présence physique</a:t>
            </a:r>
          </a:p>
        </p:txBody>
      </p:sp>
      <p:sp>
        <p:nvSpPr>
          <p:cNvPr id="12" name="Rectangle 11">
            <a:extLst>
              <a:ext uri="{FF2B5EF4-FFF2-40B4-BE49-F238E27FC236}">
                <a16:creationId xmlns:a16="http://schemas.microsoft.com/office/drawing/2014/main" id="{2499DD39-4FD7-8FC5-9B44-F0931BF9FD0F}"/>
              </a:ext>
            </a:extLst>
          </p:cNvPr>
          <p:cNvSpPr/>
          <p:nvPr/>
        </p:nvSpPr>
        <p:spPr>
          <a:xfrm>
            <a:off x="1866897" y="1672045"/>
            <a:ext cx="2368733" cy="128016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fr-FR" dirty="0">
                <a:solidFill>
                  <a:schemeClr val="bg2"/>
                </a:solidFill>
              </a:rPr>
              <a:t>Player / Team / Age</a:t>
            </a:r>
          </a:p>
          <a:p>
            <a:pPr marL="285750" indent="-285750">
              <a:buFont typeface="Arial" panose="020B0604020202020204" pitchFamily="34" charset="0"/>
              <a:buChar char="•"/>
            </a:pPr>
            <a:r>
              <a:rPr lang="fr-FR" dirty="0">
                <a:solidFill>
                  <a:schemeClr val="bg2"/>
                </a:solidFill>
              </a:rPr>
              <a:t>GP (Games </a:t>
            </a:r>
            <a:r>
              <a:rPr lang="fr-FR" dirty="0" err="1">
                <a:solidFill>
                  <a:schemeClr val="bg2"/>
                </a:solidFill>
              </a:rPr>
              <a:t>played</a:t>
            </a:r>
            <a:r>
              <a:rPr lang="fr-FR" dirty="0">
                <a:solidFill>
                  <a:schemeClr val="bg2"/>
                </a:solidFill>
              </a:rPr>
              <a:t>)</a:t>
            </a:r>
          </a:p>
          <a:p>
            <a:pPr marL="285750" indent="-285750">
              <a:buFont typeface="Arial" panose="020B0604020202020204" pitchFamily="34" charset="0"/>
              <a:buChar char="•"/>
            </a:pPr>
            <a:r>
              <a:rPr lang="fr-FR" dirty="0">
                <a:solidFill>
                  <a:schemeClr val="bg2"/>
                </a:solidFill>
              </a:rPr>
              <a:t>Min (Minutes)</a:t>
            </a:r>
          </a:p>
          <a:p>
            <a:pPr marL="285750" indent="-285750">
              <a:buFont typeface="Arial" panose="020B0604020202020204" pitchFamily="34" charset="0"/>
              <a:buChar char="•"/>
            </a:pPr>
            <a:r>
              <a:rPr lang="fr-FR" dirty="0">
                <a:solidFill>
                  <a:schemeClr val="bg2"/>
                </a:solidFill>
              </a:rPr>
              <a:t>+/-</a:t>
            </a:r>
          </a:p>
        </p:txBody>
      </p:sp>
      <p:sp>
        <p:nvSpPr>
          <p:cNvPr id="13" name="Rectangle 12">
            <a:extLst>
              <a:ext uri="{FF2B5EF4-FFF2-40B4-BE49-F238E27FC236}">
                <a16:creationId xmlns:a16="http://schemas.microsoft.com/office/drawing/2014/main" id="{55753528-DB2A-0C2A-AE13-0CD218E5591D}"/>
              </a:ext>
            </a:extLst>
          </p:cNvPr>
          <p:cNvSpPr/>
          <p:nvPr/>
        </p:nvSpPr>
        <p:spPr>
          <a:xfrm>
            <a:off x="4836524" y="1672044"/>
            <a:ext cx="2368733" cy="128016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200" dirty="0">
                <a:solidFill>
                  <a:schemeClr val="bg2"/>
                </a:solidFill>
              </a:rPr>
              <a:t>PTS (Points par saison)</a:t>
            </a:r>
          </a:p>
          <a:p>
            <a:pPr marL="171450" indent="-171450">
              <a:buFont typeface="Arial" panose="020B0604020202020204" pitchFamily="34" charset="0"/>
              <a:buChar char="•"/>
            </a:pPr>
            <a:r>
              <a:rPr lang="fr-FR" sz="1200" dirty="0">
                <a:solidFill>
                  <a:schemeClr val="bg2"/>
                </a:solidFill>
              </a:rPr>
              <a:t>FGA, FGM, FG% (Réussite aux tirs)</a:t>
            </a:r>
          </a:p>
          <a:p>
            <a:pPr marL="171450" indent="-171450">
              <a:buFont typeface="Arial" panose="020B0604020202020204" pitchFamily="34" charset="0"/>
              <a:buChar char="•"/>
            </a:pPr>
            <a:r>
              <a:rPr lang="fr-FR" sz="1200" dirty="0">
                <a:solidFill>
                  <a:schemeClr val="bg2"/>
                </a:solidFill>
              </a:rPr>
              <a:t>3P%, FT% (Ratios de réussite Tirs 3 points et Lancers francs)</a:t>
            </a:r>
          </a:p>
        </p:txBody>
      </p:sp>
      <p:sp>
        <p:nvSpPr>
          <p:cNvPr id="14" name="Rectangle 13">
            <a:extLst>
              <a:ext uri="{FF2B5EF4-FFF2-40B4-BE49-F238E27FC236}">
                <a16:creationId xmlns:a16="http://schemas.microsoft.com/office/drawing/2014/main" id="{3429C0F4-CE36-8A6E-B158-C31BFF137899}"/>
              </a:ext>
            </a:extLst>
          </p:cNvPr>
          <p:cNvSpPr/>
          <p:nvPr/>
        </p:nvSpPr>
        <p:spPr>
          <a:xfrm>
            <a:off x="1875607" y="3541124"/>
            <a:ext cx="2368733" cy="128016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fr-FR" sz="1200" dirty="0">
              <a:solidFill>
                <a:schemeClr val="bg2"/>
              </a:solidFill>
            </a:endParaRPr>
          </a:p>
          <a:p>
            <a:pPr marL="171450" indent="-171450">
              <a:buFont typeface="Arial" panose="020B0604020202020204" pitchFamily="34" charset="0"/>
              <a:buChar char="•"/>
            </a:pPr>
            <a:r>
              <a:rPr lang="fr-FR" sz="1200" dirty="0">
                <a:solidFill>
                  <a:schemeClr val="bg2"/>
                </a:solidFill>
              </a:rPr>
              <a:t>AST (Passes décisives Saison)</a:t>
            </a:r>
          </a:p>
          <a:p>
            <a:pPr marL="171450" indent="-171450">
              <a:buFont typeface="Arial" panose="020B0604020202020204" pitchFamily="34" charset="0"/>
              <a:buChar char="•"/>
            </a:pPr>
            <a:r>
              <a:rPr lang="fr-FR" sz="1200" dirty="0">
                <a:solidFill>
                  <a:schemeClr val="bg2"/>
                </a:solidFill>
              </a:rPr>
              <a:t>TOV (Balles perdues Saison)</a:t>
            </a:r>
          </a:p>
          <a:p>
            <a:pPr marL="171450" indent="-171450">
              <a:buFont typeface="Arial" panose="020B0604020202020204" pitchFamily="34" charset="0"/>
              <a:buChar char="•"/>
            </a:pPr>
            <a:r>
              <a:rPr lang="fr-FR" sz="1200" dirty="0">
                <a:solidFill>
                  <a:schemeClr val="bg2"/>
                </a:solidFill>
              </a:rPr>
              <a:t>AST / TOV (Ratio passes / pertes de balle)</a:t>
            </a:r>
          </a:p>
          <a:p>
            <a:pPr algn="ctr"/>
            <a:endParaRPr lang="fr-FR" dirty="0">
              <a:solidFill>
                <a:schemeClr val="bg2"/>
              </a:solidFill>
            </a:endParaRPr>
          </a:p>
        </p:txBody>
      </p:sp>
      <p:sp>
        <p:nvSpPr>
          <p:cNvPr id="15" name="Rectangle 14">
            <a:extLst>
              <a:ext uri="{FF2B5EF4-FFF2-40B4-BE49-F238E27FC236}">
                <a16:creationId xmlns:a16="http://schemas.microsoft.com/office/drawing/2014/main" id="{CD14A0DF-9FDF-9CEB-E989-3D8BBF3FA4C3}"/>
              </a:ext>
            </a:extLst>
          </p:cNvPr>
          <p:cNvSpPr/>
          <p:nvPr/>
        </p:nvSpPr>
        <p:spPr>
          <a:xfrm>
            <a:off x="4836524" y="3541123"/>
            <a:ext cx="2368733" cy="128016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fr-FR" sz="1200" dirty="0">
                <a:solidFill>
                  <a:schemeClr val="bg2"/>
                </a:solidFill>
              </a:rPr>
              <a:t>OREB / DREB / REB (</a:t>
            </a:r>
            <a:r>
              <a:rPr lang="fr-FR" sz="1200" dirty="0" err="1">
                <a:solidFill>
                  <a:schemeClr val="bg2"/>
                </a:solidFill>
              </a:rPr>
              <a:t>Rebons</a:t>
            </a:r>
            <a:r>
              <a:rPr lang="fr-FR" sz="1200" dirty="0">
                <a:solidFill>
                  <a:schemeClr val="bg2"/>
                </a:solidFill>
              </a:rPr>
              <a:t> Saison)</a:t>
            </a:r>
          </a:p>
          <a:p>
            <a:pPr marL="171450" indent="-171450">
              <a:buFont typeface="Arial" panose="020B0604020202020204" pitchFamily="34" charset="0"/>
              <a:buChar char="•"/>
            </a:pPr>
            <a:r>
              <a:rPr lang="fr-FR" sz="1200" dirty="0">
                <a:solidFill>
                  <a:schemeClr val="bg2"/>
                </a:solidFill>
              </a:rPr>
              <a:t>STL / BLK (Interceptions / Contres Saison)</a:t>
            </a:r>
          </a:p>
          <a:p>
            <a:pPr algn="ctr"/>
            <a:endParaRPr lang="fr-FR" dirty="0">
              <a:solidFill>
                <a:schemeClr val="bg2"/>
              </a:solidFill>
            </a:endParaRPr>
          </a:p>
        </p:txBody>
      </p:sp>
    </p:spTree>
    <p:extLst>
      <p:ext uri="{BB962C8B-B14F-4D97-AF65-F5344CB8AC3E}">
        <p14:creationId xmlns:p14="http://schemas.microsoft.com/office/powerpoint/2010/main" val="4037955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F98A9D7-691D-F09B-4EAD-12E8047DA78B}"/>
              </a:ext>
            </a:extLst>
          </p:cNvPr>
          <p:cNvSpPr>
            <a:spLocks noGrp="1"/>
          </p:cNvSpPr>
          <p:nvPr>
            <p:ph type="title" idx="4294967295"/>
          </p:nvPr>
        </p:nvSpPr>
        <p:spPr>
          <a:xfrm>
            <a:off x="8450263" y="4737100"/>
            <a:ext cx="549275" cy="393700"/>
          </a:xfrm>
          <a:prstGeom prst="rect">
            <a:avLst/>
          </a:prstGeom>
          <a:noFill/>
          <a:ln>
            <a:noFill/>
            <a:prstDash/>
          </a:ln>
          <a:effectLst/>
        </p:spPr>
        <p:txBody>
          <a:bodyPr rot="0" spcFirstLastPara="1" vertOverflow="overflow" horzOverflow="overflow" vert="horz" wrap="square" lIns="91425" tIns="91425" rIns="91425" bIns="91425" numCol="1" spcCol="0" rtlCol="0" fromWordArt="0" anchor="ctr" anchorCtr="0" forceAA="0" compatLnSpc="1">
            <a:prstTxWarp prst="textNoShape">
              <a:avLst/>
            </a:prstTxWarp>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900" b="0" i="0" u="none" strike="noStrike" kern="0" cap="none" spc="0" normalizeH="0" baseline="0" noProof="0" smtClean="0">
                <a:ln>
                  <a:noFill/>
                </a:ln>
                <a:solidFill>
                  <a:schemeClr val="dk2"/>
                </a:solidFill>
                <a:effectLst/>
                <a:uLnTx/>
                <a:uFillTx/>
                <a:latin typeface="Nunito"/>
                <a:ea typeface="Nunito"/>
                <a:cs typeface="Nunito"/>
                <a:sym typeface="Nuni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fr-FR" sz="900" b="0" i="0" u="none" strike="noStrike" kern="0" cap="none" spc="0" normalizeH="0" baseline="0" noProof="0" dirty="0">
              <a:ln>
                <a:noFill/>
              </a:ln>
              <a:solidFill>
                <a:schemeClr val="dk2"/>
              </a:solidFill>
              <a:effectLst/>
              <a:uLnTx/>
              <a:uFillTx/>
              <a:latin typeface="Nunito"/>
              <a:ea typeface="Nunito"/>
              <a:cs typeface="Nunito"/>
              <a:sym typeface="Nunito"/>
            </a:endParaRPr>
          </a:p>
        </p:txBody>
      </p:sp>
      <p:pic>
        <p:nvPicPr>
          <p:cNvPr id="6" name="Image 5" descr="Scoring, schéma des contributions au total des points">
            <a:extLst>
              <a:ext uri="{FF2B5EF4-FFF2-40B4-BE49-F238E27FC236}">
                <a16:creationId xmlns:a16="http://schemas.microsoft.com/office/drawing/2014/main" id="{66F19908-2B7F-EFF3-ED7F-7ED43C95A519}"/>
              </a:ext>
            </a:extLst>
          </p:cNvPr>
          <p:cNvPicPr>
            <a:picLocks noChangeAspect="1"/>
          </p:cNvPicPr>
          <p:nvPr/>
        </p:nvPicPr>
        <p:blipFill>
          <a:blip r:embed="rId2"/>
          <a:stretch>
            <a:fillRect/>
          </a:stretch>
        </p:blipFill>
        <p:spPr>
          <a:xfrm>
            <a:off x="1333377" y="644448"/>
            <a:ext cx="5658640" cy="3715268"/>
          </a:xfrm>
          <a:prstGeom prst="rect">
            <a:avLst/>
          </a:prstGeom>
        </p:spPr>
      </p:pic>
      <p:sp>
        <p:nvSpPr>
          <p:cNvPr id="2" name="Espace réservé du numéro de diapositive 1">
            <a:extLst>
              <a:ext uri="{FF2B5EF4-FFF2-40B4-BE49-F238E27FC236}">
                <a16:creationId xmlns:a16="http://schemas.microsoft.com/office/drawing/2014/main" id="{E3B8DE6A-2A37-E6D1-AE23-686596A378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spTree>
    <p:extLst>
      <p:ext uri="{BB962C8B-B14F-4D97-AF65-F5344CB8AC3E}">
        <p14:creationId xmlns:p14="http://schemas.microsoft.com/office/powerpoint/2010/main" val="59744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title"/>
          </p:nvPr>
        </p:nvSpPr>
        <p:spPr>
          <a:xfrm>
            <a:off x="1303800" y="598575"/>
            <a:ext cx="7030500" cy="585791"/>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t>Méthodologie d’analyse</a:t>
            </a:r>
            <a:endParaRPr dirty="0"/>
          </a:p>
        </p:txBody>
      </p:sp>
      <p:sp>
        <p:nvSpPr>
          <p:cNvPr id="2" name="Espace réservé du numéro de diapositive 1">
            <a:extLst>
              <a:ext uri="{FF2B5EF4-FFF2-40B4-BE49-F238E27FC236}">
                <a16:creationId xmlns:a16="http://schemas.microsoft.com/office/drawing/2014/main" id="{8B15C10A-D038-35AA-AC1A-5185C466E8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dirty="0"/>
          </a:p>
        </p:txBody>
      </p:sp>
      <p:sp>
        <p:nvSpPr>
          <p:cNvPr id="18" name="ZoneTexte 17">
            <a:extLst>
              <a:ext uri="{FF2B5EF4-FFF2-40B4-BE49-F238E27FC236}">
                <a16:creationId xmlns:a16="http://schemas.microsoft.com/office/drawing/2014/main" id="{707042F2-B5BC-8641-C911-387EBEA0FE96}"/>
              </a:ext>
            </a:extLst>
          </p:cNvPr>
          <p:cNvSpPr txBox="1"/>
          <p:nvPr/>
        </p:nvSpPr>
        <p:spPr>
          <a:xfrm>
            <a:off x="5834744" y="1496500"/>
            <a:ext cx="2957600" cy="2092881"/>
          </a:xfrm>
          <a:prstGeom prst="rect">
            <a:avLst/>
          </a:prstGeom>
          <a:noFill/>
        </p:spPr>
        <p:txBody>
          <a:bodyPr wrap="square" rtlCol="0">
            <a:spAutoFit/>
          </a:bodyPr>
          <a:lstStyle/>
          <a:p>
            <a:r>
              <a:rPr lang="fr-FR" sz="1000" b="1" dirty="0">
                <a:solidFill>
                  <a:srgbClr val="002060"/>
                </a:solidFill>
              </a:rPr>
              <a:t>    Exploration et visualisation</a:t>
            </a:r>
          </a:p>
          <a:p>
            <a:pPr marL="171450" indent="-171450">
              <a:buFont typeface="Arial" panose="020B0604020202020204" pitchFamily="34" charset="0"/>
              <a:buChar char="•"/>
            </a:pPr>
            <a:r>
              <a:rPr lang="fr-FR" sz="1000" dirty="0"/>
              <a:t>Utilisation de TCD et de graphiques pour explorer les tendances (Efficacité, création, défense).</a:t>
            </a:r>
          </a:p>
          <a:p>
            <a:pPr marL="171450" indent="-171450">
              <a:buFont typeface="Wingdings" panose="05000000000000000000" pitchFamily="2" charset="2"/>
              <a:buChar char="è"/>
            </a:pPr>
            <a:r>
              <a:rPr lang="fr-FR" sz="1000" b="1" i="1" dirty="0">
                <a:solidFill>
                  <a:srgbClr val="002060"/>
                </a:solidFill>
              </a:rPr>
              <a:t>Objectif </a:t>
            </a:r>
            <a:r>
              <a:rPr lang="fr-FR" sz="1000" dirty="0"/>
              <a:t>: rendre la donnée lisible et interprétable.</a:t>
            </a:r>
          </a:p>
          <a:p>
            <a:r>
              <a:rPr lang="fr-FR" sz="1000" dirty="0"/>
              <a:t>_______________________________________</a:t>
            </a:r>
          </a:p>
          <a:p>
            <a:endParaRPr lang="fr-FR" sz="1000" b="1" dirty="0">
              <a:solidFill>
                <a:srgbClr val="002060"/>
              </a:solidFill>
            </a:endParaRPr>
          </a:p>
          <a:p>
            <a:r>
              <a:rPr lang="fr-FR" sz="1000" b="1" dirty="0">
                <a:solidFill>
                  <a:srgbClr val="002060"/>
                </a:solidFill>
              </a:rPr>
              <a:t>  Interprétation et recommandations</a:t>
            </a:r>
          </a:p>
          <a:p>
            <a:pPr marL="171450" indent="-171450">
              <a:buFont typeface="Arial" panose="020B0604020202020204" pitchFamily="34" charset="0"/>
              <a:buChar char="•"/>
            </a:pPr>
            <a:r>
              <a:rPr lang="fr-FR" sz="1000" dirty="0"/>
              <a:t>Mise en relation des résultats analytiques avec le club.</a:t>
            </a:r>
          </a:p>
          <a:p>
            <a:pPr marL="171450" lvl="8" indent="-171450">
              <a:buFont typeface="Wingdings" panose="05000000000000000000" pitchFamily="2" charset="2"/>
              <a:buChar char="Ø"/>
            </a:pPr>
            <a:r>
              <a:rPr lang="fr-FR" sz="1000" dirty="0"/>
              <a:t>Améliorer la performance des tirs.</a:t>
            </a:r>
          </a:p>
          <a:p>
            <a:pPr marL="171450" indent="-171450">
              <a:buFont typeface="Arial" panose="020B0604020202020204" pitchFamily="34" charset="0"/>
              <a:buChar char="•"/>
            </a:pPr>
            <a:r>
              <a:rPr lang="fr-FR" sz="1000" dirty="0"/>
              <a:t>Renforcer les profils offensifs et défensifs.</a:t>
            </a:r>
          </a:p>
        </p:txBody>
      </p:sp>
      <p:pic>
        <p:nvPicPr>
          <p:cNvPr id="20" name="Image 19" descr="Icône Exploration et visualisation">
            <a:extLst>
              <a:ext uri="{FF2B5EF4-FFF2-40B4-BE49-F238E27FC236}">
                <a16:creationId xmlns:a16="http://schemas.microsoft.com/office/drawing/2014/main" id="{88648AEB-7E52-B569-F802-AB87F072DBCC}"/>
              </a:ext>
            </a:extLst>
          </p:cNvPr>
          <p:cNvPicPr>
            <a:picLocks noChangeAspect="1"/>
          </p:cNvPicPr>
          <p:nvPr/>
        </p:nvPicPr>
        <p:blipFill>
          <a:blip r:embed="rId3"/>
          <a:stretch>
            <a:fillRect/>
          </a:stretch>
        </p:blipFill>
        <p:spPr>
          <a:xfrm>
            <a:off x="5430835" y="1764461"/>
            <a:ext cx="342948" cy="362001"/>
          </a:xfrm>
          <a:prstGeom prst="rect">
            <a:avLst/>
          </a:prstGeom>
        </p:spPr>
      </p:pic>
      <p:pic>
        <p:nvPicPr>
          <p:cNvPr id="22" name="Image 21" descr="Icône Interprétation et recommandations">
            <a:extLst>
              <a:ext uri="{FF2B5EF4-FFF2-40B4-BE49-F238E27FC236}">
                <a16:creationId xmlns:a16="http://schemas.microsoft.com/office/drawing/2014/main" id="{1E98D301-AC95-C7BC-179A-7819F89E5E28}"/>
              </a:ext>
            </a:extLst>
          </p:cNvPr>
          <p:cNvPicPr>
            <a:picLocks noChangeAspect="1"/>
          </p:cNvPicPr>
          <p:nvPr/>
        </p:nvPicPr>
        <p:blipFill>
          <a:blip r:embed="rId4"/>
          <a:stretch>
            <a:fillRect/>
          </a:stretch>
        </p:blipFill>
        <p:spPr>
          <a:xfrm>
            <a:off x="5401552" y="2991252"/>
            <a:ext cx="400106" cy="438211"/>
          </a:xfrm>
          <a:prstGeom prst="rect">
            <a:avLst/>
          </a:prstGeom>
        </p:spPr>
      </p:pic>
      <p:pic>
        <p:nvPicPr>
          <p:cNvPr id="25" name="Graphique 24" descr="Badge 1 avec un remplissage uni">
            <a:extLst>
              <a:ext uri="{FF2B5EF4-FFF2-40B4-BE49-F238E27FC236}">
                <a16:creationId xmlns:a16="http://schemas.microsoft.com/office/drawing/2014/main" id="{E028FAF0-84F2-FF39-C3A8-895F6C87D2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9657" y="1496499"/>
            <a:ext cx="214868" cy="216000"/>
          </a:xfrm>
          <a:prstGeom prst="rect">
            <a:avLst/>
          </a:prstGeom>
        </p:spPr>
      </p:pic>
      <p:pic>
        <p:nvPicPr>
          <p:cNvPr id="27" name="Graphique 26" descr="Badge avec un remplissage uni">
            <a:extLst>
              <a:ext uri="{FF2B5EF4-FFF2-40B4-BE49-F238E27FC236}">
                <a16:creationId xmlns:a16="http://schemas.microsoft.com/office/drawing/2014/main" id="{23AFAA62-975F-2226-BE26-E7442337E6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5727" y="2571750"/>
            <a:ext cx="216000" cy="216000"/>
          </a:xfrm>
          <a:prstGeom prst="rect">
            <a:avLst/>
          </a:prstGeom>
        </p:spPr>
      </p:pic>
      <p:pic>
        <p:nvPicPr>
          <p:cNvPr id="29" name="Graphique 28" descr="Badge 3 avec un remplissage uni">
            <a:extLst>
              <a:ext uri="{FF2B5EF4-FFF2-40B4-BE49-F238E27FC236}">
                <a16:creationId xmlns:a16="http://schemas.microsoft.com/office/drawing/2014/main" id="{478B3D5C-0B47-D7DE-4A67-3B52C70D2039}"/>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845727" y="3792421"/>
            <a:ext cx="216000" cy="216000"/>
          </a:xfrm>
          <a:prstGeom prst="rect">
            <a:avLst/>
          </a:prstGeom>
        </p:spPr>
      </p:pic>
      <p:pic>
        <p:nvPicPr>
          <p:cNvPr id="33" name="Graphique 32" descr="Badge 5 avec un remplissage uni">
            <a:extLst>
              <a:ext uri="{FF2B5EF4-FFF2-40B4-BE49-F238E27FC236}">
                <a16:creationId xmlns:a16="http://schemas.microsoft.com/office/drawing/2014/main" id="{4E212FFD-F2AE-8032-3AA3-1B15607B94A9}"/>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5768572" y="2734830"/>
            <a:ext cx="216000" cy="216000"/>
          </a:xfrm>
          <a:prstGeom prst="rect">
            <a:avLst/>
          </a:prstGeom>
        </p:spPr>
      </p:pic>
      <p:pic>
        <p:nvPicPr>
          <p:cNvPr id="34" name="Graphique 33" descr="Badge 4 avec un remplissage uni">
            <a:extLst>
              <a:ext uri="{FF2B5EF4-FFF2-40B4-BE49-F238E27FC236}">
                <a16:creationId xmlns:a16="http://schemas.microsoft.com/office/drawing/2014/main" id="{61D8166A-FA65-F976-B0D2-35F9E1EF3D33}"/>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5834744" y="1503834"/>
            <a:ext cx="216000" cy="216000"/>
          </a:xfrm>
          <a:prstGeom prst="rect">
            <a:avLst/>
          </a:prstGeom>
        </p:spPr>
      </p:pic>
      <p:sp>
        <p:nvSpPr>
          <p:cNvPr id="35" name="ZoneTexte 34">
            <a:extLst>
              <a:ext uri="{FF2B5EF4-FFF2-40B4-BE49-F238E27FC236}">
                <a16:creationId xmlns:a16="http://schemas.microsoft.com/office/drawing/2014/main" id="{93AE9C1D-3377-222C-A624-69EFAF29D9A7}"/>
              </a:ext>
            </a:extLst>
          </p:cNvPr>
          <p:cNvSpPr txBox="1"/>
          <p:nvPr/>
        </p:nvSpPr>
        <p:spPr>
          <a:xfrm>
            <a:off x="944615" y="1496499"/>
            <a:ext cx="3867690" cy="3631763"/>
          </a:xfrm>
          <a:prstGeom prst="rect">
            <a:avLst/>
          </a:prstGeom>
          <a:noFill/>
        </p:spPr>
        <p:txBody>
          <a:bodyPr wrap="square" rtlCol="0">
            <a:spAutoFit/>
          </a:bodyPr>
          <a:lstStyle/>
          <a:p>
            <a:r>
              <a:rPr lang="fr-FR" sz="1000" b="1" dirty="0">
                <a:solidFill>
                  <a:srgbClr val="002060"/>
                </a:solidFill>
              </a:rPr>
              <a:t>  Compréhension du besoin</a:t>
            </a:r>
          </a:p>
          <a:p>
            <a:pPr marL="171450" indent="-171450">
              <a:buFont typeface="Arial" panose="020B0604020202020204" pitchFamily="34" charset="0"/>
              <a:buChar char="•"/>
            </a:pPr>
            <a:r>
              <a:rPr lang="fr-FR" sz="1000" dirty="0"/>
              <a:t>Définition </a:t>
            </a:r>
            <a:r>
              <a:rPr lang="fr-FR" sz="1000" b="1" dirty="0"/>
              <a:t>des objectifs de l’analyse</a:t>
            </a:r>
            <a:r>
              <a:rPr lang="fr-FR" sz="1000" dirty="0"/>
              <a:t> avec le club Les Pionniers : Identifier les </a:t>
            </a:r>
            <a:r>
              <a:rPr lang="fr-FR" sz="1000" b="1" dirty="0"/>
              <a:t>leviers de performance observés </a:t>
            </a:r>
            <a:r>
              <a:rPr lang="fr-FR" sz="1000" dirty="0"/>
              <a:t>dans la NBA afin d’en tirer des enseignements applicables localement.</a:t>
            </a:r>
          </a:p>
          <a:p>
            <a:r>
              <a:rPr lang="fr-FR" sz="1000" dirty="0"/>
              <a:t>____________________________________________________</a:t>
            </a:r>
          </a:p>
          <a:p>
            <a:endParaRPr lang="fr-FR" sz="1000" dirty="0"/>
          </a:p>
          <a:p>
            <a:r>
              <a:rPr lang="fr-FR" sz="1000" b="1" dirty="0">
                <a:solidFill>
                  <a:srgbClr val="002060"/>
                </a:solidFill>
              </a:rPr>
              <a:t>  Préparation et nettoyage des données</a:t>
            </a:r>
          </a:p>
          <a:p>
            <a:pPr marL="171450" indent="-171450">
              <a:buFont typeface="Arial" panose="020B0604020202020204" pitchFamily="34" charset="0"/>
              <a:buChar char="•"/>
            </a:pPr>
            <a:r>
              <a:rPr lang="fr-FR" sz="1000" dirty="0"/>
              <a:t>Suppression des lignes incomplètes et des doublons.</a:t>
            </a:r>
          </a:p>
          <a:p>
            <a:pPr marL="171450" indent="-171450">
              <a:buFont typeface="Arial" panose="020B0604020202020204" pitchFamily="34" charset="0"/>
              <a:buChar char="•"/>
            </a:pPr>
            <a:r>
              <a:rPr lang="fr-FR" sz="1000" dirty="0"/>
              <a:t>Uniformisation des formats (textes, nombres).</a:t>
            </a:r>
          </a:p>
          <a:p>
            <a:pPr marL="171450" indent="-171450">
              <a:buFont typeface="Arial" panose="020B0604020202020204" pitchFamily="34" charset="0"/>
              <a:buChar char="•"/>
            </a:pPr>
            <a:r>
              <a:rPr lang="fr-FR" sz="1000" dirty="0"/>
              <a:t>Application de filtres élaborés.</a:t>
            </a:r>
          </a:p>
          <a:p>
            <a:pPr marL="171450" indent="-171450">
              <a:buFont typeface="Wingdings" panose="05000000000000000000" pitchFamily="2" charset="2"/>
              <a:buChar char="è"/>
            </a:pPr>
            <a:r>
              <a:rPr lang="fr-FR" sz="1000" b="1" dirty="0">
                <a:solidFill>
                  <a:srgbClr val="002060"/>
                </a:solidFill>
              </a:rPr>
              <a:t>Objectif </a:t>
            </a:r>
            <a:r>
              <a:rPr lang="fr-FR" sz="1000" dirty="0"/>
              <a:t>: garantir la fiabilité et la comparabilité des statistiques.</a:t>
            </a:r>
          </a:p>
          <a:p>
            <a:r>
              <a:rPr lang="fr-FR" sz="1000" dirty="0"/>
              <a:t>____________________________________________________</a:t>
            </a:r>
          </a:p>
          <a:p>
            <a:endParaRPr lang="fr-FR" sz="1000" dirty="0"/>
          </a:p>
          <a:p>
            <a:r>
              <a:rPr lang="fr-FR" sz="1000" dirty="0"/>
              <a:t>  </a:t>
            </a:r>
            <a:r>
              <a:rPr lang="fr-FR" sz="1000" b="1" dirty="0">
                <a:solidFill>
                  <a:srgbClr val="002060"/>
                </a:solidFill>
              </a:rPr>
              <a:t>Enrichissement et calculs dérivés</a:t>
            </a:r>
          </a:p>
          <a:p>
            <a:r>
              <a:rPr lang="fr-FR" sz="1000" dirty="0"/>
              <a:t>Création d’indicateurs de performance : </a:t>
            </a:r>
            <a:r>
              <a:rPr lang="fr-FR" sz="1000" dirty="0" err="1"/>
              <a:t>PTS_pg</a:t>
            </a:r>
            <a:r>
              <a:rPr lang="fr-FR" sz="1000" dirty="0"/>
              <a:t>, </a:t>
            </a:r>
            <a:r>
              <a:rPr lang="fr-FR" sz="1000" dirty="0" err="1"/>
              <a:t>Def</a:t>
            </a:r>
            <a:r>
              <a:rPr lang="fr-FR" sz="1000" dirty="0"/>
              <a:t> Impact Score.</a:t>
            </a:r>
            <a:br>
              <a:rPr lang="fr-FR" sz="1000" dirty="0"/>
            </a:br>
            <a:r>
              <a:rPr lang="fr-FR" sz="1000" dirty="0"/>
              <a:t>Normalisation de valeurs pour permettre les comparaisons.</a:t>
            </a:r>
          </a:p>
          <a:p>
            <a:r>
              <a:rPr lang="fr-FR" sz="1000" dirty="0"/>
              <a:t>Mises en forme conditionnelles pour un tri visuel rapide.</a:t>
            </a:r>
          </a:p>
          <a:p>
            <a:r>
              <a:rPr lang="fr-FR" sz="1000" b="1" dirty="0">
                <a:solidFill>
                  <a:srgbClr val="002060"/>
                </a:solidFill>
              </a:rPr>
              <a:t>-&gt; Objectif </a:t>
            </a:r>
            <a:r>
              <a:rPr lang="fr-FR" sz="1000" dirty="0"/>
              <a:t>: transformer la donnée brute en information exploitable.</a:t>
            </a:r>
          </a:p>
          <a:p>
            <a:endParaRPr lang="fr-FR" sz="1000" dirty="0"/>
          </a:p>
        </p:txBody>
      </p:sp>
      <p:pic>
        <p:nvPicPr>
          <p:cNvPr id="37" name="Image 36" descr="Icône Compréhension du besoin">
            <a:extLst>
              <a:ext uri="{FF2B5EF4-FFF2-40B4-BE49-F238E27FC236}">
                <a16:creationId xmlns:a16="http://schemas.microsoft.com/office/drawing/2014/main" id="{1F90FF6E-0F4B-A2CF-2F6A-7534F6C90D9E}"/>
              </a:ext>
            </a:extLst>
          </p:cNvPr>
          <p:cNvPicPr>
            <a:picLocks noChangeAspect="1"/>
          </p:cNvPicPr>
          <p:nvPr/>
        </p:nvPicPr>
        <p:blipFill>
          <a:blip r:embed="rId15"/>
          <a:stretch>
            <a:fillRect/>
          </a:stretch>
        </p:blipFill>
        <p:spPr>
          <a:xfrm>
            <a:off x="397886" y="1719834"/>
            <a:ext cx="428685" cy="457264"/>
          </a:xfrm>
          <a:prstGeom prst="rect">
            <a:avLst/>
          </a:prstGeom>
        </p:spPr>
      </p:pic>
      <p:pic>
        <p:nvPicPr>
          <p:cNvPr id="39" name="Image 38" descr="Icône Préparation et nettoyage des données">
            <a:extLst>
              <a:ext uri="{FF2B5EF4-FFF2-40B4-BE49-F238E27FC236}">
                <a16:creationId xmlns:a16="http://schemas.microsoft.com/office/drawing/2014/main" id="{2B44E8FE-6EC2-D88B-BDBF-B0D7FF423517}"/>
              </a:ext>
            </a:extLst>
          </p:cNvPr>
          <p:cNvPicPr>
            <a:picLocks noChangeAspect="1"/>
          </p:cNvPicPr>
          <p:nvPr/>
        </p:nvPicPr>
        <p:blipFill>
          <a:blip r:embed="rId16"/>
          <a:stretch>
            <a:fillRect/>
          </a:stretch>
        </p:blipFill>
        <p:spPr>
          <a:xfrm>
            <a:off x="391425" y="2734041"/>
            <a:ext cx="447737" cy="514422"/>
          </a:xfrm>
          <a:prstGeom prst="rect">
            <a:avLst/>
          </a:prstGeom>
        </p:spPr>
      </p:pic>
      <p:pic>
        <p:nvPicPr>
          <p:cNvPr id="41" name="Image 40" descr="Icône Enrichissement et calculs dérivés">
            <a:extLst>
              <a:ext uri="{FF2B5EF4-FFF2-40B4-BE49-F238E27FC236}">
                <a16:creationId xmlns:a16="http://schemas.microsoft.com/office/drawing/2014/main" id="{3A934217-7A9B-676A-DDA8-DDBAE3003ACE}"/>
              </a:ext>
            </a:extLst>
          </p:cNvPr>
          <p:cNvPicPr>
            <a:picLocks noChangeAspect="1"/>
          </p:cNvPicPr>
          <p:nvPr/>
        </p:nvPicPr>
        <p:blipFill>
          <a:blip r:embed="rId17"/>
          <a:stretch>
            <a:fillRect/>
          </a:stretch>
        </p:blipFill>
        <p:spPr>
          <a:xfrm>
            <a:off x="388360" y="4127154"/>
            <a:ext cx="438211" cy="409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title"/>
          </p:nvPr>
        </p:nvSpPr>
        <p:spPr>
          <a:xfrm>
            <a:off x="1303800" y="598575"/>
            <a:ext cx="7695946"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sz="2400" dirty="0"/>
              <a:t>Vue d’ensemble du jeu de données NBA 2024/205 </a:t>
            </a:r>
            <a:endParaRPr sz="2400" dirty="0"/>
          </a:p>
        </p:txBody>
      </p:sp>
      <p:sp>
        <p:nvSpPr>
          <p:cNvPr id="2" name="Espace réservé du numéro de diapositive 1">
            <a:extLst>
              <a:ext uri="{FF2B5EF4-FFF2-40B4-BE49-F238E27FC236}">
                <a16:creationId xmlns:a16="http://schemas.microsoft.com/office/drawing/2014/main" id="{E9140EDA-E576-2630-F62A-40EC2671B8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graphicFrame>
        <p:nvGraphicFramePr>
          <p:cNvPr id="3" name="Graphique 2" descr="Répartition des temps de jeux">
            <a:extLst>
              <a:ext uri="{FF2B5EF4-FFF2-40B4-BE49-F238E27FC236}">
                <a16:creationId xmlns:a16="http://schemas.microsoft.com/office/drawing/2014/main" id="{6E3ACC73-1EBC-3E73-D3D7-31C7BCCB4C80}"/>
              </a:ext>
            </a:extLst>
          </p:cNvPr>
          <p:cNvGraphicFramePr>
            <a:graphicFrameLocks/>
          </p:cNvGraphicFramePr>
          <p:nvPr>
            <p:extLst>
              <p:ext uri="{D42A27DB-BD31-4B8C-83A1-F6EECF244321}">
                <p14:modId xmlns:p14="http://schemas.microsoft.com/office/powerpoint/2010/main" val="716519752"/>
              </p:ext>
            </p:extLst>
          </p:nvPr>
        </p:nvGraphicFramePr>
        <p:xfrm>
          <a:off x="144254" y="1440180"/>
          <a:ext cx="2888506" cy="284988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cx1="http://schemas.microsoft.com/office/drawing/2015/9/8/chartex">
        <mc:Choice Requires="cx1">
          <p:graphicFrame>
            <p:nvGraphicFramePr>
              <p:cNvPr id="4" name="Graphique 3" descr="Répartition du scoring en nombre de points par match">
                <a:extLst>
                  <a:ext uri="{FF2B5EF4-FFF2-40B4-BE49-F238E27FC236}">
                    <a16:creationId xmlns:a16="http://schemas.microsoft.com/office/drawing/2014/main" id="{5B181E50-3668-4588-9647-F8B798589AD0}"/>
                  </a:ext>
                </a:extLst>
              </p:cNvPr>
              <p:cNvGraphicFramePr/>
              <p:nvPr>
                <p:extLst>
                  <p:ext uri="{D42A27DB-BD31-4B8C-83A1-F6EECF244321}">
                    <p14:modId xmlns:p14="http://schemas.microsoft.com/office/powerpoint/2010/main" val="1829648104"/>
                  </p:ext>
                </p:extLst>
              </p:nvPr>
            </p:nvGraphicFramePr>
            <p:xfrm>
              <a:off x="3032760" y="1485662"/>
              <a:ext cx="3253740" cy="2849880"/>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4" name="Graphique 3" descr="Répartition du scoring en nombre de points par match">
                <a:extLst>
                  <a:ext uri="{FF2B5EF4-FFF2-40B4-BE49-F238E27FC236}">
                    <a16:creationId xmlns:a16="http://schemas.microsoft.com/office/drawing/2014/main" id="{5B181E50-3668-4588-9647-F8B798589AD0}"/>
                  </a:ext>
                </a:extLst>
              </p:cNvPr>
              <p:cNvPicPr>
                <a:picLocks noGrp="1" noRot="1" noChangeAspect="1" noMove="1" noResize="1" noEditPoints="1" noAdjustHandles="1" noChangeArrowheads="1" noChangeShapeType="1"/>
              </p:cNvPicPr>
              <p:nvPr/>
            </p:nvPicPr>
            <p:blipFill>
              <a:blip r:embed="rId5"/>
              <a:stretch>
                <a:fillRect/>
              </a:stretch>
            </p:blipFill>
            <p:spPr>
              <a:xfrm>
                <a:off x="3032760" y="1485662"/>
                <a:ext cx="3253740" cy="2849880"/>
              </a:xfrm>
              <a:prstGeom prst="rect">
                <a:avLst/>
              </a:prstGeom>
            </p:spPr>
          </p:pic>
        </mc:Fallback>
      </mc:AlternateContent>
      <p:graphicFrame>
        <p:nvGraphicFramePr>
          <p:cNvPr id="5" name="Graphique 4" descr="Répartition des joueurs par tranche d'âge">
            <a:extLst>
              <a:ext uri="{FF2B5EF4-FFF2-40B4-BE49-F238E27FC236}">
                <a16:creationId xmlns:a16="http://schemas.microsoft.com/office/drawing/2014/main" id="{96D60AFD-5A6A-46C9-AA11-B4A5D6C8D2BA}"/>
              </a:ext>
            </a:extLst>
          </p:cNvPr>
          <p:cNvGraphicFramePr>
            <a:graphicFrameLocks/>
          </p:cNvGraphicFramePr>
          <p:nvPr>
            <p:extLst>
              <p:ext uri="{D42A27DB-BD31-4B8C-83A1-F6EECF244321}">
                <p14:modId xmlns:p14="http://schemas.microsoft.com/office/powerpoint/2010/main" val="1751984981"/>
              </p:ext>
            </p:extLst>
          </p:nvPr>
        </p:nvGraphicFramePr>
        <p:xfrm>
          <a:off x="6127269" y="1474525"/>
          <a:ext cx="2819400" cy="2537460"/>
        </p:xfrm>
        <a:graphic>
          <a:graphicData uri="http://schemas.openxmlformats.org/drawingml/2006/chart">
            <c:chart xmlns:c="http://schemas.openxmlformats.org/drawingml/2006/chart" xmlns:r="http://schemas.openxmlformats.org/officeDocument/2006/relationships" r:id="rId6"/>
          </a:graphicData>
        </a:graphic>
      </p:graphicFrame>
      <p:sp>
        <p:nvSpPr>
          <p:cNvPr id="6" name="ZoneTexte 5">
            <a:extLst>
              <a:ext uri="{FF2B5EF4-FFF2-40B4-BE49-F238E27FC236}">
                <a16:creationId xmlns:a16="http://schemas.microsoft.com/office/drawing/2014/main" id="{2C16CFAB-09BC-D2CF-6577-9E27A8E88998}"/>
              </a:ext>
            </a:extLst>
          </p:cNvPr>
          <p:cNvSpPr txBox="1"/>
          <p:nvPr/>
        </p:nvSpPr>
        <p:spPr>
          <a:xfrm>
            <a:off x="205477" y="4287445"/>
            <a:ext cx="2766060" cy="646331"/>
          </a:xfrm>
          <a:prstGeom prst="rect">
            <a:avLst/>
          </a:prstGeom>
          <a:noFill/>
        </p:spPr>
        <p:txBody>
          <a:bodyPr wrap="square" rtlCol="0">
            <a:spAutoFit/>
          </a:bodyPr>
          <a:lstStyle/>
          <a:p>
            <a:pPr algn="just"/>
            <a:r>
              <a:rPr lang="fr-FR" sz="900" b="1" dirty="0"/>
              <a:t>🗣️ </a:t>
            </a:r>
            <a:r>
              <a:rPr lang="fr-FR" sz="900" b="1" i="1" dirty="0"/>
              <a:t>“On observe une majorité de joueurs entre 10 et 30 minutes — les titulaires réguliers sont minoritaires mais concentrent le plus fort impact.”</a:t>
            </a:r>
            <a:endParaRPr lang="fr-FR" sz="900" b="1" dirty="0"/>
          </a:p>
        </p:txBody>
      </p:sp>
      <p:sp>
        <p:nvSpPr>
          <p:cNvPr id="7" name="ZoneTexte 6">
            <a:extLst>
              <a:ext uri="{FF2B5EF4-FFF2-40B4-BE49-F238E27FC236}">
                <a16:creationId xmlns:a16="http://schemas.microsoft.com/office/drawing/2014/main" id="{FB255D18-E92C-6F85-F910-A084042C047C}"/>
              </a:ext>
            </a:extLst>
          </p:cNvPr>
          <p:cNvSpPr txBox="1"/>
          <p:nvPr/>
        </p:nvSpPr>
        <p:spPr>
          <a:xfrm>
            <a:off x="3649980" y="4133850"/>
            <a:ext cx="2477289" cy="507831"/>
          </a:xfrm>
          <a:prstGeom prst="rect">
            <a:avLst/>
          </a:prstGeom>
          <a:noFill/>
        </p:spPr>
        <p:txBody>
          <a:bodyPr wrap="square" rtlCol="0">
            <a:spAutoFit/>
          </a:bodyPr>
          <a:lstStyle>
            <a:defPPr marR="0" lvl="0" algn="l" rtl="0">
              <a:lnSpc>
                <a:spcPct val="100000"/>
              </a:lnSpc>
              <a:spcBef>
                <a:spcPts val="0"/>
              </a:spcBef>
              <a:spcAft>
                <a:spcPts val="0"/>
              </a:spcAft>
            </a:defPPr>
            <a:lvl1pPr>
              <a:defRPr sz="900" b="1"/>
            </a:lvl1pPr>
          </a:lstStyle>
          <a:p>
            <a:pPr algn="just"/>
            <a:r>
              <a:rPr lang="fr-FR" dirty="0"/>
              <a:t>🗣️ “La majorité des joueurs tournent entre 5 et 15 points par match ; seuls quelques leaders dépassent les 25.”</a:t>
            </a:r>
          </a:p>
        </p:txBody>
      </p:sp>
      <p:sp>
        <p:nvSpPr>
          <p:cNvPr id="8" name="ZoneTexte 7">
            <a:extLst>
              <a:ext uri="{FF2B5EF4-FFF2-40B4-BE49-F238E27FC236}">
                <a16:creationId xmlns:a16="http://schemas.microsoft.com/office/drawing/2014/main" id="{B6BF3AF9-4F44-4556-5393-7847A51E1D15}"/>
              </a:ext>
            </a:extLst>
          </p:cNvPr>
          <p:cNvSpPr txBox="1"/>
          <p:nvPr/>
        </p:nvSpPr>
        <p:spPr>
          <a:xfrm>
            <a:off x="6507611" y="4287445"/>
            <a:ext cx="2271023" cy="646331"/>
          </a:xfrm>
          <a:prstGeom prst="rect">
            <a:avLst/>
          </a:prstGeom>
          <a:noFill/>
        </p:spPr>
        <p:txBody>
          <a:bodyPr wrap="square" rtlCol="0">
            <a:spAutoFit/>
          </a:bodyPr>
          <a:lstStyle/>
          <a:p>
            <a:pPr algn="just"/>
            <a:r>
              <a:rPr lang="fr-FR" sz="900" b="1" dirty="0"/>
              <a:t>🗣️ “La population NBA est majoritairement jeune : le cœur de la performance se situe entre 23 et 27 ans.”</a:t>
            </a:r>
          </a:p>
        </p:txBody>
      </p:sp>
      <p:sp>
        <p:nvSpPr>
          <p:cNvPr id="9" name="ZoneTexte 8">
            <a:extLst>
              <a:ext uri="{FF2B5EF4-FFF2-40B4-BE49-F238E27FC236}">
                <a16:creationId xmlns:a16="http://schemas.microsoft.com/office/drawing/2014/main" id="{75689874-FE4C-C8E3-9DDC-A37BBDAE638D}"/>
              </a:ext>
            </a:extLst>
          </p:cNvPr>
          <p:cNvSpPr txBox="1"/>
          <p:nvPr/>
        </p:nvSpPr>
        <p:spPr>
          <a:xfrm>
            <a:off x="3649981" y="4707606"/>
            <a:ext cx="2522484" cy="246221"/>
          </a:xfrm>
          <a:prstGeom prst="rect">
            <a:avLst/>
          </a:prstGeom>
          <a:noFill/>
          <a:ln>
            <a:solidFill>
              <a:schemeClr val="accent1">
                <a:shade val="15000"/>
              </a:schemeClr>
            </a:solidFill>
          </a:ln>
        </p:spPr>
        <p:txBody>
          <a:bodyPr wrap="square" rtlCol="0">
            <a:spAutoFit/>
          </a:bodyPr>
          <a:lstStyle/>
          <a:p>
            <a:r>
              <a:rPr lang="fr-FR" sz="1000" dirty="0"/>
              <a:t>Voir slide suivante Zoom sur les </a:t>
            </a:r>
            <a:r>
              <a:rPr lang="fr-FR" sz="1000" dirty="0" err="1"/>
              <a:t>Outliers</a:t>
            </a:r>
            <a:endParaRPr lang="fr-FR"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4E1C84-DC9E-40A2-91F3-859918AB3710}"/>
              </a:ext>
            </a:extLst>
          </p:cNvPr>
          <p:cNvSpPr>
            <a:spLocks noGrp="1"/>
          </p:cNvSpPr>
          <p:nvPr>
            <p:ph type="title"/>
          </p:nvPr>
        </p:nvSpPr>
        <p:spPr>
          <a:xfrm>
            <a:off x="1303800" y="598575"/>
            <a:ext cx="7030500" cy="681585"/>
          </a:xfrm>
        </p:spPr>
        <p:txBody>
          <a:bodyPr/>
          <a:lstStyle/>
          <a:p>
            <a:r>
              <a:rPr lang="fr-FR" dirty="0"/>
              <a:t>Zoom sur les </a:t>
            </a:r>
            <a:r>
              <a:rPr lang="fr-FR" dirty="0" err="1"/>
              <a:t>outliers</a:t>
            </a:r>
            <a:r>
              <a:rPr lang="fr-FR" dirty="0"/>
              <a:t> du </a:t>
            </a:r>
            <a:r>
              <a:rPr lang="fr-FR" dirty="0" err="1"/>
              <a:t>Scoring</a:t>
            </a:r>
            <a:endParaRPr lang="fr-FR" dirty="0"/>
          </a:p>
        </p:txBody>
      </p:sp>
      <p:sp>
        <p:nvSpPr>
          <p:cNvPr id="4" name="Espace réservé du numéro de diapositive 3">
            <a:extLst>
              <a:ext uri="{FF2B5EF4-FFF2-40B4-BE49-F238E27FC236}">
                <a16:creationId xmlns:a16="http://schemas.microsoft.com/office/drawing/2014/main" id="{C0D08671-23B1-7A24-E444-9565B4D8D5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pic>
        <p:nvPicPr>
          <p:cNvPr id="11" name="Image 10" descr="Hierarchisation du nombre de tirs tentés pour le Top 15">
            <a:extLst>
              <a:ext uri="{FF2B5EF4-FFF2-40B4-BE49-F238E27FC236}">
                <a16:creationId xmlns:a16="http://schemas.microsoft.com/office/drawing/2014/main" id="{F395F963-3823-12E2-E783-634E97318FEC}"/>
              </a:ext>
            </a:extLst>
          </p:cNvPr>
          <p:cNvPicPr>
            <a:picLocks noChangeAspect="1"/>
          </p:cNvPicPr>
          <p:nvPr/>
        </p:nvPicPr>
        <p:blipFill>
          <a:blip r:embed="rId2"/>
          <a:stretch>
            <a:fillRect/>
          </a:stretch>
        </p:blipFill>
        <p:spPr>
          <a:xfrm>
            <a:off x="6339840" y="1185938"/>
            <a:ext cx="2509083" cy="3381847"/>
          </a:xfrm>
          <a:prstGeom prst="rect">
            <a:avLst/>
          </a:prstGeom>
        </p:spPr>
      </p:pic>
      <p:sp>
        <p:nvSpPr>
          <p:cNvPr id="3" name="ZoneTexte 2">
            <a:extLst>
              <a:ext uri="{FF2B5EF4-FFF2-40B4-BE49-F238E27FC236}">
                <a16:creationId xmlns:a16="http://schemas.microsoft.com/office/drawing/2014/main" id="{F6751613-FD5E-9928-F244-FEE6B60AB0C8}"/>
              </a:ext>
            </a:extLst>
          </p:cNvPr>
          <p:cNvSpPr txBox="1"/>
          <p:nvPr/>
        </p:nvSpPr>
        <p:spPr>
          <a:xfrm>
            <a:off x="0" y="4163209"/>
            <a:ext cx="6339840" cy="1015663"/>
          </a:xfrm>
          <a:prstGeom prst="rect">
            <a:avLst/>
          </a:prstGeom>
          <a:noFill/>
        </p:spPr>
        <p:txBody>
          <a:bodyPr wrap="square" rtlCol="0">
            <a:spAutoFit/>
          </a:bodyPr>
          <a:lstStyle/>
          <a:p>
            <a:r>
              <a:rPr lang="fr-FR" sz="1200" b="1" dirty="0"/>
              <a:t>Enseignement pour Les Pionniers :</a:t>
            </a:r>
            <a:r>
              <a:rPr lang="fr-FR" sz="1200" dirty="0"/>
              <a:t> Le profil de scoreur efficace dépend autant de la sélection des tirs que de la spécialisation (intérieur vs extérieur). Un suivi combinant volume et efficacité permettrait d’adapter la stratégie de jeu aux points forts de chaque joueur.</a:t>
            </a:r>
          </a:p>
          <a:p>
            <a:endParaRPr lang="fr-FR" sz="1200" dirty="0"/>
          </a:p>
        </p:txBody>
      </p:sp>
      <p:pic>
        <p:nvPicPr>
          <p:cNvPr id="9" name="Image 8">
            <a:extLst>
              <a:ext uri="{FF2B5EF4-FFF2-40B4-BE49-F238E27FC236}">
                <a16:creationId xmlns:a16="http://schemas.microsoft.com/office/drawing/2014/main" id="{5AE1D815-2C72-3DE1-D471-D8302FEEBD88}"/>
              </a:ext>
            </a:extLst>
          </p:cNvPr>
          <p:cNvPicPr>
            <a:picLocks noChangeAspect="1"/>
          </p:cNvPicPr>
          <p:nvPr/>
        </p:nvPicPr>
        <p:blipFill>
          <a:blip r:embed="rId3"/>
          <a:stretch>
            <a:fillRect/>
          </a:stretch>
        </p:blipFill>
        <p:spPr>
          <a:xfrm>
            <a:off x="95794" y="1185938"/>
            <a:ext cx="6148252" cy="2839028"/>
          </a:xfrm>
          <a:prstGeom prst="rect">
            <a:avLst/>
          </a:prstGeom>
        </p:spPr>
      </p:pic>
    </p:spTree>
    <p:extLst>
      <p:ext uri="{BB962C8B-B14F-4D97-AF65-F5344CB8AC3E}">
        <p14:creationId xmlns:p14="http://schemas.microsoft.com/office/powerpoint/2010/main" val="3114502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Production et profil de tir (équipes)</a:t>
            </a:r>
            <a:endParaRPr dirty="0"/>
          </a:p>
        </p:txBody>
      </p:sp>
      <p:sp>
        <p:nvSpPr>
          <p:cNvPr id="2" name="Espace réservé du numéro de diapositive 1">
            <a:extLst>
              <a:ext uri="{FF2B5EF4-FFF2-40B4-BE49-F238E27FC236}">
                <a16:creationId xmlns:a16="http://schemas.microsoft.com/office/drawing/2014/main" id="{087F9DCB-EC97-AB46-EB1F-CF31A02BC8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graphicFrame>
        <p:nvGraphicFramePr>
          <p:cNvPr id="3" name="Graphique 2" descr="Production et profil de tirs pour le Top 10 des équipes">
            <a:extLst>
              <a:ext uri="{FF2B5EF4-FFF2-40B4-BE49-F238E27FC236}">
                <a16:creationId xmlns:a16="http://schemas.microsoft.com/office/drawing/2014/main" id="{15427187-3A6E-606B-5A3A-1BE3ACFF9A5A}"/>
              </a:ext>
            </a:extLst>
          </p:cNvPr>
          <p:cNvGraphicFramePr>
            <a:graphicFrameLocks/>
          </p:cNvGraphicFramePr>
          <p:nvPr>
            <p:extLst>
              <p:ext uri="{D42A27DB-BD31-4B8C-83A1-F6EECF244321}">
                <p14:modId xmlns:p14="http://schemas.microsoft.com/office/powerpoint/2010/main" val="2073666245"/>
              </p:ext>
            </p:extLst>
          </p:nvPr>
        </p:nvGraphicFramePr>
        <p:xfrm>
          <a:off x="422910" y="1508760"/>
          <a:ext cx="7776210" cy="28041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97C313-78B9-A559-0C83-8397087070FD}"/>
              </a:ext>
            </a:extLst>
          </p:cNvPr>
          <p:cNvSpPr>
            <a:spLocks noGrp="1"/>
          </p:cNvSpPr>
          <p:nvPr>
            <p:ph type="title"/>
          </p:nvPr>
        </p:nvSpPr>
        <p:spPr>
          <a:xfrm>
            <a:off x="1303800" y="598575"/>
            <a:ext cx="7603980" cy="999300"/>
          </a:xfrm>
        </p:spPr>
        <p:txBody>
          <a:bodyPr>
            <a:normAutofit/>
          </a:bodyPr>
          <a:lstStyle/>
          <a:p>
            <a:r>
              <a:rPr lang="fr" sz="2200" dirty="0"/>
              <a:t>Production et profil de tir (équipes) _ % de réussite</a:t>
            </a:r>
            <a:endParaRPr lang="fr-FR" sz="2200" dirty="0"/>
          </a:p>
        </p:txBody>
      </p:sp>
      <p:sp>
        <p:nvSpPr>
          <p:cNvPr id="4" name="Espace réservé du numéro de diapositive 3">
            <a:extLst>
              <a:ext uri="{FF2B5EF4-FFF2-40B4-BE49-F238E27FC236}">
                <a16:creationId xmlns:a16="http://schemas.microsoft.com/office/drawing/2014/main" id="{DF42A8AD-F991-0FF7-8375-CD4D0053BA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pic>
        <p:nvPicPr>
          <p:cNvPr id="7" name="Image 6" descr="Top 10 du profil de tirs des équipes NBA 2024-2025">
            <a:extLst>
              <a:ext uri="{FF2B5EF4-FFF2-40B4-BE49-F238E27FC236}">
                <a16:creationId xmlns:a16="http://schemas.microsoft.com/office/drawing/2014/main" id="{A0642118-EDBF-D7BC-1A44-DE7AA09A5FD5}"/>
              </a:ext>
            </a:extLst>
          </p:cNvPr>
          <p:cNvPicPr>
            <a:picLocks noChangeAspect="1"/>
          </p:cNvPicPr>
          <p:nvPr/>
        </p:nvPicPr>
        <p:blipFill>
          <a:blip r:embed="rId2"/>
          <a:stretch>
            <a:fillRect/>
          </a:stretch>
        </p:blipFill>
        <p:spPr>
          <a:xfrm>
            <a:off x="130036" y="1363980"/>
            <a:ext cx="8671560" cy="2651760"/>
          </a:xfrm>
          <a:prstGeom prst="rect">
            <a:avLst/>
          </a:prstGeom>
        </p:spPr>
      </p:pic>
      <p:sp>
        <p:nvSpPr>
          <p:cNvPr id="10" name="ZoneTexte 9">
            <a:extLst>
              <a:ext uri="{FF2B5EF4-FFF2-40B4-BE49-F238E27FC236}">
                <a16:creationId xmlns:a16="http://schemas.microsoft.com/office/drawing/2014/main" id="{5FD1A894-A03E-E0FB-A97D-ED38D4835CDF}"/>
              </a:ext>
            </a:extLst>
          </p:cNvPr>
          <p:cNvSpPr txBox="1"/>
          <p:nvPr/>
        </p:nvSpPr>
        <p:spPr>
          <a:xfrm>
            <a:off x="206236" y="4379778"/>
            <a:ext cx="8519160" cy="553998"/>
          </a:xfrm>
          <a:prstGeom prst="rect">
            <a:avLst/>
          </a:prstGeom>
          <a:noFill/>
        </p:spPr>
        <p:txBody>
          <a:bodyPr wrap="square" rtlCol="0">
            <a:spAutoFit/>
          </a:bodyPr>
          <a:lstStyle/>
          <a:p>
            <a:pPr marL="171450" indent="-171450">
              <a:buFont typeface="Arial" panose="020B0604020202020204" pitchFamily="34" charset="0"/>
              <a:buChar char="•"/>
            </a:pPr>
            <a:r>
              <a:rPr lang="fr-FR" sz="1000" dirty="0"/>
              <a:t>Une équipe avec 3P% élevé mais FT% moyen → style orienté “tir extérieur” (ex. Atlanta Hawks).</a:t>
            </a:r>
          </a:p>
          <a:p>
            <a:pPr marL="171450" indent="-171450">
              <a:buFont typeface="Arial" panose="020B0604020202020204" pitchFamily="34" charset="0"/>
              <a:buChar char="•"/>
            </a:pPr>
            <a:r>
              <a:rPr lang="fr-FR" sz="1000" dirty="0"/>
              <a:t>Une équipe avec FT% haut et FGA dans la raquette → style plus “intérieur / physique” (ex. Dallas Mavericks)</a:t>
            </a:r>
          </a:p>
          <a:p>
            <a:pPr marL="171450" indent="-171450">
              <a:buFont typeface="Arial" panose="020B0604020202020204" pitchFamily="34" charset="0"/>
              <a:buChar char="•"/>
            </a:pPr>
            <a:r>
              <a:rPr lang="fr-FR" sz="1000" dirty="0"/>
              <a:t>TS% et EFG% donnent la mesure finale d’efficacité globale : au-delà de 58 %, le rendement offensif est excellent.</a:t>
            </a:r>
          </a:p>
        </p:txBody>
      </p:sp>
      <p:sp>
        <p:nvSpPr>
          <p:cNvPr id="11" name="ZoneTexte 10">
            <a:extLst>
              <a:ext uri="{FF2B5EF4-FFF2-40B4-BE49-F238E27FC236}">
                <a16:creationId xmlns:a16="http://schemas.microsoft.com/office/drawing/2014/main" id="{50DB5495-673D-6082-82C1-05E032C1907C}"/>
              </a:ext>
            </a:extLst>
          </p:cNvPr>
          <p:cNvSpPr txBox="1"/>
          <p:nvPr/>
        </p:nvSpPr>
        <p:spPr>
          <a:xfrm>
            <a:off x="206236" y="4130040"/>
            <a:ext cx="8701544" cy="215444"/>
          </a:xfrm>
          <a:prstGeom prst="rect">
            <a:avLst/>
          </a:prstGeom>
          <a:noFill/>
          <a:ln>
            <a:solidFill>
              <a:schemeClr val="tx1"/>
            </a:solidFill>
            <a:prstDash val="solid"/>
          </a:ln>
        </p:spPr>
        <p:txBody>
          <a:bodyPr wrap="square" rtlCol="0">
            <a:spAutoFit/>
          </a:bodyPr>
          <a:lstStyle/>
          <a:p>
            <a:pPr algn="ctr"/>
            <a:r>
              <a:rPr lang="fr-FR" sz="800" b="1" dirty="0"/>
              <a:t>FG% : % tirs 2 pts et 3 pts  réussis _ 3P% : % tirs 3 pts réussis _ FT% : % lancers francs réussis _ EFG% : Indicateur FG et 3P majoré _ TS% : Indicateur combiné FG et FT </a:t>
            </a:r>
          </a:p>
        </p:txBody>
      </p:sp>
    </p:spTree>
    <p:extLst>
      <p:ext uri="{BB962C8B-B14F-4D97-AF65-F5344CB8AC3E}">
        <p14:creationId xmlns:p14="http://schemas.microsoft.com/office/powerpoint/2010/main" val="360357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9EEE08-FB95-A506-4769-D752916BD0AB}"/>
              </a:ext>
            </a:extLst>
          </p:cNvPr>
          <p:cNvSpPr>
            <a:spLocks noGrp="1"/>
          </p:cNvSpPr>
          <p:nvPr>
            <p:ph type="title"/>
          </p:nvPr>
        </p:nvSpPr>
        <p:spPr>
          <a:xfrm>
            <a:off x="1303800" y="598575"/>
            <a:ext cx="7030500" cy="681585"/>
          </a:xfrm>
        </p:spPr>
        <p:txBody>
          <a:bodyPr/>
          <a:lstStyle/>
          <a:p>
            <a:r>
              <a:rPr lang="fr-FR" dirty="0" err="1"/>
              <a:t>Scoring</a:t>
            </a:r>
            <a:r>
              <a:rPr lang="fr-FR" dirty="0"/>
              <a:t> &amp; efficacité (joueurs)</a:t>
            </a:r>
          </a:p>
        </p:txBody>
      </p:sp>
      <p:sp>
        <p:nvSpPr>
          <p:cNvPr id="4" name="Espace réservé du numéro de diapositive 3">
            <a:extLst>
              <a:ext uri="{FF2B5EF4-FFF2-40B4-BE49-F238E27FC236}">
                <a16:creationId xmlns:a16="http://schemas.microsoft.com/office/drawing/2014/main" id="{10CD43A4-A7C4-F593-59DC-AAFAEF21E1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sp>
        <p:nvSpPr>
          <p:cNvPr id="8" name="ZoneTexte 7">
            <a:extLst>
              <a:ext uri="{FF2B5EF4-FFF2-40B4-BE49-F238E27FC236}">
                <a16:creationId xmlns:a16="http://schemas.microsoft.com/office/drawing/2014/main" id="{8FE358DE-54BE-02CE-6BE2-56E3E35247A2}"/>
              </a:ext>
            </a:extLst>
          </p:cNvPr>
          <p:cNvSpPr txBox="1"/>
          <p:nvPr/>
        </p:nvSpPr>
        <p:spPr>
          <a:xfrm>
            <a:off x="251925" y="4075256"/>
            <a:ext cx="8595127" cy="1169551"/>
          </a:xfrm>
          <a:prstGeom prst="rect">
            <a:avLst/>
          </a:prstGeom>
          <a:noFill/>
        </p:spPr>
        <p:txBody>
          <a:bodyPr wrap="square" rtlCol="0">
            <a:spAutoFit/>
          </a:bodyPr>
          <a:lstStyle/>
          <a:p>
            <a:pPr marL="171450" indent="-171450">
              <a:buFont typeface="Arial" panose="020B0604020202020204" pitchFamily="34" charset="0"/>
              <a:buChar char="•"/>
            </a:pPr>
            <a:r>
              <a:rPr lang="fr-FR" sz="1000" dirty="0"/>
              <a:t>Joueurs  prolifiques combinant  un volume de points élevé à une efficacité supérieure à 60 %. Versus autres profils marquant beaucoup mais avec un rendement plus irrégulier.</a:t>
            </a:r>
          </a:p>
          <a:p>
            <a:pPr marL="171450" indent="-171450">
              <a:buFont typeface="Arial" panose="020B0604020202020204" pitchFamily="34" charset="0"/>
              <a:buChar char="•"/>
            </a:pPr>
            <a:r>
              <a:rPr lang="fr-FR" sz="1000" b="1" dirty="0"/>
              <a:t>Enseignement pour Les Pionniers :</a:t>
            </a:r>
            <a:r>
              <a:rPr lang="fr-FR" sz="1000" dirty="0"/>
              <a:t> la performance offensive ne dépend pas seulement du volume de tirs, mais surtout de </a:t>
            </a:r>
            <a:r>
              <a:rPr lang="fr-FR" sz="1000" b="1" dirty="0"/>
              <a:t>la qualité de sélection et de l’efficacité réelle des tentatives</a:t>
            </a:r>
            <a:r>
              <a:rPr lang="fr-FR" sz="1000" dirty="0"/>
              <a:t>.</a:t>
            </a:r>
          </a:p>
          <a:p>
            <a:r>
              <a:rPr lang="fr-FR" sz="1000" b="1" dirty="0"/>
              <a:t>=&gt;</a:t>
            </a:r>
            <a:r>
              <a:rPr lang="fr-FR" sz="1000" dirty="0"/>
              <a:t> Entraînement orienté sur la prise de tirs à forte valeur : Tirs 3pts et Lancers francs permettant d’améliorer durablement la productivité collective.</a:t>
            </a:r>
            <a:br>
              <a:rPr lang="fr-FR" sz="1000" dirty="0"/>
            </a:br>
            <a:endParaRPr lang="fr-FR" sz="1000" dirty="0"/>
          </a:p>
          <a:p>
            <a:endParaRPr lang="fr-FR" sz="1000" dirty="0"/>
          </a:p>
        </p:txBody>
      </p:sp>
      <p:pic>
        <p:nvPicPr>
          <p:cNvPr id="5" name="Image 4">
            <a:extLst>
              <a:ext uri="{FF2B5EF4-FFF2-40B4-BE49-F238E27FC236}">
                <a16:creationId xmlns:a16="http://schemas.microsoft.com/office/drawing/2014/main" id="{449C9CE8-D230-4468-4517-B6736C551DEF}"/>
              </a:ext>
            </a:extLst>
          </p:cNvPr>
          <p:cNvPicPr>
            <a:picLocks noChangeAspect="1"/>
          </p:cNvPicPr>
          <p:nvPr/>
        </p:nvPicPr>
        <p:blipFill>
          <a:blip r:embed="rId2"/>
          <a:stretch>
            <a:fillRect/>
          </a:stretch>
        </p:blipFill>
        <p:spPr>
          <a:xfrm>
            <a:off x="322216" y="1280160"/>
            <a:ext cx="8316687" cy="2680865"/>
          </a:xfrm>
          <a:prstGeom prst="rect">
            <a:avLst/>
          </a:prstGeom>
        </p:spPr>
      </p:pic>
    </p:spTree>
    <p:extLst>
      <p:ext uri="{BB962C8B-B14F-4D97-AF65-F5344CB8AC3E}">
        <p14:creationId xmlns:p14="http://schemas.microsoft.com/office/powerpoint/2010/main" val="2600896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Création et maîtrise du jeu</a:t>
            </a:r>
            <a:endParaRPr dirty="0"/>
          </a:p>
        </p:txBody>
      </p:sp>
      <p:sp>
        <p:nvSpPr>
          <p:cNvPr id="2" name="Espace réservé du numéro de diapositive 1">
            <a:extLst>
              <a:ext uri="{FF2B5EF4-FFF2-40B4-BE49-F238E27FC236}">
                <a16:creationId xmlns:a16="http://schemas.microsoft.com/office/drawing/2014/main" id="{F1E0CD8C-251E-E9A9-C074-48A000DA5D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pic>
        <p:nvPicPr>
          <p:cNvPr id="6" name="Image 5" descr="Ratio Passes sur ballons perdus et Nombre de passes par minute de jeu pour le Top 15 des joueurs">
            <a:extLst>
              <a:ext uri="{FF2B5EF4-FFF2-40B4-BE49-F238E27FC236}">
                <a16:creationId xmlns:a16="http://schemas.microsoft.com/office/drawing/2014/main" id="{3458E321-7220-75CA-B4BB-78D9F224AE01}"/>
              </a:ext>
            </a:extLst>
          </p:cNvPr>
          <p:cNvPicPr>
            <a:picLocks noChangeAspect="1"/>
          </p:cNvPicPr>
          <p:nvPr/>
        </p:nvPicPr>
        <p:blipFill>
          <a:blip r:embed="rId3"/>
          <a:stretch>
            <a:fillRect/>
          </a:stretch>
        </p:blipFill>
        <p:spPr>
          <a:xfrm>
            <a:off x="65979" y="1135380"/>
            <a:ext cx="8826561" cy="3009900"/>
          </a:xfrm>
          <a:prstGeom prst="rect">
            <a:avLst/>
          </a:prstGeom>
        </p:spPr>
      </p:pic>
      <p:sp>
        <p:nvSpPr>
          <p:cNvPr id="7" name="ZoneTexte 6">
            <a:extLst>
              <a:ext uri="{FF2B5EF4-FFF2-40B4-BE49-F238E27FC236}">
                <a16:creationId xmlns:a16="http://schemas.microsoft.com/office/drawing/2014/main" id="{C6E63752-24A0-4BC8-BF0C-5ABCDD7300AB}"/>
              </a:ext>
            </a:extLst>
          </p:cNvPr>
          <p:cNvSpPr txBox="1"/>
          <p:nvPr/>
        </p:nvSpPr>
        <p:spPr>
          <a:xfrm>
            <a:off x="312420" y="4236720"/>
            <a:ext cx="8488680" cy="707886"/>
          </a:xfrm>
          <a:prstGeom prst="rect">
            <a:avLst/>
          </a:prstGeom>
          <a:noFill/>
        </p:spPr>
        <p:txBody>
          <a:bodyPr wrap="square" rtlCol="0">
            <a:spAutoFit/>
          </a:bodyPr>
          <a:lstStyle/>
          <a:p>
            <a:pPr marL="171450" indent="-171450">
              <a:buFont typeface="Arial" panose="020B0604020202020204" pitchFamily="34" charset="0"/>
              <a:buChar char="•"/>
            </a:pPr>
            <a:r>
              <a:rPr lang="fr-FR" sz="1000" dirty="0"/>
              <a:t>Meneurs </a:t>
            </a:r>
            <a:r>
              <a:rPr lang="fr-FR" sz="1000" dirty="0" err="1"/>
              <a:t>ultra-sûrs</a:t>
            </a:r>
            <a:r>
              <a:rPr lang="fr-FR" sz="1000" dirty="0"/>
              <a:t> comme </a:t>
            </a:r>
            <a:r>
              <a:rPr lang="fr-FR" sz="1000" i="1" dirty="0"/>
              <a:t>Mason Jones</a:t>
            </a:r>
            <a:r>
              <a:rPr lang="fr-FR" sz="1000" dirty="0"/>
              <a:t> ou </a:t>
            </a:r>
            <a:r>
              <a:rPr lang="fr-FR" sz="1000" i="1" dirty="0"/>
              <a:t>Chris Paul</a:t>
            </a:r>
            <a:r>
              <a:rPr lang="fr-FR" sz="1000" dirty="0"/>
              <a:t>, combinant volume élevé et excellente maîtrise (AST/TOV &gt; 5), et d’autres plus risqués mais créatifs comme </a:t>
            </a:r>
            <a:r>
              <a:rPr lang="fr-FR" sz="1000" i="1" dirty="0" err="1"/>
              <a:t>Tyrese</a:t>
            </a:r>
            <a:r>
              <a:rPr lang="fr-FR" sz="1000" i="1" dirty="0"/>
              <a:t> Haliburton</a:t>
            </a:r>
            <a:r>
              <a:rPr lang="fr-FR" sz="1000" dirty="0"/>
              <a:t>.</a:t>
            </a:r>
          </a:p>
          <a:p>
            <a:pPr marL="171450" indent="-171450">
              <a:buFont typeface="Arial" panose="020B0604020202020204" pitchFamily="34" charset="0"/>
              <a:buChar char="•"/>
            </a:pPr>
            <a:r>
              <a:rPr lang="fr-FR" sz="1000" b="1" dirty="0"/>
              <a:t>Enseignement pour Les Pionniers :</a:t>
            </a:r>
            <a:r>
              <a:rPr lang="fr-FR" sz="1000" dirty="0"/>
              <a:t> la création efficace repose autant sur la vision du jeu que sur la capacité à limiter les pertes de balle. =&gt; Entraînement à la prise de décision rapide et à la gestion du rythme pour renforcer la fluidité offensive.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Rebond et défense</a:t>
            </a:r>
            <a:endParaRPr dirty="0"/>
          </a:p>
        </p:txBody>
      </p:sp>
      <p:sp>
        <p:nvSpPr>
          <p:cNvPr id="2" name="Espace réservé du numéro de diapositive 1">
            <a:extLst>
              <a:ext uri="{FF2B5EF4-FFF2-40B4-BE49-F238E27FC236}">
                <a16:creationId xmlns:a16="http://schemas.microsoft.com/office/drawing/2014/main" id="{C812C397-7EFC-BFFF-E169-2F8FCA0EEC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pic>
        <p:nvPicPr>
          <p:cNvPr id="6" name="Image 5" descr="Def Impact SCore, indicateur combiné Rebond_Interception_Contres">
            <a:extLst>
              <a:ext uri="{FF2B5EF4-FFF2-40B4-BE49-F238E27FC236}">
                <a16:creationId xmlns:a16="http://schemas.microsoft.com/office/drawing/2014/main" id="{5EF6EB5A-7EF6-2877-278E-C6EAE7F0E67B}"/>
              </a:ext>
            </a:extLst>
          </p:cNvPr>
          <p:cNvPicPr>
            <a:picLocks noChangeAspect="1"/>
          </p:cNvPicPr>
          <p:nvPr/>
        </p:nvPicPr>
        <p:blipFill>
          <a:blip r:embed="rId3"/>
          <a:stretch>
            <a:fillRect/>
          </a:stretch>
        </p:blipFill>
        <p:spPr>
          <a:xfrm>
            <a:off x="304204" y="1160176"/>
            <a:ext cx="8535591" cy="2689013"/>
          </a:xfrm>
          <a:prstGeom prst="rect">
            <a:avLst/>
          </a:prstGeom>
        </p:spPr>
      </p:pic>
      <p:sp>
        <p:nvSpPr>
          <p:cNvPr id="7" name="ZoneTexte 6">
            <a:extLst>
              <a:ext uri="{FF2B5EF4-FFF2-40B4-BE49-F238E27FC236}">
                <a16:creationId xmlns:a16="http://schemas.microsoft.com/office/drawing/2014/main" id="{AC1AFC25-6640-93EB-A501-AC725719E30B}"/>
              </a:ext>
            </a:extLst>
          </p:cNvPr>
          <p:cNvSpPr txBox="1"/>
          <p:nvPr/>
        </p:nvSpPr>
        <p:spPr>
          <a:xfrm>
            <a:off x="435429" y="4005943"/>
            <a:ext cx="8404366" cy="938719"/>
          </a:xfrm>
          <a:prstGeom prst="rect">
            <a:avLst/>
          </a:prstGeom>
          <a:noFill/>
        </p:spPr>
        <p:txBody>
          <a:bodyPr wrap="square" rtlCol="0">
            <a:spAutoFit/>
          </a:bodyPr>
          <a:lstStyle/>
          <a:p>
            <a:pPr marL="171450" indent="-171450">
              <a:buFont typeface="Arial" panose="020B0604020202020204" pitchFamily="34" charset="0"/>
              <a:buChar char="•"/>
            </a:pPr>
            <a:r>
              <a:rPr lang="fr-FR" sz="1100" b="1" dirty="0" err="1"/>
              <a:t>Def</a:t>
            </a:r>
            <a:r>
              <a:rPr lang="fr-FR" sz="1100" b="1" dirty="0"/>
              <a:t> Impact Score</a:t>
            </a:r>
            <a:r>
              <a:rPr lang="fr-FR" sz="1100" dirty="0"/>
              <a:t> = indicateur combinant </a:t>
            </a:r>
            <a:r>
              <a:rPr lang="fr-FR" sz="1100" b="1" dirty="0"/>
              <a:t>rebonds </a:t>
            </a:r>
            <a:r>
              <a:rPr lang="fr-FR" sz="1100" dirty="0"/>
              <a:t>(REB), </a:t>
            </a:r>
            <a:r>
              <a:rPr lang="fr-FR" sz="1100" b="1" dirty="0"/>
              <a:t>contres</a:t>
            </a:r>
            <a:r>
              <a:rPr lang="fr-FR" sz="1100" dirty="0"/>
              <a:t> (BLK) et </a:t>
            </a:r>
            <a:r>
              <a:rPr lang="fr-FR" sz="1100" b="1" dirty="0"/>
              <a:t>interceptions</a:t>
            </a:r>
            <a:r>
              <a:rPr lang="fr-FR" sz="1100" dirty="0"/>
              <a:t> (STL) par minute.</a:t>
            </a:r>
          </a:p>
          <a:p>
            <a:pPr marL="171450" indent="-171450">
              <a:buFont typeface="Arial" panose="020B0604020202020204" pitchFamily="34" charset="0"/>
              <a:buChar char="•"/>
            </a:pPr>
            <a:r>
              <a:rPr lang="fr-FR" sz="1100" dirty="0"/>
              <a:t>Mesure la </a:t>
            </a:r>
            <a:r>
              <a:rPr lang="fr-FR" sz="1100" b="1" dirty="0"/>
              <a:t>présence défensive réelle</a:t>
            </a:r>
            <a:r>
              <a:rPr lang="fr-FR" sz="1100" dirty="0"/>
              <a:t> au-delà des simples statistiques brutes.</a:t>
            </a:r>
          </a:p>
          <a:p>
            <a:pPr marL="171450" indent="-171450">
              <a:buFont typeface="Arial" panose="020B0604020202020204" pitchFamily="34" charset="0"/>
              <a:buChar char="•"/>
            </a:pPr>
            <a:r>
              <a:rPr lang="fr-FR" sz="1100" i="1" dirty="0"/>
              <a:t>Kessler</a:t>
            </a:r>
            <a:r>
              <a:rPr lang="fr-FR" sz="1100" dirty="0"/>
              <a:t> et </a:t>
            </a:r>
            <a:r>
              <a:rPr lang="fr-FR" sz="1100" i="1" dirty="0" err="1"/>
              <a:t>Clingan</a:t>
            </a:r>
            <a:r>
              <a:rPr lang="fr-FR" sz="1100" dirty="0"/>
              <a:t> dominent par leur activité dans la raquette (zone peinte sous le panier). Les joueurs dominants défensivement contrôlent la raquette et protègent le cercle, limitant les tirs faciles adverses et favorisant les relances rapides.</a:t>
            </a:r>
          </a:p>
          <a:p>
            <a:pPr marL="171450" indent="-171450">
              <a:buFont typeface="Arial" panose="020B0604020202020204" pitchFamily="34" charset="0"/>
              <a:buChar char="•"/>
            </a:pPr>
            <a:r>
              <a:rPr lang="fr-FR" sz="1100" dirty="0"/>
              <a:t>Pour </a:t>
            </a:r>
            <a:r>
              <a:rPr lang="fr-FR" sz="1100" b="1" dirty="0"/>
              <a:t>Les Pionniers</a:t>
            </a:r>
            <a:r>
              <a:rPr lang="fr-FR" sz="1100" dirty="0"/>
              <a:t> : outil utile pour repérer les profils capables de </a:t>
            </a:r>
            <a:r>
              <a:rPr lang="fr-FR" sz="1100" b="1" dirty="0"/>
              <a:t>protéger le cercle (panier)</a:t>
            </a:r>
            <a:r>
              <a:rPr lang="fr-FR" sz="1100" dirty="0"/>
              <a:t> et </a:t>
            </a:r>
            <a:r>
              <a:rPr lang="fr-FR" sz="1100" b="1" dirty="0"/>
              <a:t>initier les transitions rapides</a:t>
            </a:r>
            <a:r>
              <a:rPr lang="fr-FR" sz="11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CC4111F-A5E1-33B6-6CD4-D71F3632EC4B}"/>
              </a:ext>
            </a:extLst>
          </p:cNvPr>
          <p:cNvSpPr>
            <a:spLocks noGrp="1"/>
          </p:cNvSpPr>
          <p:nvPr>
            <p:ph type="title" idx="4294967295"/>
          </p:nvPr>
        </p:nvSpPr>
        <p:spPr>
          <a:xfrm>
            <a:off x="8450263" y="4737100"/>
            <a:ext cx="549275" cy="393700"/>
          </a:xfrm>
          <a:prstGeom prst="rect">
            <a:avLst/>
          </a:prstGeom>
          <a:noFill/>
          <a:ln>
            <a:noFill/>
            <a:prstDash/>
          </a:ln>
          <a:effectLst/>
        </p:spPr>
        <p:txBody>
          <a:bodyPr rot="0" spcFirstLastPara="1" vertOverflow="overflow" horzOverflow="overflow" vert="horz" wrap="square" lIns="91425" tIns="91425" rIns="91425" bIns="91425" numCol="1" spcCol="0" rtlCol="0" fromWordArt="0" anchor="ctr" anchorCtr="0" forceAA="0" compatLnSpc="1">
            <a:prstTxWarp prst="textNoShape">
              <a:avLst/>
            </a:prstTxWarp>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900" b="0" i="0" u="none" strike="noStrike" kern="0" cap="none" spc="0" normalizeH="0" baseline="0" noProof="0" smtClean="0">
                <a:ln>
                  <a:noFill/>
                </a:ln>
                <a:solidFill>
                  <a:schemeClr val="dk2"/>
                </a:solidFill>
                <a:effectLst/>
                <a:uLnTx/>
                <a:uFillTx/>
                <a:latin typeface="Nunito"/>
                <a:ea typeface="Nunito"/>
                <a:cs typeface="Nunito"/>
                <a:sym typeface="Nuni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lang="fr-FR" sz="900" b="0" i="0" u="none" strike="noStrike" kern="0" cap="none" spc="0" normalizeH="0" baseline="0" noProof="0" dirty="0">
              <a:ln>
                <a:noFill/>
              </a:ln>
              <a:solidFill>
                <a:schemeClr val="dk2"/>
              </a:solidFill>
              <a:effectLst/>
              <a:uLnTx/>
              <a:uFillTx/>
              <a:latin typeface="Nunito"/>
              <a:ea typeface="Nunito"/>
              <a:cs typeface="Nunito"/>
              <a:sym typeface="Nunito"/>
            </a:endParaRPr>
          </a:p>
        </p:txBody>
      </p:sp>
      <p:pic>
        <p:nvPicPr>
          <p:cNvPr id="6" name="Image 5" descr="Schéma de synthèse sur les 3 profils types de joueurs">
            <a:extLst>
              <a:ext uri="{FF2B5EF4-FFF2-40B4-BE49-F238E27FC236}">
                <a16:creationId xmlns:a16="http://schemas.microsoft.com/office/drawing/2014/main" id="{769037DA-1147-DF80-D557-68F229F4613E}"/>
              </a:ext>
            </a:extLst>
          </p:cNvPr>
          <p:cNvPicPr>
            <a:picLocks noChangeAspect="1"/>
          </p:cNvPicPr>
          <p:nvPr/>
        </p:nvPicPr>
        <p:blipFill>
          <a:blip r:embed="rId2"/>
          <a:stretch>
            <a:fillRect/>
          </a:stretch>
        </p:blipFill>
        <p:spPr>
          <a:xfrm>
            <a:off x="1503900" y="695637"/>
            <a:ext cx="7030499" cy="3334215"/>
          </a:xfrm>
          <a:prstGeom prst="rect">
            <a:avLst/>
          </a:prstGeom>
        </p:spPr>
      </p:pic>
      <p:sp>
        <p:nvSpPr>
          <p:cNvPr id="2" name="Espace réservé du numéro de diapositive 1">
            <a:extLst>
              <a:ext uri="{FF2B5EF4-FFF2-40B4-BE49-F238E27FC236}">
                <a16:creationId xmlns:a16="http://schemas.microsoft.com/office/drawing/2014/main" id="{4D2B5864-B649-9046-8E0B-CFC064F6E5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spTree>
    <p:extLst>
      <p:ext uri="{BB962C8B-B14F-4D97-AF65-F5344CB8AC3E}">
        <p14:creationId xmlns:p14="http://schemas.microsoft.com/office/powerpoint/2010/main" val="4039397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D9952A-6A1F-1D97-BFDC-5AE54442AA3E}"/>
              </a:ext>
            </a:extLst>
          </p:cNvPr>
          <p:cNvSpPr>
            <a:spLocks noGrp="1"/>
          </p:cNvSpPr>
          <p:nvPr>
            <p:ph type="title"/>
          </p:nvPr>
        </p:nvSpPr>
        <p:spPr/>
        <p:txBody>
          <a:bodyPr/>
          <a:lstStyle/>
          <a:p>
            <a:r>
              <a:rPr lang="fr-FR" dirty="0"/>
              <a:t>Recommandations concrètes</a:t>
            </a:r>
          </a:p>
        </p:txBody>
      </p:sp>
      <p:sp>
        <p:nvSpPr>
          <p:cNvPr id="3" name="Espace réservé du texte 2">
            <a:extLst>
              <a:ext uri="{FF2B5EF4-FFF2-40B4-BE49-F238E27FC236}">
                <a16:creationId xmlns:a16="http://schemas.microsoft.com/office/drawing/2014/main" id="{52DFF9FE-ED48-A76D-4762-481424CCEBFD}"/>
              </a:ext>
            </a:extLst>
          </p:cNvPr>
          <p:cNvSpPr>
            <a:spLocks noGrp="1"/>
          </p:cNvSpPr>
          <p:nvPr>
            <p:ph type="body" idx="1"/>
          </p:nvPr>
        </p:nvSpPr>
        <p:spPr>
          <a:xfrm>
            <a:off x="653143" y="1597875"/>
            <a:ext cx="8081554" cy="2541600"/>
          </a:xfrm>
        </p:spPr>
        <p:txBody>
          <a:bodyPr>
            <a:normAutofit/>
          </a:bodyPr>
          <a:lstStyle/>
          <a:p>
            <a:r>
              <a:rPr lang="fr-FR" sz="1400" b="1" dirty="0"/>
              <a:t>Entraînement ciblé</a:t>
            </a:r>
            <a:r>
              <a:rPr lang="fr-FR" sz="1400" dirty="0"/>
              <a:t> :</a:t>
            </a:r>
          </a:p>
          <a:p>
            <a:pPr marL="146050" indent="0">
              <a:buNone/>
            </a:pPr>
            <a:endParaRPr lang="fr-FR" sz="1400" dirty="0"/>
          </a:p>
          <a:p>
            <a:pPr lvl="1"/>
            <a:r>
              <a:rPr lang="fr-FR" sz="1400" dirty="0"/>
              <a:t>Sélection et qualité du tir.</a:t>
            </a:r>
          </a:p>
          <a:p>
            <a:pPr lvl="1"/>
            <a:r>
              <a:rPr lang="fr-FR" sz="1400" dirty="0"/>
              <a:t>Gestion du rythme et des pertes de balle.</a:t>
            </a:r>
          </a:p>
          <a:p>
            <a:pPr lvl="1"/>
            <a:r>
              <a:rPr lang="fr-FR" sz="1400" dirty="0"/>
              <a:t>Positionnement au rebond et défense de zone.</a:t>
            </a:r>
          </a:p>
          <a:p>
            <a:pPr lvl="1"/>
            <a:endParaRPr lang="fr-FR" sz="1400" dirty="0"/>
          </a:p>
          <a:p>
            <a:r>
              <a:rPr lang="fr-FR" sz="1400" b="1" dirty="0"/>
              <a:t>Suivi analytique interne</a:t>
            </a:r>
            <a:r>
              <a:rPr lang="fr-FR" sz="1400" dirty="0"/>
              <a:t> : reproduire ces indicateurs sur les joueurs du club.</a:t>
            </a:r>
            <a:br>
              <a:rPr lang="fr-FR" sz="1400" dirty="0"/>
            </a:br>
            <a:endParaRPr lang="fr-FR" sz="1400" dirty="0"/>
          </a:p>
          <a:p>
            <a:pPr marL="146050" indent="0">
              <a:buNone/>
            </a:pPr>
            <a:r>
              <a:rPr lang="fr-FR" sz="1400" dirty="0"/>
              <a:t>	🎙️ </a:t>
            </a:r>
            <a:r>
              <a:rPr lang="fr-FR" sz="1400" i="1" dirty="0"/>
              <a:t>“Le but est d’introduire une culture de la donnée pour piloter la performance.”</a:t>
            </a:r>
            <a:endParaRPr lang="fr-FR" sz="1400" dirty="0"/>
          </a:p>
          <a:p>
            <a:endParaRPr lang="fr-FR" sz="1400" dirty="0"/>
          </a:p>
        </p:txBody>
      </p:sp>
      <p:sp>
        <p:nvSpPr>
          <p:cNvPr id="4" name="Espace réservé du numéro de diapositive 3">
            <a:extLst>
              <a:ext uri="{FF2B5EF4-FFF2-40B4-BE49-F238E27FC236}">
                <a16:creationId xmlns:a16="http://schemas.microsoft.com/office/drawing/2014/main" id="{03A0B3AA-5C9B-51C8-6B63-F29711190A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a:p>
        </p:txBody>
      </p:sp>
    </p:spTree>
    <p:extLst>
      <p:ext uri="{BB962C8B-B14F-4D97-AF65-F5344CB8AC3E}">
        <p14:creationId xmlns:p14="http://schemas.microsoft.com/office/powerpoint/2010/main" val="192978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BA9127-AFA0-BCA0-7402-9E56D2E0B70B}"/>
              </a:ext>
            </a:extLst>
          </p:cNvPr>
          <p:cNvSpPr>
            <a:spLocks noGrp="1"/>
          </p:cNvSpPr>
          <p:nvPr>
            <p:ph type="title"/>
          </p:nvPr>
        </p:nvSpPr>
        <p:spPr/>
        <p:txBody>
          <a:bodyPr/>
          <a:lstStyle/>
          <a:p>
            <a:r>
              <a:rPr lang="fr-FR" dirty="0"/>
              <a:t>Conclusions</a:t>
            </a:r>
          </a:p>
        </p:txBody>
      </p:sp>
      <p:sp>
        <p:nvSpPr>
          <p:cNvPr id="4" name="Espace réservé du numéro de diapositive 3">
            <a:extLst>
              <a:ext uri="{FF2B5EF4-FFF2-40B4-BE49-F238E27FC236}">
                <a16:creationId xmlns:a16="http://schemas.microsoft.com/office/drawing/2014/main" id="{98F25B52-8867-8985-6280-3D2278B597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sp>
        <p:nvSpPr>
          <p:cNvPr id="5" name="Rectangle 1">
            <a:extLst>
              <a:ext uri="{FF2B5EF4-FFF2-40B4-BE49-F238E27FC236}">
                <a16:creationId xmlns:a16="http://schemas.microsoft.com/office/drawing/2014/main" id="{A5EFF55D-AAED-FF9D-2573-1FDEF4B9B014}"/>
              </a:ext>
            </a:extLst>
          </p:cNvPr>
          <p:cNvSpPr>
            <a:spLocks noGrp="1" noChangeArrowheads="1"/>
          </p:cNvSpPr>
          <p:nvPr>
            <p:ph type="body" idx="1"/>
          </p:nvPr>
        </p:nvSpPr>
        <p:spPr bwMode="auto">
          <a:xfrm>
            <a:off x="536865" y="1898873"/>
            <a:ext cx="826750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kumimoji="0" lang="fr-FR" altLang="fr-FR" sz="1600" b="1" i="0" u="sng" strike="noStrike" cap="none" normalizeH="0" baseline="0" dirty="0">
                <a:ln>
                  <a:noFill/>
                </a:ln>
                <a:solidFill>
                  <a:schemeClr val="bg2"/>
                </a:solidFill>
                <a:effectLst/>
                <a:latin typeface="Arial" panose="020B0604020202020204" pitchFamily="34" charset="0"/>
              </a:rPr>
              <a:t>Trois messages clés </a:t>
            </a:r>
            <a:r>
              <a:rPr kumimoji="0" lang="fr-FR" altLang="fr-FR" sz="16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lang="fr-FR" altLang="fr-FR" sz="1600" dirty="0">
              <a:solidFill>
                <a:schemeClr val="bg2"/>
              </a:solidFill>
              <a:latin typeface="Arial" panose="020B0604020202020204" pitchFamily="34" charset="0"/>
            </a:endParaRPr>
          </a:p>
          <a:p>
            <a:pPr marL="800100" lvl="1" indent="-342900" eaLnBrk="0" fontAlgn="base" hangingPunct="0">
              <a:lnSpc>
                <a:spcPct val="100000"/>
              </a:lnSpc>
              <a:spcBef>
                <a:spcPct val="0"/>
              </a:spcBef>
              <a:spcAft>
                <a:spcPct val="0"/>
              </a:spcAft>
              <a:buClrTx/>
              <a:buSzTx/>
              <a:buFont typeface="+mj-lt"/>
              <a:buAutoNum type="arabicPeriod"/>
            </a:pPr>
            <a:r>
              <a:rPr kumimoji="0" lang="fr-FR" altLang="fr-FR" sz="1600" b="1" i="0" u="none" strike="noStrike" cap="none" normalizeH="0" baseline="0" dirty="0">
                <a:ln>
                  <a:noFill/>
                </a:ln>
                <a:solidFill>
                  <a:schemeClr val="bg2"/>
                </a:solidFill>
                <a:effectLst/>
                <a:latin typeface="Arial" panose="020B0604020202020204" pitchFamily="34" charset="0"/>
              </a:rPr>
              <a:t>Efficacité offensive</a:t>
            </a:r>
            <a:r>
              <a:rPr kumimoji="0" lang="fr-FR" altLang="fr-FR" sz="1600" b="0" i="0" u="none" strike="noStrike" cap="none" normalizeH="0" baseline="0" dirty="0">
                <a:ln>
                  <a:noFill/>
                </a:ln>
                <a:solidFill>
                  <a:schemeClr val="bg2"/>
                </a:solidFill>
                <a:effectLst/>
                <a:latin typeface="Arial" panose="020B0604020202020204" pitchFamily="34" charset="0"/>
              </a:rPr>
              <a:t> : la sélection de tir fait la différence.</a:t>
            </a:r>
          </a:p>
          <a:p>
            <a:pPr marL="800100" lvl="1" indent="-342900" eaLnBrk="0" fontAlgn="base" hangingPunct="0">
              <a:lnSpc>
                <a:spcPct val="100000"/>
              </a:lnSpc>
              <a:spcBef>
                <a:spcPct val="0"/>
              </a:spcBef>
              <a:spcAft>
                <a:spcPct val="0"/>
              </a:spcAft>
              <a:buClrTx/>
              <a:buSzTx/>
              <a:buFont typeface="+mj-lt"/>
              <a:buAutoNum type="arabicPeriod"/>
            </a:pPr>
            <a:r>
              <a:rPr kumimoji="0" lang="fr-FR" altLang="fr-FR" sz="1600" b="1" i="0" u="none" strike="noStrike" cap="none" normalizeH="0" baseline="0" dirty="0">
                <a:ln>
                  <a:noFill/>
                </a:ln>
                <a:solidFill>
                  <a:schemeClr val="bg2"/>
                </a:solidFill>
                <a:effectLst/>
                <a:latin typeface="Arial" panose="020B0604020202020204" pitchFamily="34" charset="0"/>
              </a:rPr>
              <a:t>Maîtrise du jeu</a:t>
            </a:r>
            <a:r>
              <a:rPr kumimoji="0" lang="fr-FR" altLang="fr-FR" sz="1600" b="0" i="0" u="none" strike="noStrike" cap="none" normalizeH="0" baseline="0" dirty="0">
                <a:ln>
                  <a:noFill/>
                </a:ln>
                <a:solidFill>
                  <a:schemeClr val="bg2"/>
                </a:solidFill>
                <a:effectLst/>
                <a:latin typeface="Arial" panose="020B0604020202020204" pitchFamily="34" charset="0"/>
              </a:rPr>
              <a:t> : la créativité disciplinée prime sur le volume.</a:t>
            </a:r>
          </a:p>
          <a:p>
            <a:pPr marL="800100" lvl="1" indent="-342900" eaLnBrk="0" fontAlgn="base" hangingPunct="0">
              <a:lnSpc>
                <a:spcPct val="100000"/>
              </a:lnSpc>
              <a:spcBef>
                <a:spcPct val="0"/>
              </a:spcBef>
              <a:spcAft>
                <a:spcPct val="0"/>
              </a:spcAft>
              <a:buClrTx/>
              <a:buSzTx/>
              <a:buFont typeface="+mj-lt"/>
              <a:buAutoNum type="arabicPeriod"/>
            </a:pPr>
            <a:r>
              <a:rPr kumimoji="0" lang="fr-FR" altLang="fr-FR" sz="1600" b="1" i="0" u="none" strike="noStrike" cap="none" normalizeH="0" baseline="0" dirty="0">
                <a:ln>
                  <a:noFill/>
                </a:ln>
                <a:solidFill>
                  <a:schemeClr val="bg2"/>
                </a:solidFill>
                <a:effectLst/>
                <a:latin typeface="Arial" panose="020B0604020202020204" pitchFamily="34" charset="0"/>
              </a:rPr>
              <a:t>Engagement défensif</a:t>
            </a:r>
            <a:r>
              <a:rPr kumimoji="0" lang="fr-FR" altLang="fr-FR" sz="1600" b="0" i="0" u="none" strike="noStrike" cap="none" normalizeH="0" baseline="0" dirty="0">
                <a:ln>
                  <a:noFill/>
                </a:ln>
                <a:solidFill>
                  <a:schemeClr val="bg2"/>
                </a:solidFill>
                <a:effectLst/>
                <a:latin typeface="Arial" panose="020B0604020202020204" pitchFamily="34" charset="0"/>
              </a:rPr>
              <a:t> : la récupération de ballons est un levier décisif.</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600" b="0" i="0" u="none" strike="noStrike" cap="none" normalizeH="0" baseline="0" dirty="0">
              <a:ln>
                <a:noFill/>
              </a:ln>
              <a:solidFill>
                <a:schemeClr val="bg2"/>
              </a:solidFill>
              <a:effectLst/>
              <a:latin typeface="Arial" panose="020B0604020202020204" pitchFamily="34" charset="0"/>
            </a:endParaRPr>
          </a:p>
          <a:p>
            <a:pPr marL="285750" indent="-285750" eaLnBrk="0" fontAlgn="base" hangingPunct="0">
              <a:lnSpc>
                <a:spcPct val="100000"/>
              </a:lnSpc>
              <a:spcBef>
                <a:spcPct val="0"/>
              </a:spcBef>
              <a:spcAft>
                <a:spcPct val="0"/>
              </a:spcAft>
              <a:buClrTx/>
              <a:buSzTx/>
            </a:pPr>
            <a:r>
              <a:rPr kumimoji="0" lang="fr-FR" altLang="fr-FR" sz="1600" b="1" i="0" u="sng" strike="noStrike" cap="none" normalizeH="0" baseline="0" dirty="0">
                <a:ln>
                  <a:noFill/>
                </a:ln>
                <a:solidFill>
                  <a:schemeClr val="bg2"/>
                </a:solidFill>
                <a:effectLst/>
                <a:latin typeface="Arial" panose="020B0604020202020204" pitchFamily="34" charset="0"/>
              </a:rPr>
              <a:t>Citation</a:t>
            </a:r>
            <a:r>
              <a:rPr kumimoji="0" lang="fr-FR" altLang="fr-FR" sz="1600" b="0" i="0" u="none" strike="noStrike" cap="none" normalizeH="0" baseline="0" dirty="0">
                <a:ln>
                  <a:noFill/>
                </a:ln>
                <a:solidFill>
                  <a:schemeClr val="bg2"/>
                </a:solidFill>
                <a:effectLst/>
                <a:latin typeface="Arial" panose="020B0604020202020204" pitchFamily="34" charset="0"/>
              </a:rPr>
              <a:t> : </a:t>
            </a:r>
            <a:r>
              <a:rPr kumimoji="0" lang="fr-FR" altLang="fr-FR" sz="1600" b="0" i="1" u="none" strike="noStrike" cap="none" normalizeH="0" baseline="0" dirty="0">
                <a:ln>
                  <a:noFill/>
                </a:ln>
                <a:solidFill>
                  <a:schemeClr val="bg2"/>
                </a:solidFill>
                <a:effectLst/>
                <a:latin typeface="Arial" panose="020B0604020202020204" pitchFamily="34" charset="0"/>
              </a:rPr>
              <a:t>“Les statistiques ne gagnent pas les matchs, mais elles montrent la voie pour les gagner.”</a:t>
            </a:r>
            <a:endParaRPr kumimoji="0" lang="fr-FR" altLang="fr-FR" sz="1600" b="0" i="0" u="none" strike="noStrike" cap="none" normalizeH="0" baseline="0" dirty="0">
              <a:ln>
                <a:noFill/>
              </a:ln>
              <a:solidFill>
                <a:schemeClr val="bg2"/>
              </a:solidFill>
              <a:effectLst/>
              <a:latin typeface="Arial" panose="020B0604020202020204" pitchFamily="34" charset="0"/>
            </a:endParaRPr>
          </a:p>
        </p:txBody>
      </p:sp>
    </p:spTree>
    <p:extLst>
      <p:ext uri="{BB962C8B-B14F-4D97-AF65-F5344CB8AC3E}">
        <p14:creationId xmlns:p14="http://schemas.microsoft.com/office/powerpoint/2010/main" val="655626595"/>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1191</Words>
  <Application>Microsoft Office PowerPoint</Application>
  <PresentationFormat>Affichage à l'écran (16:9)</PresentationFormat>
  <Paragraphs>132</Paragraphs>
  <Slides>16</Slides>
  <Notes>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Maven Pro</vt:lpstr>
      <vt:lpstr>Nunito</vt:lpstr>
      <vt:lpstr>Wingdings</vt:lpstr>
      <vt:lpstr>Arial</vt:lpstr>
      <vt:lpstr>Momentum</vt:lpstr>
      <vt:lpstr>Analyse de la saison NBA 2024-25  Enseignements pour Les Pionniers</vt:lpstr>
      <vt:lpstr>Objectif du projet</vt:lpstr>
      <vt:lpstr>Source &amp; préparation des données</vt:lpstr>
      <vt:lpstr>Données les plus importantes dans le fichier NBA</vt:lpstr>
      <vt:lpstr>5</vt:lpstr>
      <vt:lpstr>Méthodologie d’analyse</vt:lpstr>
      <vt:lpstr>Vue d’ensemble du jeu de données NBA 2024/205 </vt:lpstr>
      <vt:lpstr>Zoom sur les outliers du Scoring</vt:lpstr>
      <vt:lpstr>Production et profil de tir (équipes)</vt:lpstr>
      <vt:lpstr>Production et profil de tir (équipes) _ % de réussite</vt:lpstr>
      <vt:lpstr>Scoring &amp; efficacité (joueurs)</vt:lpstr>
      <vt:lpstr>Création et maîtrise du jeu</vt:lpstr>
      <vt:lpstr>Rebond et défense</vt:lpstr>
      <vt:lpstr>14</vt:lpstr>
      <vt:lpstr>Recommandations concrètes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Henrique Da Costa</dc:creator>
  <cp:lastModifiedBy>Henrique Da Costa</cp:lastModifiedBy>
  <cp:revision>9</cp:revision>
  <dcterms:modified xsi:type="dcterms:W3CDTF">2025-10-24T11:50:09Z</dcterms:modified>
</cp:coreProperties>
</file>