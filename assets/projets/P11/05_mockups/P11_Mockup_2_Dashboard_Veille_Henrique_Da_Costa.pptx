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1013"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z="900" b="1"/>
            </a:lvl1pPr>
          </a:lstStyle>
          <a:p>
            <a:fld id="{5BCAD085-E8A6-8845-BD4E-CB4CCA059FC4}" type="datetimeFigureOut">
              <a:rPr lang="en-US" smtClean="0"/>
              <a:pPr/>
              <a:t>6/30/2026</a:t>
            </a:fld>
            <a:endParaRPr lang="en-US" sz="900"/>
          </a:p>
        </p:txBody>
      </p:sp>
      <p:sp>
        <p:nvSpPr>
          <p:cNvPr id="3" name="Footer Placeholder 2"/>
          <p:cNvSpPr>
            <a:spLocks noGrp="1"/>
          </p:cNvSpPr>
          <p:nvPr>
            <p:ph type="ftr" sz="quarter" idx="11"/>
          </p:nvPr>
        </p:nvSpPr>
        <p:spPr/>
        <p:txBody>
          <a:bodyPr/>
          <a:lstStyle>
            <a:lvl1pPr>
              <a:defRPr sz="900" b="1"/>
            </a:lvl1pPr>
          </a:lstStyle>
          <a:p>
            <a:endParaRPr lang="en-US" sz="900"/>
          </a:p>
        </p:txBody>
      </p:sp>
      <p:sp>
        <p:nvSpPr>
          <p:cNvPr id="4" name="Slide Number Placeholder 3"/>
          <p:cNvSpPr>
            <a:spLocks noGrp="1"/>
          </p:cNvSpPr>
          <p:nvPr>
            <p:ph type="sldNum" sz="quarter" idx="12"/>
          </p:nvPr>
        </p:nvSpPr>
        <p:spPr/>
        <p:txBody>
          <a:bodyPr/>
          <a:lstStyle>
            <a:lvl1pPr>
              <a:defRPr sz="900" b="1"/>
            </a:lvl1pPr>
          </a:lstStyle>
          <a:p>
            <a:fld id="{C1FF6DA9-008F-8B48-92A6-B652298478BF}" type="slidenum">
              <a:rPr lang="en-US" smtClean="0"/>
              <a:pPr/>
              <a:t>‹N°›</a:t>
            </a:fld>
            <a:endParaRPr lang="en-US" sz="90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11480" y="446359"/>
            <a:ext cx="11365992" cy="1051560"/>
          </a:xfrm>
          <a:prstGeom prst="roundRect">
            <a:avLst/>
          </a:prstGeom>
          <a:solidFill>
            <a:srgbClr val="172554"/>
          </a:solidFill>
          <a:ln>
            <a:solidFill>
              <a:srgbClr val="172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47527"/>
            <a:ext cx="2560320" cy="228600"/>
          </a:xfrm>
          <a:prstGeom prst="rect">
            <a:avLst/>
          </a:prstGeom>
          <a:noFill/>
        </p:spPr>
        <p:txBody>
          <a:bodyPr wrap="square" lIns="36576" tIns="18288" rIns="36576" bIns="18288" anchor="t">
            <a:spAutoFit/>
          </a:bodyPr>
          <a:lstStyle/>
          <a:p>
            <a:pPr algn="l"/>
            <a:r>
              <a:rPr sz="850" b="1">
                <a:solidFill>
                  <a:srgbClr val="BFDBFE"/>
                </a:solidFill>
                <a:latin typeface="Aptos"/>
              </a:rPr>
              <a:t>PROJET 11 · MOCK-UP</a:t>
            </a:r>
          </a:p>
        </p:txBody>
      </p:sp>
      <p:sp>
        <p:nvSpPr>
          <p:cNvPr id="4" name="TextBox 3"/>
          <p:cNvSpPr txBox="1"/>
          <p:nvPr/>
        </p:nvSpPr>
        <p:spPr>
          <a:xfrm>
            <a:off x="713232" y="857839"/>
            <a:ext cx="9784080" cy="347472"/>
          </a:xfrm>
          <a:prstGeom prst="rect">
            <a:avLst/>
          </a:prstGeom>
          <a:noFill/>
        </p:spPr>
        <p:txBody>
          <a:bodyPr wrap="square" lIns="36576" tIns="18288" rIns="36576" bIns="18288" anchor="t">
            <a:spAutoFit/>
          </a:bodyPr>
          <a:lstStyle/>
          <a:p>
            <a:pPr algn="l"/>
            <a:r>
              <a:rPr sz="2400" b="1" dirty="0">
                <a:solidFill>
                  <a:srgbClr val="FFFFFF"/>
                </a:solidFill>
                <a:latin typeface="Aptos"/>
              </a:rPr>
              <a:t>Mock-up 2 — Tableau de bord de </a:t>
            </a:r>
            <a:r>
              <a:rPr sz="2400" b="1" dirty="0" err="1">
                <a:solidFill>
                  <a:srgbClr val="FFFFFF"/>
                </a:solidFill>
                <a:latin typeface="Aptos"/>
              </a:rPr>
              <a:t>veille</a:t>
            </a:r>
            <a:endParaRPr sz="2400" b="1" dirty="0">
              <a:solidFill>
                <a:srgbClr val="FFFFFF"/>
              </a:solidFill>
              <a:latin typeface="Aptos"/>
            </a:endParaRPr>
          </a:p>
        </p:txBody>
      </p:sp>
      <p:sp>
        <p:nvSpPr>
          <p:cNvPr id="5" name="TextBox 4"/>
          <p:cNvSpPr txBox="1"/>
          <p:nvPr/>
        </p:nvSpPr>
        <p:spPr>
          <a:xfrm>
            <a:off x="713232" y="1223599"/>
            <a:ext cx="9784080" cy="201168"/>
          </a:xfrm>
          <a:prstGeom prst="rect">
            <a:avLst/>
          </a:prstGeom>
          <a:noFill/>
        </p:spPr>
        <p:txBody>
          <a:bodyPr wrap="square" lIns="36576" tIns="18288" rIns="36576" bIns="18288" anchor="t">
            <a:spAutoFit/>
          </a:bodyPr>
          <a:lstStyle/>
          <a:p>
            <a:pPr algn="l"/>
            <a:r>
              <a:rPr sz="1050" b="0">
                <a:solidFill>
                  <a:srgbClr val="DBEAFE"/>
                </a:solidFill>
                <a:latin typeface="Aptos"/>
              </a:rPr>
              <a:t>Concevoir un dashboard de veille métier et technologique utile à la décision.</a:t>
            </a:r>
          </a:p>
        </p:txBody>
      </p:sp>
      <p:sp>
        <p:nvSpPr>
          <p:cNvPr id="6" name="Oval 5"/>
          <p:cNvSpPr/>
          <p:nvPr/>
        </p:nvSpPr>
        <p:spPr>
          <a:xfrm>
            <a:off x="10789920" y="236047"/>
            <a:ext cx="1325880" cy="1325880"/>
          </a:xfrm>
          <a:prstGeom prst="ellipse">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691640"/>
            <a:ext cx="4023360" cy="292608"/>
          </a:xfrm>
          <a:prstGeom prst="rect">
            <a:avLst/>
          </a:prstGeom>
          <a:noFill/>
        </p:spPr>
        <p:txBody>
          <a:bodyPr wrap="square" lIns="36576" tIns="18288" rIns="36576" bIns="18288" anchor="t">
            <a:spAutoFit/>
          </a:bodyPr>
          <a:lstStyle/>
          <a:p>
            <a:pPr algn="l"/>
            <a:r>
              <a:rPr sz="1800" b="1">
                <a:solidFill>
                  <a:srgbClr val="172554"/>
                </a:solidFill>
                <a:latin typeface="Aptos"/>
              </a:rPr>
              <a:t>Finalité du mock-up</a:t>
            </a:r>
          </a:p>
        </p:txBody>
      </p:sp>
      <p:sp>
        <p:nvSpPr>
          <p:cNvPr id="8" name="TextBox 7"/>
          <p:cNvSpPr txBox="1"/>
          <p:nvPr/>
        </p:nvSpPr>
        <p:spPr>
          <a:xfrm>
            <a:off x="502920" y="2084831"/>
            <a:ext cx="11155680" cy="530352"/>
          </a:xfrm>
          <a:prstGeom prst="rect">
            <a:avLst/>
          </a:prstGeom>
          <a:noFill/>
        </p:spPr>
        <p:txBody>
          <a:bodyPr wrap="square" lIns="36576" tIns="18288" rIns="36576" bIns="18288" anchor="t">
            <a:spAutoFit/>
          </a:bodyPr>
          <a:lstStyle/>
          <a:p>
            <a:pPr algn="l"/>
            <a:r>
              <a:rPr sz="1150" b="0">
                <a:solidFill>
                  <a:srgbClr val="334155"/>
                </a:solidFill>
                <a:latin typeface="Aptos"/>
              </a:rPr>
              <a:t>Ce mock-up prépare la conception du tableau de bord Power BI ou Tableau attendu par Aéroworld. Il structure la veille autour des sources, des thématiques, des signaux faibles, des risques et des recommandations actionnables.</a:t>
            </a:r>
          </a:p>
        </p:txBody>
      </p:sp>
      <p:sp>
        <p:nvSpPr>
          <p:cNvPr id="9" name="Rounded Rectangle 8"/>
          <p:cNvSpPr/>
          <p:nvPr/>
        </p:nvSpPr>
        <p:spPr>
          <a:xfrm>
            <a:off x="502920" y="2880360"/>
            <a:ext cx="3520440" cy="12344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 y="3026664"/>
            <a:ext cx="3191256" cy="201168"/>
          </a:xfrm>
          <a:prstGeom prst="rect">
            <a:avLst/>
          </a:prstGeom>
          <a:noFill/>
        </p:spPr>
        <p:txBody>
          <a:bodyPr wrap="square" lIns="36576" tIns="18288" rIns="36576" bIns="18288" anchor="t">
            <a:spAutoFit/>
          </a:bodyPr>
          <a:lstStyle/>
          <a:p>
            <a:pPr algn="l"/>
            <a:r>
              <a:rPr sz="1220" b="1" dirty="0">
                <a:solidFill>
                  <a:srgbClr val="2563EB"/>
                </a:solidFill>
                <a:latin typeface="Aptos"/>
              </a:rPr>
              <a:t>Objectif </a:t>
            </a:r>
            <a:r>
              <a:rPr sz="1220" b="1" dirty="0" err="1">
                <a:solidFill>
                  <a:srgbClr val="2563EB"/>
                </a:solidFill>
                <a:latin typeface="Aptos"/>
              </a:rPr>
              <a:t>utilisateur</a:t>
            </a:r>
            <a:endParaRPr sz="1220" b="1" dirty="0">
              <a:solidFill>
                <a:srgbClr val="2563EB"/>
              </a:solidFill>
              <a:latin typeface="Aptos"/>
            </a:endParaRPr>
          </a:p>
        </p:txBody>
      </p:sp>
      <p:sp>
        <p:nvSpPr>
          <p:cNvPr id="11" name="TextBox 10"/>
          <p:cNvSpPr txBox="1"/>
          <p:nvPr/>
        </p:nvSpPr>
        <p:spPr>
          <a:xfrm>
            <a:off x="667512" y="3337560"/>
            <a:ext cx="3355848" cy="375487"/>
          </a:xfrm>
          <a:prstGeom prst="rect">
            <a:avLst/>
          </a:prstGeom>
          <a:noFill/>
        </p:spPr>
        <p:txBody>
          <a:bodyPr wrap="square" lIns="36576" tIns="18288" rIns="36576" bIns="18288" anchor="t">
            <a:spAutoFit/>
          </a:bodyPr>
          <a:lstStyle/>
          <a:p>
            <a:pPr algn="l"/>
            <a:r>
              <a:rPr sz="1100" b="0" dirty="0">
                <a:solidFill>
                  <a:srgbClr val="0F172A"/>
                </a:solidFill>
                <a:latin typeface="Aptos"/>
              </a:rPr>
              <a:t>Identifier </a:t>
            </a:r>
            <a:r>
              <a:rPr sz="1100" b="0" dirty="0" err="1">
                <a:solidFill>
                  <a:srgbClr val="0F172A"/>
                </a:solidFill>
                <a:latin typeface="Aptos"/>
              </a:rPr>
              <a:t>rapidement</a:t>
            </a:r>
            <a:r>
              <a:rPr sz="1100" b="0" dirty="0">
                <a:solidFill>
                  <a:srgbClr val="0F172A"/>
                </a:solidFill>
                <a:latin typeface="Aptos"/>
              </a:rPr>
              <a:t> les tendances Data / BI </a:t>
            </a:r>
            <a:r>
              <a:rPr sz="1100" b="0" dirty="0" err="1">
                <a:solidFill>
                  <a:srgbClr val="0F172A"/>
                </a:solidFill>
                <a:latin typeface="Aptos"/>
              </a:rPr>
              <a:t>importantes</a:t>
            </a:r>
            <a:r>
              <a:rPr sz="1100" b="0" dirty="0">
                <a:solidFill>
                  <a:srgbClr val="0F172A"/>
                </a:solidFill>
                <a:latin typeface="Aptos"/>
              </a:rPr>
              <a:t> et les transformer </a:t>
            </a:r>
            <a:r>
              <a:rPr sz="1100" b="0" dirty="0" err="1">
                <a:solidFill>
                  <a:srgbClr val="0F172A"/>
                </a:solidFill>
                <a:latin typeface="Aptos"/>
              </a:rPr>
              <a:t>en</a:t>
            </a:r>
            <a:r>
              <a:rPr sz="1100" b="0" dirty="0">
                <a:solidFill>
                  <a:srgbClr val="0F172A"/>
                </a:solidFill>
                <a:latin typeface="Aptos"/>
              </a:rPr>
              <a:t> </a:t>
            </a:r>
            <a:r>
              <a:rPr sz="1100" b="0" dirty="0" err="1">
                <a:solidFill>
                  <a:srgbClr val="0F172A"/>
                </a:solidFill>
                <a:latin typeface="Aptos"/>
              </a:rPr>
              <a:t>décisions</a:t>
            </a:r>
            <a:r>
              <a:rPr sz="1100" b="0" dirty="0">
                <a:solidFill>
                  <a:srgbClr val="0F172A"/>
                </a:solidFill>
                <a:latin typeface="Aptos"/>
              </a:rPr>
              <a:t> de </a:t>
            </a:r>
            <a:r>
              <a:rPr sz="1100" b="0" dirty="0" err="1">
                <a:solidFill>
                  <a:srgbClr val="0F172A"/>
                </a:solidFill>
                <a:latin typeface="Aptos"/>
              </a:rPr>
              <a:t>veille</a:t>
            </a:r>
            <a:r>
              <a:rPr sz="1100" b="0" dirty="0">
                <a:solidFill>
                  <a:srgbClr val="0F172A"/>
                </a:solidFill>
                <a:latin typeface="Aptos"/>
              </a:rPr>
              <a:t>.</a:t>
            </a:r>
          </a:p>
        </p:txBody>
      </p:sp>
      <p:sp>
        <p:nvSpPr>
          <p:cNvPr id="12" name="Rounded Rectangle 11"/>
          <p:cNvSpPr/>
          <p:nvPr/>
        </p:nvSpPr>
        <p:spPr>
          <a:xfrm>
            <a:off x="4370832" y="2880360"/>
            <a:ext cx="3520440" cy="123444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35424" y="3026664"/>
            <a:ext cx="3191256" cy="201168"/>
          </a:xfrm>
          <a:prstGeom prst="rect">
            <a:avLst/>
          </a:prstGeom>
          <a:noFill/>
        </p:spPr>
        <p:txBody>
          <a:bodyPr wrap="square" lIns="36576" tIns="18288" rIns="36576" bIns="18288" anchor="t">
            <a:spAutoFit/>
          </a:bodyPr>
          <a:lstStyle/>
          <a:p>
            <a:pPr algn="l"/>
            <a:r>
              <a:rPr sz="1220" b="1" dirty="0" err="1">
                <a:solidFill>
                  <a:srgbClr val="0F766E"/>
                </a:solidFill>
                <a:latin typeface="Aptos"/>
              </a:rPr>
              <a:t>Contenu</a:t>
            </a:r>
            <a:r>
              <a:rPr sz="1220" b="1" dirty="0">
                <a:solidFill>
                  <a:srgbClr val="0F766E"/>
                </a:solidFill>
                <a:latin typeface="Aptos"/>
              </a:rPr>
              <a:t> </a:t>
            </a:r>
            <a:r>
              <a:rPr sz="1220" b="1" dirty="0" err="1">
                <a:solidFill>
                  <a:srgbClr val="0F766E"/>
                </a:solidFill>
                <a:latin typeface="Aptos"/>
              </a:rPr>
              <a:t>suivi</a:t>
            </a:r>
            <a:endParaRPr sz="1220" b="1" dirty="0">
              <a:solidFill>
                <a:srgbClr val="0F766E"/>
              </a:solidFill>
              <a:latin typeface="Aptos"/>
            </a:endParaRPr>
          </a:p>
        </p:txBody>
      </p:sp>
      <p:sp>
        <p:nvSpPr>
          <p:cNvPr id="14" name="TextBox 13"/>
          <p:cNvSpPr txBox="1"/>
          <p:nvPr/>
        </p:nvSpPr>
        <p:spPr>
          <a:xfrm>
            <a:off x="4535424" y="3337560"/>
            <a:ext cx="3355848" cy="375487"/>
          </a:xfrm>
          <a:prstGeom prst="rect">
            <a:avLst/>
          </a:prstGeom>
          <a:noFill/>
        </p:spPr>
        <p:txBody>
          <a:bodyPr wrap="square" lIns="36576" tIns="18288" rIns="36576" bIns="18288" anchor="t">
            <a:spAutoFit/>
          </a:bodyPr>
          <a:lstStyle/>
          <a:p>
            <a:pPr algn="l"/>
            <a:r>
              <a:rPr sz="1100" b="0">
                <a:solidFill>
                  <a:srgbClr val="0F172A"/>
                </a:solidFill>
                <a:latin typeface="Aptos"/>
              </a:rPr>
              <a:t>Sources, thématiques, maturité, impact, alertes prioritaires, risques et recommandations.</a:t>
            </a:r>
          </a:p>
        </p:txBody>
      </p:sp>
      <p:sp>
        <p:nvSpPr>
          <p:cNvPr id="15" name="Rounded Rectangle 14"/>
          <p:cNvSpPr/>
          <p:nvPr/>
        </p:nvSpPr>
        <p:spPr>
          <a:xfrm>
            <a:off x="8238744" y="2880360"/>
            <a:ext cx="3520440" cy="1234440"/>
          </a:xfrm>
          <a:prstGeom prst="roundRect">
            <a:avLst/>
          </a:prstGeom>
          <a:solidFill>
            <a:srgbClr val="FFF7ED"/>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03336" y="3026664"/>
            <a:ext cx="3191256" cy="201168"/>
          </a:xfrm>
          <a:prstGeom prst="rect">
            <a:avLst/>
          </a:prstGeom>
          <a:noFill/>
        </p:spPr>
        <p:txBody>
          <a:bodyPr wrap="square" lIns="36576" tIns="18288" rIns="36576" bIns="18288" anchor="t">
            <a:spAutoFit/>
          </a:bodyPr>
          <a:lstStyle/>
          <a:p>
            <a:pPr algn="l"/>
            <a:r>
              <a:rPr sz="1220" b="1">
                <a:solidFill>
                  <a:srgbClr val="B45309"/>
                </a:solidFill>
                <a:latin typeface="Aptos"/>
              </a:rPr>
              <a:t>Usage OC</a:t>
            </a:r>
          </a:p>
        </p:txBody>
      </p:sp>
      <p:sp>
        <p:nvSpPr>
          <p:cNvPr id="17" name="TextBox 16"/>
          <p:cNvSpPr txBox="1"/>
          <p:nvPr/>
        </p:nvSpPr>
        <p:spPr>
          <a:xfrm>
            <a:off x="8403336" y="3337560"/>
            <a:ext cx="3355848" cy="375487"/>
          </a:xfrm>
          <a:prstGeom prst="rect">
            <a:avLst/>
          </a:prstGeom>
          <a:noFill/>
        </p:spPr>
        <p:txBody>
          <a:bodyPr wrap="square" lIns="36576" tIns="18288" rIns="36576" bIns="18288" anchor="t">
            <a:spAutoFit/>
          </a:bodyPr>
          <a:lstStyle/>
          <a:p>
            <a:pPr algn="l"/>
            <a:r>
              <a:rPr sz="1100" b="0">
                <a:solidFill>
                  <a:srgbClr val="0F172A"/>
                </a:solidFill>
                <a:latin typeface="Aptos"/>
              </a:rPr>
              <a:t>Démontrer la compétence de veille métier et technologique et la capacité à restituer utilement.</a:t>
            </a:r>
          </a:p>
        </p:txBody>
      </p:sp>
      <p:sp>
        <p:nvSpPr>
          <p:cNvPr id="18" name="TextBox 17"/>
          <p:cNvSpPr txBox="1"/>
          <p:nvPr/>
        </p:nvSpPr>
        <p:spPr>
          <a:xfrm>
            <a:off x="502920" y="4526280"/>
            <a:ext cx="3840480" cy="274320"/>
          </a:xfrm>
          <a:prstGeom prst="rect">
            <a:avLst/>
          </a:prstGeom>
          <a:noFill/>
        </p:spPr>
        <p:txBody>
          <a:bodyPr wrap="square" lIns="36576" tIns="18288" rIns="36576" bIns="18288" anchor="t">
            <a:spAutoFit/>
          </a:bodyPr>
          <a:lstStyle/>
          <a:p>
            <a:pPr algn="l"/>
            <a:r>
              <a:rPr sz="1800" b="1">
                <a:solidFill>
                  <a:srgbClr val="172554"/>
                </a:solidFill>
                <a:latin typeface="Aptos"/>
              </a:rPr>
              <a:t>Parcours d’analyse prévu</a:t>
            </a:r>
          </a:p>
        </p:txBody>
      </p:sp>
      <p:sp>
        <p:nvSpPr>
          <p:cNvPr id="19" name="Rounded Rectangle 18"/>
          <p:cNvSpPr/>
          <p:nvPr/>
        </p:nvSpPr>
        <p:spPr>
          <a:xfrm>
            <a:off x="594360" y="4956048"/>
            <a:ext cx="2423160" cy="822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04088" y="5120640"/>
            <a:ext cx="329184" cy="329184"/>
          </a:xfrm>
          <a:prstGeom prst="roundRect">
            <a:avLst/>
          </a:prstGeom>
          <a:solidFill>
            <a:srgbClr val="EFF6FF"/>
          </a:solidFill>
          <a:ln w="12700">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latin typeface="Aptos"/>
              </a:rPr>
              <a:t>1</a:t>
            </a:r>
          </a:p>
        </p:txBody>
      </p:sp>
      <p:sp>
        <p:nvSpPr>
          <p:cNvPr id="21" name="TextBox 20"/>
          <p:cNvSpPr txBox="1"/>
          <p:nvPr/>
        </p:nvSpPr>
        <p:spPr>
          <a:xfrm>
            <a:off x="1124712" y="5102352"/>
            <a:ext cx="1645920" cy="182880"/>
          </a:xfrm>
          <a:prstGeom prst="rect">
            <a:avLst/>
          </a:prstGeom>
          <a:noFill/>
        </p:spPr>
        <p:txBody>
          <a:bodyPr wrap="square" lIns="36576" tIns="18288" rIns="36576" bIns="18288" anchor="t">
            <a:spAutoFit/>
          </a:bodyPr>
          <a:lstStyle/>
          <a:p>
            <a:pPr algn="l"/>
            <a:r>
              <a:rPr sz="1120" b="1">
                <a:solidFill>
                  <a:srgbClr val="172554"/>
                </a:solidFill>
                <a:latin typeface="Aptos"/>
              </a:rPr>
              <a:t>Collecter</a:t>
            </a:r>
          </a:p>
        </p:txBody>
      </p:sp>
      <p:sp>
        <p:nvSpPr>
          <p:cNvPr id="22" name="TextBox 21"/>
          <p:cNvSpPr txBox="1"/>
          <p:nvPr/>
        </p:nvSpPr>
        <p:spPr>
          <a:xfrm>
            <a:off x="1124712" y="5349240"/>
            <a:ext cx="1737360" cy="190821"/>
          </a:xfrm>
          <a:prstGeom prst="rect">
            <a:avLst/>
          </a:prstGeom>
          <a:noFill/>
        </p:spPr>
        <p:txBody>
          <a:bodyPr wrap="square" lIns="36576" tIns="18288" rIns="36576" bIns="18288" anchor="t">
            <a:spAutoFit/>
          </a:bodyPr>
          <a:lstStyle/>
          <a:p>
            <a:pPr algn="l"/>
            <a:r>
              <a:rPr sz="1000" b="0" dirty="0">
                <a:solidFill>
                  <a:srgbClr val="475569"/>
                </a:solidFill>
                <a:latin typeface="Aptos"/>
              </a:rPr>
              <a:t>Sources </a:t>
            </a:r>
            <a:r>
              <a:rPr sz="1000" b="0" dirty="0" err="1">
                <a:solidFill>
                  <a:srgbClr val="475569"/>
                </a:solidFill>
                <a:latin typeface="Aptos"/>
              </a:rPr>
              <a:t>fiables</a:t>
            </a:r>
            <a:endParaRPr sz="1000" b="0" dirty="0">
              <a:solidFill>
                <a:srgbClr val="475569"/>
              </a:solidFill>
              <a:latin typeface="Aptos"/>
            </a:endParaRPr>
          </a:p>
        </p:txBody>
      </p:sp>
      <p:cxnSp>
        <p:nvCxnSpPr>
          <p:cNvPr id="23" name="Connector 22"/>
          <p:cNvCxnSpPr/>
          <p:nvPr/>
        </p:nvCxnSpPr>
        <p:spPr>
          <a:xfrm>
            <a:off x="3063239" y="5367528"/>
            <a:ext cx="365761" cy="0"/>
          </a:xfrm>
          <a:prstGeom prst="line">
            <a:avLst/>
          </a:prstGeom>
          <a:ln w="22860">
            <a:solidFill>
              <a:srgbClr val="2563E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474720" y="4956048"/>
            <a:ext cx="2423160" cy="822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584448" y="5120640"/>
            <a:ext cx="329184" cy="329184"/>
          </a:xfrm>
          <a:prstGeom prst="roundRect">
            <a:avLst/>
          </a:prstGeom>
          <a:solidFill>
            <a:srgbClr val="EFF6FF"/>
          </a:solidFill>
          <a:ln w="12700">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latin typeface="Aptos"/>
              </a:rPr>
              <a:t>2</a:t>
            </a:r>
          </a:p>
        </p:txBody>
      </p:sp>
      <p:sp>
        <p:nvSpPr>
          <p:cNvPr id="26" name="TextBox 25"/>
          <p:cNvSpPr txBox="1"/>
          <p:nvPr/>
        </p:nvSpPr>
        <p:spPr>
          <a:xfrm>
            <a:off x="4005072" y="5102352"/>
            <a:ext cx="1645920" cy="182880"/>
          </a:xfrm>
          <a:prstGeom prst="rect">
            <a:avLst/>
          </a:prstGeom>
          <a:noFill/>
        </p:spPr>
        <p:txBody>
          <a:bodyPr wrap="square" lIns="36576" tIns="18288" rIns="36576" bIns="18288" anchor="t">
            <a:spAutoFit/>
          </a:bodyPr>
          <a:lstStyle/>
          <a:p>
            <a:pPr algn="l"/>
            <a:r>
              <a:rPr sz="1120" b="1">
                <a:solidFill>
                  <a:srgbClr val="172554"/>
                </a:solidFill>
                <a:latin typeface="Aptos"/>
              </a:rPr>
              <a:t>Classer</a:t>
            </a:r>
          </a:p>
        </p:txBody>
      </p:sp>
      <p:sp>
        <p:nvSpPr>
          <p:cNvPr id="27" name="TextBox 26"/>
          <p:cNvSpPr txBox="1"/>
          <p:nvPr/>
        </p:nvSpPr>
        <p:spPr>
          <a:xfrm>
            <a:off x="4005072" y="5349240"/>
            <a:ext cx="1737360" cy="190821"/>
          </a:xfrm>
          <a:prstGeom prst="rect">
            <a:avLst/>
          </a:prstGeom>
          <a:noFill/>
        </p:spPr>
        <p:txBody>
          <a:bodyPr wrap="square" lIns="36576" tIns="18288" rIns="36576" bIns="18288" anchor="t">
            <a:spAutoFit/>
          </a:bodyPr>
          <a:lstStyle/>
          <a:p>
            <a:pPr algn="l"/>
            <a:r>
              <a:rPr sz="1000" b="0">
                <a:solidFill>
                  <a:srgbClr val="475569"/>
                </a:solidFill>
                <a:latin typeface="Aptos"/>
              </a:rPr>
              <a:t>Thématiques</a:t>
            </a:r>
          </a:p>
        </p:txBody>
      </p:sp>
      <p:cxnSp>
        <p:nvCxnSpPr>
          <p:cNvPr id="28" name="Connector 27"/>
          <p:cNvCxnSpPr/>
          <p:nvPr/>
        </p:nvCxnSpPr>
        <p:spPr>
          <a:xfrm>
            <a:off x="5943599" y="5367528"/>
            <a:ext cx="365760" cy="0"/>
          </a:xfrm>
          <a:prstGeom prst="line">
            <a:avLst/>
          </a:prstGeom>
          <a:ln w="22860">
            <a:solidFill>
              <a:srgbClr val="2563EB"/>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355080" y="4956048"/>
            <a:ext cx="2423160" cy="822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464808" y="5120640"/>
            <a:ext cx="329184" cy="329184"/>
          </a:xfrm>
          <a:prstGeom prst="roundRect">
            <a:avLst/>
          </a:prstGeom>
          <a:solidFill>
            <a:srgbClr val="EFF6FF"/>
          </a:solidFill>
          <a:ln w="12700">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latin typeface="Aptos"/>
              </a:rPr>
              <a:t>3</a:t>
            </a:r>
          </a:p>
        </p:txBody>
      </p:sp>
      <p:sp>
        <p:nvSpPr>
          <p:cNvPr id="31" name="TextBox 30"/>
          <p:cNvSpPr txBox="1"/>
          <p:nvPr/>
        </p:nvSpPr>
        <p:spPr>
          <a:xfrm>
            <a:off x="6885432" y="5102352"/>
            <a:ext cx="1645920" cy="182880"/>
          </a:xfrm>
          <a:prstGeom prst="rect">
            <a:avLst/>
          </a:prstGeom>
          <a:noFill/>
        </p:spPr>
        <p:txBody>
          <a:bodyPr wrap="square" lIns="36576" tIns="18288" rIns="36576" bIns="18288" anchor="t">
            <a:spAutoFit/>
          </a:bodyPr>
          <a:lstStyle/>
          <a:p>
            <a:pPr algn="l"/>
            <a:r>
              <a:rPr sz="1120" b="1">
                <a:solidFill>
                  <a:srgbClr val="172554"/>
                </a:solidFill>
                <a:latin typeface="Aptos"/>
              </a:rPr>
              <a:t>Évaluer</a:t>
            </a:r>
          </a:p>
        </p:txBody>
      </p:sp>
      <p:sp>
        <p:nvSpPr>
          <p:cNvPr id="32" name="TextBox 31"/>
          <p:cNvSpPr txBox="1"/>
          <p:nvPr/>
        </p:nvSpPr>
        <p:spPr>
          <a:xfrm>
            <a:off x="6885432" y="5349240"/>
            <a:ext cx="1737360" cy="190821"/>
          </a:xfrm>
          <a:prstGeom prst="rect">
            <a:avLst/>
          </a:prstGeom>
          <a:noFill/>
        </p:spPr>
        <p:txBody>
          <a:bodyPr wrap="square" lIns="36576" tIns="18288" rIns="36576" bIns="18288" anchor="t">
            <a:spAutoFit/>
          </a:bodyPr>
          <a:lstStyle/>
          <a:p>
            <a:pPr algn="l"/>
            <a:r>
              <a:rPr sz="1000" b="0">
                <a:solidFill>
                  <a:srgbClr val="475569"/>
                </a:solidFill>
                <a:latin typeface="Aptos"/>
              </a:rPr>
              <a:t>Impact &amp; maturité</a:t>
            </a:r>
          </a:p>
        </p:txBody>
      </p:sp>
      <p:cxnSp>
        <p:nvCxnSpPr>
          <p:cNvPr id="33" name="Connector 32"/>
          <p:cNvCxnSpPr/>
          <p:nvPr/>
        </p:nvCxnSpPr>
        <p:spPr>
          <a:xfrm>
            <a:off x="8823960" y="5367528"/>
            <a:ext cx="365759" cy="0"/>
          </a:xfrm>
          <a:prstGeom prst="line">
            <a:avLst/>
          </a:prstGeom>
          <a:ln w="22860">
            <a:solidFill>
              <a:srgbClr val="2563EB"/>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235440" y="4956048"/>
            <a:ext cx="2423160" cy="822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345167" y="5120640"/>
            <a:ext cx="329184" cy="329184"/>
          </a:xfrm>
          <a:prstGeom prst="roundRect">
            <a:avLst/>
          </a:prstGeom>
          <a:solidFill>
            <a:srgbClr val="EFF6FF"/>
          </a:solidFill>
          <a:ln w="12700">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563EB"/>
                </a:solidFill>
                <a:latin typeface="Aptos"/>
              </a:rPr>
              <a:t>4</a:t>
            </a:r>
          </a:p>
        </p:txBody>
      </p:sp>
      <p:sp>
        <p:nvSpPr>
          <p:cNvPr id="36" name="TextBox 35"/>
          <p:cNvSpPr txBox="1"/>
          <p:nvPr/>
        </p:nvSpPr>
        <p:spPr>
          <a:xfrm>
            <a:off x="9765792" y="5102352"/>
            <a:ext cx="1645920" cy="182880"/>
          </a:xfrm>
          <a:prstGeom prst="rect">
            <a:avLst/>
          </a:prstGeom>
          <a:noFill/>
        </p:spPr>
        <p:txBody>
          <a:bodyPr wrap="square" lIns="36576" tIns="18288" rIns="36576" bIns="18288" anchor="t">
            <a:spAutoFit/>
          </a:bodyPr>
          <a:lstStyle/>
          <a:p>
            <a:pPr algn="l"/>
            <a:r>
              <a:rPr sz="1120" b="1">
                <a:solidFill>
                  <a:srgbClr val="172554"/>
                </a:solidFill>
                <a:latin typeface="Aptos"/>
              </a:rPr>
              <a:t>Décider</a:t>
            </a:r>
          </a:p>
        </p:txBody>
      </p:sp>
      <p:sp>
        <p:nvSpPr>
          <p:cNvPr id="37" name="TextBox 36"/>
          <p:cNvSpPr txBox="1"/>
          <p:nvPr/>
        </p:nvSpPr>
        <p:spPr>
          <a:xfrm>
            <a:off x="9765792" y="5349240"/>
            <a:ext cx="1737360" cy="190821"/>
          </a:xfrm>
          <a:prstGeom prst="rect">
            <a:avLst/>
          </a:prstGeom>
          <a:noFill/>
        </p:spPr>
        <p:txBody>
          <a:bodyPr wrap="square" lIns="36576" tIns="18288" rIns="36576" bIns="18288" anchor="t">
            <a:spAutoFit/>
          </a:bodyPr>
          <a:lstStyle/>
          <a:p>
            <a:pPr algn="l"/>
            <a:r>
              <a:rPr sz="1000" b="0">
                <a:solidFill>
                  <a:srgbClr val="475569"/>
                </a:solidFill>
                <a:latin typeface="Aptos"/>
              </a:rPr>
              <a:t>Recommandations</a:t>
            </a:r>
          </a:p>
        </p:txBody>
      </p:sp>
      <p:sp>
        <p:nvSpPr>
          <p:cNvPr id="38" name="TextBox 37"/>
          <p:cNvSpPr txBox="1"/>
          <p:nvPr/>
        </p:nvSpPr>
        <p:spPr>
          <a:xfrm>
            <a:off x="155448" y="6627322"/>
            <a:ext cx="6858000" cy="175433"/>
          </a:xfrm>
          <a:prstGeom prst="rect">
            <a:avLst/>
          </a:prstGeom>
          <a:noFill/>
        </p:spPr>
        <p:txBody>
          <a:bodyPr wrap="square" lIns="36576" tIns="18288" rIns="36576" bIns="18288" anchor="t">
            <a:spAutoFit/>
          </a:bodyPr>
          <a:lstStyle/>
          <a:p>
            <a:pPr algn="l"/>
            <a:r>
              <a:rPr sz="900" b="1" dirty="0">
                <a:solidFill>
                  <a:srgbClr val="64748B"/>
                </a:solidFill>
                <a:latin typeface="Aptos"/>
              </a:rPr>
              <a:t>Henrique Da Costa · Business Intelligence Analyst · </a:t>
            </a:r>
            <a:r>
              <a:rPr sz="900" b="1" dirty="0" err="1">
                <a:solidFill>
                  <a:srgbClr val="64748B"/>
                </a:solidFill>
                <a:latin typeface="Aptos"/>
              </a:rPr>
              <a:t>OpenClassrooms</a:t>
            </a:r>
            <a:endParaRPr sz="900" b="1" dirty="0">
              <a:solidFill>
                <a:srgbClr val="64748B"/>
              </a:solidFill>
              <a:latin typeface="Aptos"/>
            </a:endParaRPr>
          </a:p>
        </p:txBody>
      </p:sp>
      <p:sp>
        <p:nvSpPr>
          <p:cNvPr id="39" name="TextBox 38"/>
          <p:cNvSpPr txBox="1"/>
          <p:nvPr/>
        </p:nvSpPr>
        <p:spPr>
          <a:xfrm>
            <a:off x="11384280" y="6565392"/>
            <a:ext cx="411480" cy="164592"/>
          </a:xfrm>
          <a:prstGeom prst="rect">
            <a:avLst/>
          </a:prstGeom>
          <a:noFill/>
        </p:spPr>
        <p:txBody>
          <a:bodyPr wrap="square" lIns="36576" tIns="18288" rIns="36576" bIns="18288" anchor="t">
            <a:spAutoFit/>
          </a:bodyPr>
          <a:lstStyle/>
          <a:p>
            <a:pPr algn="r"/>
            <a:r>
              <a:rPr sz="750" b="0">
                <a:solidFill>
                  <a:srgbClr val="64748B"/>
                </a:solidFill>
                <a:latin typeface="Aptos"/>
              </a:rPr>
              <a:t>1/3</a:t>
            </a:r>
          </a:p>
        </p:txBody>
      </p:sp>
      <p:sp>
        <p:nvSpPr>
          <p:cNvPr id="40" name="Rounded Rectangle 39"/>
          <p:cNvSpPr/>
          <p:nvPr/>
        </p:nvSpPr>
        <p:spPr>
          <a:xfrm>
            <a:off x="411480" y="70607"/>
            <a:ext cx="8046720" cy="256032"/>
          </a:xfrm>
          <a:prstGeom prst="roundRect">
            <a:avLst/>
          </a:prstGeom>
          <a:solidFill>
            <a:srgbClr val="ECFDF5"/>
          </a:solidFill>
          <a:ln w="10160">
            <a:solidFill>
              <a:srgbClr val="0F766E"/>
            </a:solidFill>
          </a:ln>
        </p:spPr>
        <p:style>
          <a:lnRef idx="1">
            <a:schemeClr val="accent1"/>
          </a:lnRef>
          <a:fillRef idx="3">
            <a:schemeClr val="accent1"/>
          </a:fillRef>
          <a:effectRef idx="2">
            <a:schemeClr val="accent1"/>
          </a:effectRef>
          <a:fontRef idx="minor">
            <a:schemeClr val="lt1"/>
          </a:fontRef>
        </p:style>
        <p:txBody>
          <a:bodyPr tIns="18288" rIns="73152" bIns="18288" rtlCol="0" anchor="ctr"/>
          <a:lstStyle/>
          <a:p>
            <a:pPr algn="l"/>
            <a:r>
              <a:rPr sz="790" b="1">
                <a:solidFill>
                  <a:srgbClr val="0F766E"/>
                </a:solidFill>
                <a:latin typeface="Aptos"/>
              </a:rPr>
              <a:t>Livrable P11 - Etape 3 : validation des mock-ups avant réalisation des tableaux de bord et intégration finale au portfolio.</a:t>
            </a:r>
          </a:p>
        </p:txBody>
      </p:sp>
      <p:sp>
        <p:nvSpPr>
          <p:cNvPr id="41" name="Rounded Rectangle 40"/>
          <p:cNvSpPr/>
          <p:nvPr/>
        </p:nvSpPr>
        <p:spPr>
          <a:xfrm>
            <a:off x="594360" y="5978098"/>
            <a:ext cx="5440680" cy="422307"/>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wrap="square" lIns="109728" rIns="73152" bIns="27432" rtlCol="0" anchor="ctr"/>
          <a:lstStyle/>
          <a:p>
            <a:pPr algn="ctr"/>
            <a:r>
              <a:rPr sz="1000" b="1" dirty="0" err="1">
                <a:solidFill>
                  <a:srgbClr val="0F766E"/>
                </a:solidFill>
                <a:latin typeface="Aptos"/>
              </a:rPr>
              <a:t>Traçabilité</a:t>
            </a:r>
            <a:r>
              <a:rPr sz="1000" b="1" dirty="0">
                <a:solidFill>
                  <a:srgbClr val="0F766E"/>
                </a:solidFill>
                <a:latin typeface="Aptos"/>
              </a:rPr>
              <a:t> des sources</a:t>
            </a:r>
          </a:p>
          <a:p>
            <a:pPr>
              <a:spcBef>
                <a:spcPts val="100"/>
              </a:spcBef>
            </a:pPr>
            <a:r>
              <a:rPr sz="900" b="0" dirty="0">
                <a:solidFill>
                  <a:srgbClr val="0F172A"/>
                </a:solidFill>
                <a:latin typeface="Aptos"/>
              </a:rPr>
              <a:t>Sources </a:t>
            </a:r>
            <a:r>
              <a:rPr sz="900" b="0" dirty="0" err="1">
                <a:solidFill>
                  <a:srgbClr val="0F172A"/>
                </a:solidFill>
                <a:latin typeface="Aptos"/>
              </a:rPr>
              <a:t>documentées</a:t>
            </a:r>
            <a:r>
              <a:rPr sz="900" b="0" dirty="0">
                <a:solidFill>
                  <a:srgbClr val="0F172A"/>
                </a:solidFill>
                <a:latin typeface="Aptos"/>
              </a:rPr>
              <a:t>, </a:t>
            </a:r>
            <a:r>
              <a:rPr sz="900" b="0" dirty="0" err="1">
                <a:solidFill>
                  <a:srgbClr val="0F172A"/>
                </a:solidFill>
                <a:latin typeface="Aptos"/>
              </a:rPr>
              <a:t>datées</a:t>
            </a:r>
            <a:r>
              <a:rPr sz="900" b="0" dirty="0">
                <a:solidFill>
                  <a:srgbClr val="0F172A"/>
                </a:solidFill>
                <a:latin typeface="Aptos"/>
              </a:rPr>
              <a:t> et </a:t>
            </a:r>
            <a:r>
              <a:rPr sz="900" b="0" dirty="0" err="1">
                <a:solidFill>
                  <a:srgbClr val="0F172A"/>
                </a:solidFill>
                <a:latin typeface="Aptos"/>
              </a:rPr>
              <a:t>classées</a:t>
            </a:r>
            <a:r>
              <a:rPr sz="900" b="0" dirty="0">
                <a:solidFill>
                  <a:srgbClr val="0F172A"/>
                </a:solidFill>
                <a:latin typeface="Aptos"/>
              </a:rPr>
              <a:t> par </a:t>
            </a:r>
            <a:r>
              <a:rPr sz="900" b="0" dirty="0" err="1">
                <a:solidFill>
                  <a:srgbClr val="0F172A"/>
                </a:solidFill>
                <a:latin typeface="Aptos"/>
              </a:rPr>
              <a:t>thématique</a:t>
            </a:r>
            <a:r>
              <a:rPr sz="900" b="0" dirty="0">
                <a:solidFill>
                  <a:srgbClr val="0F172A"/>
                </a:solidFill>
                <a:latin typeface="Aptos"/>
              </a:rPr>
              <a:t> pour justifier les </a:t>
            </a:r>
            <a:r>
              <a:rPr sz="900" b="0" dirty="0" err="1">
                <a:solidFill>
                  <a:srgbClr val="0F172A"/>
                </a:solidFill>
                <a:latin typeface="Aptos"/>
              </a:rPr>
              <a:t>recommandations</a:t>
            </a:r>
            <a:r>
              <a:rPr sz="900" b="0" dirty="0">
                <a:solidFill>
                  <a:srgbClr val="0F172A"/>
                </a:solidFill>
                <a:latin typeface="Aptos"/>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205761"/>
            <a:ext cx="6400800" cy="283154"/>
          </a:xfrm>
          <a:prstGeom prst="rect">
            <a:avLst/>
          </a:prstGeom>
          <a:noFill/>
        </p:spPr>
        <p:txBody>
          <a:bodyPr wrap="square" lIns="36576" tIns="18288" rIns="36576" bIns="18288" anchor="t">
            <a:spAutoFit/>
          </a:bodyPr>
          <a:lstStyle/>
          <a:p>
            <a:pPr algn="l"/>
            <a:r>
              <a:rPr sz="1600" b="1" dirty="0">
                <a:solidFill>
                  <a:schemeClr val="bg1"/>
                </a:solidFill>
                <a:latin typeface="Aptos"/>
              </a:rPr>
              <a:t>Mock-up 2 — Tableau de bord de </a:t>
            </a:r>
            <a:r>
              <a:rPr sz="1600" b="1" dirty="0" err="1">
                <a:solidFill>
                  <a:schemeClr val="bg1"/>
                </a:solidFill>
                <a:latin typeface="Aptos"/>
              </a:rPr>
              <a:t>veille</a:t>
            </a:r>
            <a:endParaRPr sz="1600" b="1" dirty="0">
              <a:solidFill>
                <a:schemeClr val="bg1"/>
              </a:solidFill>
              <a:latin typeface="Aptos"/>
            </a:endParaRPr>
          </a:p>
        </p:txBody>
      </p:sp>
      <p:sp>
        <p:nvSpPr>
          <p:cNvPr id="3" name="TextBox 2"/>
          <p:cNvSpPr txBox="1"/>
          <p:nvPr/>
        </p:nvSpPr>
        <p:spPr>
          <a:xfrm>
            <a:off x="411480" y="1498369"/>
            <a:ext cx="7772400" cy="183127"/>
          </a:xfrm>
          <a:prstGeom prst="rect">
            <a:avLst/>
          </a:prstGeom>
          <a:noFill/>
        </p:spPr>
        <p:txBody>
          <a:bodyPr wrap="square" lIns="36576" tIns="18288" rIns="36576" bIns="18288" anchor="t">
            <a:spAutoFit/>
          </a:bodyPr>
          <a:lstStyle/>
          <a:p>
            <a:pPr algn="l"/>
            <a:r>
              <a:rPr sz="950" b="0" dirty="0">
                <a:solidFill>
                  <a:schemeClr val="bg1"/>
                </a:solidFill>
                <a:latin typeface="Aptos"/>
              </a:rPr>
              <a:t>Vue </a:t>
            </a:r>
            <a:r>
              <a:rPr sz="950" b="0" dirty="0" err="1">
                <a:solidFill>
                  <a:schemeClr val="bg1"/>
                </a:solidFill>
                <a:latin typeface="Aptos"/>
              </a:rPr>
              <a:t>cible</a:t>
            </a:r>
            <a:r>
              <a:rPr sz="950" b="0" dirty="0">
                <a:solidFill>
                  <a:schemeClr val="bg1"/>
                </a:solidFill>
                <a:latin typeface="Aptos"/>
              </a:rPr>
              <a:t> du dashboard : sources, </a:t>
            </a:r>
            <a:r>
              <a:rPr sz="950" b="0" dirty="0" err="1">
                <a:solidFill>
                  <a:schemeClr val="bg1"/>
                </a:solidFill>
                <a:latin typeface="Aptos"/>
              </a:rPr>
              <a:t>signaux</a:t>
            </a:r>
            <a:r>
              <a:rPr sz="950" b="0" dirty="0">
                <a:solidFill>
                  <a:schemeClr val="bg1"/>
                </a:solidFill>
                <a:latin typeface="Aptos"/>
              </a:rPr>
              <a:t>, </a:t>
            </a:r>
            <a:r>
              <a:rPr sz="950" b="0" dirty="0" err="1">
                <a:solidFill>
                  <a:schemeClr val="bg1"/>
                </a:solidFill>
                <a:latin typeface="Aptos"/>
              </a:rPr>
              <a:t>maturité</a:t>
            </a:r>
            <a:r>
              <a:rPr sz="950" b="0" dirty="0">
                <a:solidFill>
                  <a:schemeClr val="bg1"/>
                </a:solidFill>
                <a:latin typeface="Aptos"/>
              </a:rPr>
              <a:t> et </a:t>
            </a:r>
            <a:r>
              <a:rPr sz="950" b="0" dirty="0" err="1">
                <a:solidFill>
                  <a:schemeClr val="bg1"/>
                </a:solidFill>
                <a:latin typeface="Aptos"/>
              </a:rPr>
              <a:t>recommandations</a:t>
            </a:r>
            <a:r>
              <a:rPr sz="950" b="0" dirty="0">
                <a:solidFill>
                  <a:schemeClr val="bg1"/>
                </a:solidFill>
                <a:latin typeface="Aptos"/>
              </a:rPr>
              <a:t>.</a:t>
            </a:r>
          </a:p>
        </p:txBody>
      </p:sp>
      <p:pic>
        <p:nvPicPr>
          <p:cNvPr id="4" name="Picture 3" descr="a_clean_modern_dashboard_ui_screenshot_in_french_2_batch_1.png"/>
          <p:cNvPicPr>
            <a:picLocks noChangeAspect="1"/>
          </p:cNvPicPr>
          <p:nvPr/>
        </p:nvPicPr>
        <p:blipFill>
          <a:blip r:embed="rId2"/>
          <a:stretch>
            <a:fillRect/>
          </a:stretch>
        </p:blipFill>
        <p:spPr>
          <a:xfrm>
            <a:off x="103909" y="128016"/>
            <a:ext cx="12088091" cy="6437376"/>
          </a:xfrm>
          <a:prstGeom prst="rect">
            <a:avLst/>
          </a:prstGeom>
        </p:spPr>
      </p:pic>
      <p:sp>
        <p:nvSpPr>
          <p:cNvPr id="5" name="TextBox 4"/>
          <p:cNvSpPr txBox="1"/>
          <p:nvPr/>
        </p:nvSpPr>
        <p:spPr>
          <a:xfrm>
            <a:off x="103909" y="6647688"/>
            <a:ext cx="6858000" cy="175433"/>
          </a:xfrm>
          <a:prstGeom prst="rect">
            <a:avLst/>
          </a:prstGeom>
          <a:noFill/>
        </p:spPr>
        <p:txBody>
          <a:bodyPr wrap="square" lIns="36576" tIns="18288" rIns="36576" bIns="18288" anchor="t">
            <a:spAutoFit/>
          </a:bodyPr>
          <a:lstStyle/>
          <a:p>
            <a:pPr algn="l"/>
            <a:r>
              <a:rPr sz="900" b="1" dirty="0">
                <a:solidFill>
                  <a:srgbClr val="64748B"/>
                </a:solidFill>
                <a:latin typeface="Aptos"/>
              </a:rPr>
              <a:t>Henrique Da Costa · Business Intelligence Analyst </a:t>
            </a:r>
            <a:r>
              <a:rPr sz="900" b="0" dirty="0">
                <a:solidFill>
                  <a:srgbClr val="64748B"/>
                </a:solidFill>
                <a:latin typeface="Aptos"/>
              </a:rPr>
              <a:t>· </a:t>
            </a:r>
            <a:r>
              <a:rPr sz="900" b="1" dirty="0" err="1">
                <a:solidFill>
                  <a:srgbClr val="64748B"/>
                </a:solidFill>
                <a:latin typeface="Aptos"/>
              </a:rPr>
              <a:t>OpenClassrooms</a:t>
            </a:r>
            <a:endParaRPr sz="900" b="1" dirty="0">
              <a:solidFill>
                <a:srgbClr val="64748B"/>
              </a:solidFill>
              <a:latin typeface="Aptos"/>
            </a:endParaRPr>
          </a:p>
        </p:txBody>
      </p:sp>
      <p:sp>
        <p:nvSpPr>
          <p:cNvPr id="6" name="TextBox 5"/>
          <p:cNvSpPr txBox="1"/>
          <p:nvPr/>
        </p:nvSpPr>
        <p:spPr>
          <a:xfrm>
            <a:off x="11384280" y="6565392"/>
            <a:ext cx="411480" cy="164592"/>
          </a:xfrm>
          <a:prstGeom prst="rect">
            <a:avLst/>
          </a:prstGeom>
          <a:noFill/>
        </p:spPr>
        <p:txBody>
          <a:bodyPr wrap="square" lIns="36576" tIns="18288" rIns="36576" bIns="18288" anchor="t">
            <a:spAutoFit/>
          </a:bodyPr>
          <a:lstStyle/>
          <a:p>
            <a:pPr algn="r"/>
            <a:r>
              <a:rPr sz="750" b="0">
                <a:solidFill>
                  <a:srgbClr val="64748B"/>
                </a:solidFill>
                <a:latin typeface="Aptos"/>
              </a:rPr>
              <a:t>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11480" y="301752"/>
            <a:ext cx="11365992" cy="1051560"/>
          </a:xfrm>
          <a:prstGeom prst="roundRect">
            <a:avLst/>
          </a:prstGeom>
          <a:solidFill>
            <a:srgbClr val="172554"/>
          </a:solidFill>
          <a:ln>
            <a:solidFill>
              <a:srgbClr val="172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502920"/>
            <a:ext cx="2560320" cy="228600"/>
          </a:xfrm>
          <a:prstGeom prst="rect">
            <a:avLst/>
          </a:prstGeom>
          <a:noFill/>
        </p:spPr>
        <p:txBody>
          <a:bodyPr wrap="square" lIns="36576" tIns="18288" rIns="36576" bIns="18288" anchor="t">
            <a:spAutoFit/>
          </a:bodyPr>
          <a:lstStyle/>
          <a:p>
            <a:pPr algn="l"/>
            <a:r>
              <a:rPr sz="850" b="1">
                <a:solidFill>
                  <a:srgbClr val="BFDBFE"/>
                </a:solidFill>
                <a:latin typeface="Aptos"/>
              </a:rPr>
              <a:t>PROJET 11 · MOCK-UP</a:t>
            </a:r>
          </a:p>
        </p:txBody>
      </p:sp>
      <p:sp>
        <p:nvSpPr>
          <p:cNvPr id="4" name="TextBox 3"/>
          <p:cNvSpPr txBox="1"/>
          <p:nvPr/>
        </p:nvSpPr>
        <p:spPr>
          <a:xfrm>
            <a:off x="713232" y="713232"/>
            <a:ext cx="9784080" cy="347472"/>
          </a:xfrm>
          <a:prstGeom prst="rect">
            <a:avLst/>
          </a:prstGeom>
          <a:noFill/>
        </p:spPr>
        <p:txBody>
          <a:bodyPr wrap="square" lIns="36576" tIns="18288" rIns="36576" bIns="18288" anchor="t">
            <a:spAutoFit/>
          </a:bodyPr>
          <a:lstStyle/>
          <a:p>
            <a:pPr algn="l"/>
            <a:r>
              <a:rPr sz="2400" b="1">
                <a:solidFill>
                  <a:srgbClr val="FFFFFF"/>
                </a:solidFill>
                <a:latin typeface="Aptos"/>
              </a:rPr>
              <a:t>Annotations fonctionnelles</a:t>
            </a:r>
          </a:p>
        </p:txBody>
      </p:sp>
      <p:sp>
        <p:nvSpPr>
          <p:cNvPr id="5" name="TextBox 4"/>
          <p:cNvSpPr txBox="1"/>
          <p:nvPr/>
        </p:nvSpPr>
        <p:spPr>
          <a:xfrm>
            <a:off x="713232" y="1078992"/>
            <a:ext cx="9784080" cy="201168"/>
          </a:xfrm>
          <a:prstGeom prst="rect">
            <a:avLst/>
          </a:prstGeom>
          <a:noFill/>
        </p:spPr>
        <p:txBody>
          <a:bodyPr wrap="square" lIns="36576" tIns="18288" rIns="36576" bIns="18288" anchor="t">
            <a:spAutoFit/>
          </a:bodyPr>
          <a:lstStyle/>
          <a:p>
            <a:pPr algn="l"/>
            <a:r>
              <a:rPr sz="1050" b="0">
                <a:solidFill>
                  <a:srgbClr val="DBEAFE"/>
                </a:solidFill>
                <a:latin typeface="Aptos"/>
              </a:rPr>
              <a:t>Lecture du mock-up et lien avec les exigences Aéroworld.</a:t>
            </a:r>
          </a:p>
        </p:txBody>
      </p:sp>
      <p:sp>
        <p:nvSpPr>
          <p:cNvPr id="6" name="Oval 5"/>
          <p:cNvSpPr/>
          <p:nvPr/>
        </p:nvSpPr>
        <p:spPr>
          <a:xfrm>
            <a:off x="10789920" y="91440"/>
            <a:ext cx="1325880" cy="1325880"/>
          </a:xfrm>
          <a:prstGeom prst="ellipse">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_clean_modern_dashboard_ui_screenshot_in_french_2_batch_1.png"/>
          <p:cNvPicPr>
            <a:picLocks noChangeAspect="1"/>
          </p:cNvPicPr>
          <p:nvPr/>
        </p:nvPicPr>
        <p:blipFill>
          <a:blip r:embed="rId2"/>
          <a:stretch>
            <a:fillRect/>
          </a:stretch>
        </p:blipFill>
        <p:spPr>
          <a:xfrm>
            <a:off x="135083" y="1433530"/>
            <a:ext cx="6494318" cy="5131862"/>
          </a:xfrm>
          <a:prstGeom prst="rect">
            <a:avLst/>
          </a:prstGeom>
        </p:spPr>
      </p:pic>
      <p:sp>
        <p:nvSpPr>
          <p:cNvPr id="13" name="Rounded Rectangle 12"/>
          <p:cNvSpPr/>
          <p:nvPr/>
        </p:nvSpPr>
        <p:spPr>
          <a:xfrm>
            <a:off x="6629400" y="1540764"/>
            <a:ext cx="5074920" cy="56692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93992" y="1623060"/>
            <a:ext cx="4745736" cy="164592"/>
          </a:xfrm>
          <a:prstGeom prst="rect">
            <a:avLst/>
          </a:prstGeom>
          <a:noFill/>
        </p:spPr>
        <p:txBody>
          <a:bodyPr wrap="square" lIns="36576" tIns="18288" rIns="36576" bIns="18288" anchor="t">
            <a:spAutoFit/>
          </a:bodyPr>
          <a:lstStyle/>
          <a:p>
            <a:pPr algn="l"/>
            <a:r>
              <a:rPr sz="1030" b="1" dirty="0">
                <a:solidFill>
                  <a:srgbClr val="2563EB"/>
                </a:solidFill>
                <a:latin typeface="Aptos"/>
              </a:rPr>
              <a:t>1. </a:t>
            </a:r>
            <a:r>
              <a:rPr sz="1030" b="1" dirty="0" err="1">
                <a:solidFill>
                  <a:srgbClr val="2563EB"/>
                </a:solidFill>
                <a:latin typeface="Aptos"/>
              </a:rPr>
              <a:t>Indicateurs</a:t>
            </a:r>
            <a:r>
              <a:rPr sz="1030" b="1" dirty="0">
                <a:solidFill>
                  <a:srgbClr val="2563EB"/>
                </a:solidFill>
                <a:latin typeface="Aptos"/>
              </a:rPr>
              <a:t> de </a:t>
            </a:r>
            <a:r>
              <a:rPr sz="1030" b="1" dirty="0" err="1">
                <a:solidFill>
                  <a:srgbClr val="2563EB"/>
                </a:solidFill>
                <a:latin typeface="Aptos"/>
              </a:rPr>
              <a:t>veille</a:t>
            </a:r>
            <a:endParaRPr sz="1030" b="1" dirty="0">
              <a:solidFill>
                <a:srgbClr val="2563EB"/>
              </a:solidFill>
              <a:latin typeface="Aptos"/>
            </a:endParaRPr>
          </a:p>
        </p:txBody>
      </p:sp>
      <p:sp>
        <p:nvSpPr>
          <p:cNvPr id="15" name="TextBox 14"/>
          <p:cNvSpPr txBox="1"/>
          <p:nvPr/>
        </p:nvSpPr>
        <p:spPr>
          <a:xfrm>
            <a:off x="6793992" y="1833372"/>
            <a:ext cx="4745736" cy="274320"/>
          </a:xfrm>
          <a:prstGeom prst="rect">
            <a:avLst/>
          </a:prstGeom>
          <a:noFill/>
        </p:spPr>
        <p:txBody>
          <a:bodyPr wrap="square" lIns="36576" tIns="18288" rIns="36576" bIns="18288" anchor="t">
            <a:spAutoFit/>
          </a:bodyPr>
          <a:lstStyle/>
          <a:p>
            <a:pPr algn="l"/>
            <a:r>
              <a:rPr sz="860" b="0" dirty="0" err="1">
                <a:solidFill>
                  <a:srgbClr val="0F172A"/>
                </a:solidFill>
                <a:latin typeface="Aptos"/>
              </a:rPr>
              <a:t>Synthèse</a:t>
            </a:r>
            <a:r>
              <a:rPr sz="860" b="0" dirty="0">
                <a:solidFill>
                  <a:srgbClr val="0F172A"/>
                </a:solidFill>
                <a:latin typeface="Aptos"/>
              </a:rPr>
              <a:t> </a:t>
            </a:r>
            <a:r>
              <a:rPr sz="860" b="0" dirty="0" err="1">
                <a:solidFill>
                  <a:srgbClr val="0F172A"/>
                </a:solidFill>
                <a:latin typeface="Aptos"/>
              </a:rPr>
              <a:t>immédiate</a:t>
            </a:r>
            <a:r>
              <a:rPr sz="860" b="0" dirty="0">
                <a:solidFill>
                  <a:srgbClr val="0F172A"/>
                </a:solidFill>
                <a:latin typeface="Aptos"/>
              </a:rPr>
              <a:t> du volume de sources, </a:t>
            </a:r>
            <a:r>
              <a:rPr sz="860" b="0" dirty="0" err="1">
                <a:solidFill>
                  <a:srgbClr val="0F172A"/>
                </a:solidFill>
                <a:latin typeface="Aptos"/>
              </a:rPr>
              <a:t>thématiques</a:t>
            </a:r>
            <a:r>
              <a:rPr sz="860" b="0" dirty="0">
                <a:solidFill>
                  <a:srgbClr val="0F172A"/>
                </a:solidFill>
                <a:latin typeface="Aptos"/>
              </a:rPr>
              <a:t>, </a:t>
            </a:r>
            <a:r>
              <a:rPr sz="860" b="0" dirty="0" err="1">
                <a:solidFill>
                  <a:srgbClr val="0F172A"/>
                </a:solidFill>
                <a:latin typeface="Aptos"/>
              </a:rPr>
              <a:t>alertes</a:t>
            </a:r>
            <a:r>
              <a:rPr sz="860" b="0" dirty="0">
                <a:solidFill>
                  <a:srgbClr val="0F172A"/>
                </a:solidFill>
                <a:latin typeface="Aptos"/>
              </a:rPr>
              <a:t> et </a:t>
            </a:r>
            <a:r>
              <a:rPr sz="860" b="0" dirty="0" err="1">
                <a:solidFill>
                  <a:srgbClr val="0F172A"/>
                </a:solidFill>
                <a:latin typeface="Aptos"/>
              </a:rPr>
              <a:t>recommandations</a:t>
            </a:r>
            <a:r>
              <a:rPr sz="860" b="0" dirty="0">
                <a:solidFill>
                  <a:srgbClr val="0F172A"/>
                </a:solidFill>
                <a:latin typeface="Aptos"/>
              </a:rPr>
              <a:t>.</a:t>
            </a:r>
          </a:p>
        </p:txBody>
      </p:sp>
      <p:sp>
        <p:nvSpPr>
          <p:cNvPr id="16" name="Rounded Rectangle 15"/>
          <p:cNvSpPr/>
          <p:nvPr/>
        </p:nvSpPr>
        <p:spPr>
          <a:xfrm>
            <a:off x="6629400" y="2240280"/>
            <a:ext cx="5074920" cy="566928"/>
          </a:xfrm>
          <a:prstGeom prst="roundRect">
            <a:avLst/>
          </a:prstGeom>
          <a:solidFill>
            <a:srgbClr val="F5F3FF"/>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93992" y="2322576"/>
            <a:ext cx="4745736" cy="164592"/>
          </a:xfrm>
          <a:prstGeom prst="rect">
            <a:avLst/>
          </a:prstGeom>
          <a:noFill/>
        </p:spPr>
        <p:txBody>
          <a:bodyPr wrap="square" lIns="36576" tIns="18288" rIns="36576" bIns="18288" anchor="t">
            <a:spAutoFit/>
          </a:bodyPr>
          <a:lstStyle/>
          <a:p>
            <a:pPr algn="l"/>
            <a:r>
              <a:rPr sz="1030" b="1">
                <a:solidFill>
                  <a:srgbClr val="6D28D9"/>
                </a:solidFill>
                <a:latin typeface="Aptos"/>
              </a:rPr>
              <a:t>2. Impact &amp; maturité</a:t>
            </a:r>
          </a:p>
        </p:txBody>
      </p:sp>
      <p:sp>
        <p:nvSpPr>
          <p:cNvPr id="18" name="TextBox 17"/>
          <p:cNvSpPr txBox="1"/>
          <p:nvPr/>
        </p:nvSpPr>
        <p:spPr>
          <a:xfrm>
            <a:off x="6793992" y="2532888"/>
            <a:ext cx="4745736" cy="274320"/>
          </a:xfrm>
          <a:prstGeom prst="rect">
            <a:avLst/>
          </a:prstGeom>
          <a:noFill/>
        </p:spPr>
        <p:txBody>
          <a:bodyPr wrap="square" lIns="36576" tIns="18288" rIns="36576" bIns="18288" anchor="t">
            <a:spAutoFit/>
          </a:bodyPr>
          <a:lstStyle/>
          <a:p>
            <a:pPr algn="l"/>
            <a:r>
              <a:rPr sz="860" b="0">
                <a:solidFill>
                  <a:srgbClr val="0F172A"/>
                </a:solidFill>
                <a:latin typeface="Aptos"/>
              </a:rPr>
              <a:t>Priorisation visuelle des thèmes selon leur impact métier et leur maturité technologique.</a:t>
            </a:r>
          </a:p>
        </p:txBody>
      </p:sp>
      <p:sp>
        <p:nvSpPr>
          <p:cNvPr id="19" name="Rounded Rectangle 18"/>
          <p:cNvSpPr/>
          <p:nvPr/>
        </p:nvSpPr>
        <p:spPr>
          <a:xfrm>
            <a:off x="6629400" y="2917812"/>
            <a:ext cx="5074920" cy="566928"/>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93992" y="3021721"/>
            <a:ext cx="4745736" cy="164592"/>
          </a:xfrm>
          <a:prstGeom prst="rect">
            <a:avLst/>
          </a:prstGeom>
          <a:noFill/>
        </p:spPr>
        <p:txBody>
          <a:bodyPr wrap="square" lIns="36576" tIns="18288" rIns="36576" bIns="18288" anchor="t">
            <a:spAutoFit/>
          </a:bodyPr>
          <a:lstStyle/>
          <a:p>
            <a:pPr algn="l"/>
            <a:r>
              <a:rPr sz="1030" b="1" dirty="0">
                <a:solidFill>
                  <a:srgbClr val="0F766E"/>
                </a:solidFill>
                <a:latin typeface="Aptos"/>
              </a:rPr>
              <a:t>3. Sources &amp; </a:t>
            </a:r>
            <a:r>
              <a:rPr sz="1030" b="1" dirty="0" err="1">
                <a:solidFill>
                  <a:srgbClr val="0F766E"/>
                </a:solidFill>
                <a:latin typeface="Aptos"/>
              </a:rPr>
              <a:t>thématiques</a:t>
            </a:r>
            <a:endParaRPr sz="1030" b="1" dirty="0">
              <a:solidFill>
                <a:srgbClr val="0F766E"/>
              </a:solidFill>
              <a:latin typeface="Aptos"/>
            </a:endParaRPr>
          </a:p>
        </p:txBody>
      </p:sp>
      <p:sp>
        <p:nvSpPr>
          <p:cNvPr id="21" name="TextBox 20"/>
          <p:cNvSpPr txBox="1"/>
          <p:nvPr/>
        </p:nvSpPr>
        <p:spPr>
          <a:xfrm>
            <a:off x="6793992" y="3232033"/>
            <a:ext cx="4745736" cy="274320"/>
          </a:xfrm>
          <a:prstGeom prst="rect">
            <a:avLst/>
          </a:prstGeom>
          <a:noFill/>
        </p:spPr>
        <p:txBody>
          <a:bodyPr wrap="square" lIns="36576" tIns="18288" rIns="36576" bIns="18288" anchor="t">
            <a:spAutoFit/>
          </a:bodyPr>
          <a:lstStyle/>
          <a:p>
            <a:pPr algn="l"/>
            <a:r>
              <a:rPr sz="860" b="0" dirty="0">
                <a:solidFill>
                  <a:srgbClr val="0F172A"/>
                </a:solidFill>
                <a:latin typeface="Aptos"/>
              </a:rPr>
              <a:t>Lecture de la couverture de </a:t>
            </a:r>
            <a:r>
              <a:rPr sz="860" b="0" dirty="0" err="1">
                <a:solidFill>
                  <a:srgbClr val="0F172A"/>
                </a:solidFill>
                <a:latin typeface="Aptos"/>
              </a:rPr>
              <a:t>veille</a:t>
            </a:r>
            <a:r>
              <a:rPr sz="860" b="0" dirty="0">
                <a:solidFill>
                  <a:srgbClr val="0F172A"/>
                </a:solidFill>
                <a:latin typeface="Aptos"/>
              </a:rPr>
              <a:t> par canal </a:t>
            </a:r>
            <a:r>
              <a:rPr sz="860" b="0" dirty="0" err="1">
                <a:solidFill>
                  <a:srgbClr val="0F172A"/>
                </a:solidFill>
                <a:latin typeface="Aptos"/>
              </a:rPr>
              <a:t>ou</a:t>
            </a:r>
            <a:r>
              <a:rPr sz="860" b="0" dirty="0">
                <a:solidFill>
                  <a:srgbClr val="0F172A"/>
                </a:solidFill>
                <a:latin typeface="Aptos"/>
              </a:rPr>
              <a:t> </a:t>
            </a:r>
            <a:r>
              <a:rPr sz="860" b="0" dirty="0" err="1">
                <a:solidFill>
                  <a:srgbClr val="0F172A"/>
                </a:solidFill>
                <a:latin typeface="Aptos"/>
              </a:rPr>
              <a:t>domaine</a:t>
            </a:r>
            <a:r>
              <a:rPr sz="860" b="0" dirty="0">
                <a:solidFill>
                  <a:srgbClr val="0F172A"/>
                </a:solidFill>
                <a:latin typeface="Aptos"/>
              </a:rPr>
              <a:t>.</a:t>
            </a:r>
          </a:p>
        </p:txBody>
      </p:sp>
      <p:sp>
        <p:nvSpPr>
          <p:cNvPr id="22" name="Rounded Rectangle 21"/>
          <p:cNvSpPr/>
          <p:nvPr/>
        </p:nvSpPr>
        <p:spPr>
          <a:xfrm>
            <a:off x="6629400" y="3627718"/>
            <a:ext cx="5074920" cy="566928"/>
          </a:xfrm>
          <a:prstGeom prst="roundRect">
            <a:avLst/>
          </a:prstGeom>
          <a:solidFill>
            <a:srgbClr val="FFF7ED"/>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93992" y="3710014"/>
            <a:ext cx="4745736" cy="164592"/>
          </a:xfrm>
          <a:prstGeom prst="rect">
            <a:avLst/>
          </a:prstGeom>
          <a:noFill/>
        </p:spPr>
        <p:txBody>
          <a:bodyPr wrap="square" lIns="36576" tIns="18288" rIns="36576" bIns="18288" anchor="t">
            <a:spAutoFit/>
          </a:bodyPr>
          <a:lstStyle/>
          <a:p>
            <a:pPr algn="l"/>
            <a:r>
              <a:rPr sz="1030" b="1" dirty="0">
                <a:solidFill>
                  <a:srgbClr val="B45309"/>
                </a:solidFill>
                <a:latin typeface="Aptos"/>
              </a:rPr>
              <a:t>4. </a:t>
            </a:r>
            <a:r>
              <a:rPr sz="1030" b="1" dirty="0" err="1">
                <a:solidFill>
                  <a:srgbClr val="B45309"/>
                </a:solidFill>
                <a:latin typeface="Aptos"/>
              </a:rPr>
              <a:t>Recommandations</a:t>
            </a:r>
            <a:endParaRPr sz="1030" b="1" dirty="0">
              <a:solidFill>
                <a:srgbClr val="B45309"/>
              </a:solidFill>
              <a:latin typeface="Aptos"/>
            </a:endParaRPr>
          </a:p>
        </p:txBody>
      </p:sp>
      <p:sp>
        <p:nvSpPr>
          <p:cNvPr id="24" name="TextBox 23"/>
          <p:cNvSpPr txBox="1"/>
          <p:nvPr/>
        </p:nvSpPr>
        <p:spPr>
          <a:xfrm>
            <a:off x="6793992" y="3920326"/>
            <a:ext cx="4745736" cy="274320"/>
          </a:xfrm>
          <a:prstGeom prst="rect">
            <a:avLst/>
          </a:prstGeom>
          <a:noFill/>
        </p:spPr>
        <p:txBody>
          <a:bodyPr wrap="square" lIns="36576" tIns="18288" rIns="36576" bIns="18288" anchor="t">
            <a:spAutoFit/>
          </a:bodyPr>
          <a:lstStyle/>
          <a:p>
            <a:pPr algn="l"/>
            <a:r>
              <a:rPr sz="860" b="0" dirty="0">
                <a:solidFill>
                  <a:srgbClr val="0F172A"/>
                </a:solidFill>
                <a:latin typeface="Aptos"/>
              </a:rPr>
              <a:t>Transformation de la </a:t>
            </a:r>
            <a:r>
              <a:rPr sz="860" b="0" dirty="0" err="1">
                <a:solidFill>
                  <a:srgbClr val="0F172A"/>
                </a:solidFill>
                <a:latin typeface="Aptos"/>
              </a:rPr>
              <a:t>veille</a:t>
            </a:r>
            <a:r>
              <a:rPr sz="860" b="0" dirty="0">
                <a:solidFill>
                  <a:srgbClr val="0F172A"/>
                </a:solidFill>
                <a:latin typeface="Aptos"/>
              </a:rPr>
              <a:t> </a:t>
            </a:r>
            <a:r>
              <a:rPr sz="860" b="0" dirty="0" err="1">
                <a:solidFill>
                  <a:srgbClr val="0F172A"/>
                </a:solidFill>
                <a:latin typeface="Aptos"/>
              </a:rPr>
              <a:t>en</a:t>
            </a:r>
            <a:r>
              <a:rPr sz="860" b="0" dirty="0">
                <a:solidFill>
                  <a:srgbClr val="0F172A"/>
                </a:solidFill>
                <a:latin typeface="Aptos"/>
              </a:rPr>
              <a:t> </a:t>
            </a:r>
            <a:r>
              <a:rPr sz="860" b="0" dirty="0" err="1">
                <a:solidFill>
                  <a:srgbClr val="0F172A"/>
                </a:solidFill>
                <a:latin typeface="Aptos"/>
              </a:rPr>
              <a:t>décisions</a:t>
            </a:r>
            <a:r>
              <a:rPr sz="860" b="0" dirty="0">
                <a:solidFill>
                  <a:srgbClr val="0F172A"/>
                </a:solidFill>
                <a:latin typeface="Aptos"/>
              </a:rPr>
              <a:t> </a:t>
            </a:r>
            <a:r>
              <a:rPr sz="860" b="0" dirty="0" err="1">
                <a:solidFill>
                  <a:srgbClr val="0F172A"/>
                </a:solidFill>
                <a:latin typeface="Aptos"/>
              </a:rPr>
              <a:t>exploitables</a:t>
            </a:r>
            <a:r>
              <a:rPr sz="860" b="0" dirty="0">
                <a:solidFill>
                  <a:srgbClr val="0F172A"/>
                </a:solidFill>
                <a:latin typeface="Aptos"/>
              </a:rPr>
              <a:t> par les équipes.</a:t>
            </a:r>
          </a:p>
        </p:txBody>
      </p:sp>
      <p:sp>
        <p:nvSpPr>
          <p:cNvPr id="25" name="Rounded Rectangle 24"/>
          <p:cNvSpPr/>
          <p:nvPr/>
        </p:nvSpPr>
        <p:spPr>
          <a:xfrm>
            <a:off x="6629400" y="4315137"/>
            <a:ext cx="5074920" cy="566928"/>
          </a:xfrm>
          <a:prstGeom prst="roundRect">
            <a:avLst/>
          </a:prstGeom>
          <a:solidFill>
            <a:srgbClr val="ECFEFF"/>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62572" y="4442322"/>
            <a:ext cx="4745736" cy="164592"/>
          </a:xfrm>
          <a:prstGeom prst="rect">
            <a:avLst/>
          </a:prstGeom>
          <a:noFill/>
        </p:spPr>
        <p:txBody>
          <a:bodyPr wrap="square" lIns="36576" tIns="18288" rIns="36576" bIns="18288" anchor="t">
            <a:spAutoFit/>
          </a:bodyPr>
          <a:lstStyle/>
          <a:p>
            <a:pPr algn="l"/>
            <a:r>
              <a:rPr sz="1030" b="1" dirty="0">
                <a:solidFill>
                  <a:srgbClr val="0891B2"/>
                </a:solidFill>
                <a:latin typeface="Aptos"/>
              </a:rPr>
              <a:t>5. Actions à lancer</a:t>
            </a:r>
          </a:p>
        </p:txBody>
      </p:sp>
      <p:sp>
        <p:nvSpPr>
          <p:cNvPr id="27" name="TextBox 26"/>
          <p:cNvSpPr txBox="1"/>
          <p:nvPr/>
        </p:nvSpPr>
        <p:spPr>
          <a:xfrm>
            <a:off x="6862572" y="4652634"/>
            <a:ext cx="4745736" cy="274320"/>
          </a:xfrm>
          <a:prstGeom prst="rect">
            <a:avLst/>
          </a:prstGeom>
          <a:noFill/>
        </p:spPr>
        <p:txBody>
          <a:bodyPr wrap="square" lIns="36576" tIns="18288" rIns="36576" bIns="18288" anchor="t">
            <a:spAutoFit/>
          </a:bodyPr>
          <a:lstStyle/>
          <a:p>
            <a:pPr algn="l"/>
            <a:r>
              <a:rPr sz="860" b="0" dirty="0">
                <a:solidFill>
                  <a:srgbClr val="0F172A"/>
                </a:solidFill>
                <a:latin typeface="Aptos"/>
              </a:rPr>
              <a:t>Passage de </a:t>
            </a:r>
            <a:r>
              <a:rPr sz="860" b="0" dirty="0" err="1">
                <a:solidFill>
                  <a:srgbClr val="0F172A"/>
                </a:solidFill>
                <a:latin typeface="Aptos"/>
              </a:rPr>
              <a:t>l’observation</a:t>
            </a:r>
            <a:r>
              <a:rPr sz="860" b="0" dirty="0">
                <a:solidFill>
                  <a:srgbClr val="0F172A"/>
                </a:solidFill>
                <a:latin typeface="Aptos"/>
              </a:rPr>
              <a:t> à </a:t>
            </a:r>
            <a:r>
              <a:rPr sz="860" b="0" dirty="0" err="1">
                <a:solidFill>
                  <a:srgbClr val="0F172A"/>
                </a:solidFill>
                <a:latin typeface="Aptos"/>
              </a:rPr>
              <a:t>l’expérimentation</a:t>
            </a:r>
            <a:r>
              <a:rPr sz="860" b="0" dirty="0">
                <a:solidFill>
                  <a:srgbClr val="0F172A"/>
                </a:solidFill>
                <a:latin typeface="Aptos"/>
              </a:rPr>
              <a:t> : benchmark, POC, roadmap.</a:t>
            </a:r>
          </a:p>
        </p:txBody>
      </p:sp>
      <p:sp>
        <p:nvSpPr>
          <p:cNvPr id="30" name="TextBox 29"/>
          <p:cNvSpPr txBox="1"/>
          <p:nvPr/>
        </p:nvSpPr>
        <p:spPr>
          <a:xfrm>
            <a:off x="135083" y="6645610"/>
            <a:ext cx="6858000" cy="175433"/>
          </a:xfrm>
          <a:prstGeom prst="rect">
            <a:avLst/>
          </a:prstGeom>
          <a:noFill/>
        </p:spPr>
        <p:txBody>
          <a:bodyPr wrap="square" lIns="36576" tIns="18288" rIns="36576" bIns="18288" anchor="t">
            <a:spAutoFit/>
          </a:bodyPr>
          <a:lstStyle/>
          <a:p>
            <a:pPr algn="l"/>
            <a:r>
              <a:rPr sz="900" b="1" dirty="0">
                <a:solidFill>
                  <a:srgbClr val="64748B"/>
                </a:solidFill>
                <a:latin typeface="Aptos"/>
              </a:rPr>
              <a:t>Henrique Da Costa · Business Intelligence Analyst · </a:t>
            </a:r>
            <a:r>
              <a:rPr sz="900" b="1" dirty="0" err="1">
                <a:solidFill>
                  <a:srgbClr val="64748B"/>
                </a:solidFill>
                <a:latin typeface="Aptos"/>
              </a:rPr>
              <a:t>OpenClassrooms</a:t>
            </a:r>
            <a:endParaRPr sz="900" b="1" dirty="0">
              <a:solidFill>
                <a:srgbClr val="64748B"/>
              </a:solidFill>
              <a:latin typeface="Aptos"/>
            </a:endParaRPr>
          </a:p>
        </p:txBody>
      </p:sp>
      <p:sp>
        <p:nvSpPr>
          <p:cNvPr id="31" name="TextBox 30"/>
          <p:cNvSpPr txBox="1"/>
          <p:nvPr/>
        </p:nvSpPr>
        <p:spPr>
          <a:xfrm>
            <a:off x="11384280" y="6565392"/>
            <a:ext cx="411480" cy="164592"/>
          </a:xfrm>
          <a:prstGeom prst="rect">
            <a:avLst/>
          </a:prstGeom>
          <a:noFill/>
        </p:spPr>
        <p:txBody>
          <a:bodyPr wrap="square" lIns="36576" tIns="18288" rIns="36576" bIns="18288" anchor="t">
            <a:spAutoFit/>
          </a:bodyPr>
          <a:lstStyle/>
          <a:p>
            <a:pPr algn="r"/>
            <a:r>
              <a:rPr sz="750" b="0">
                <a:solidFill>
                  <a:srgbClr val="64748B"/>
                </a:solidFill>
                <a:latin typeface="Aptos"/>
              </a:rPr>
              <a:t>3/3</a:t>
            </a:r>
          </a:p>
        </p:txBody>
      </p:sp>
      <p:sp>
        <p:nvSpPr>
          <p:cNvPr id="32" name="Rounded Rectangle 31"/>
          <p:cNvSpPr/>
          <p:nvPr/>
        </p:nvSpPr>
        <p:spPr>
          <a:xfrm>
            <a:off x="6629400" y="5032481"/>
            <a:ext cx="5074920" cy="633845"/>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wrap="square" lIns="109728" rIns="73152" bIns="27432" rtlCol="0" anchor="ctr"/>
          <a:lstStyle/>
          <a:p>
            <a:pPr>
              <a:spcBef>
                <a:spcPts val="100"/>
              </a:spcBef>
            </a:pPr>
            <a:r>
              <a:rPr sz="860" b="0" dirty="0">
                <a:solidFill>
                  <a:srgbClr val="0F172A"/>
                </a:solidFill>
                <a:latin typeface="Aptos"/>
              </a:rPr>
              <a:t>.</a:t>
            </a:r>
          </a:p>
        </p:txBody>
      </p:sp>
      <p:sp>
        <p:nvSpPr>
          <p:cNvPr id="33" name="Rounded Rectangle 32"/>
          <p:cNvSpPr/>
          <p:nvPr/>
        </p:nvSpPr>
        <p:spPr>
          <a:xfrm>
            <a:off x="6629400" y="5809348"/>
            <a:ext cx="5074920" cy="610986"/>
          </a:xfrm>
          <a:prstGeom prst="roundRect">
            <a:avLst/>
          </a:prstGeom>
          <a:solidFill>
            <a:srgbClr val="FFF7ED"/>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wrap="square" lIns="109728" rIns="73152" bIns="27432" rtlCol="0" anchor="ctr"/>
          <a:lstStyle/>
          <a:p>
            <a:pPr algn="ctr"/>
            <a:r>
              <a:rPr sz="1000" b="1" dirty="0" err="1">
                <a:solidFill>
                  <a:srgbClr val="B45309"/>
                </a:solidFill>
                <a:latin typeface="Aptos"/>
              </a:rPr>
              <a:t>Critères</a:t>
            </a:r>
            <a:r>
              <a:rPr sz="1000" b="1" dirty="0">
                <a:solidFill>
                  <a:srgbClr val="B45309"/>
                </a:solidFill>
                <a:latin typeface="Aptos"/>
              </a:rPr>
              <a:t> de validation</a:t>
            </a:r>
          </a:p>
          <a:p>
            <a:pPr>
              <a:spcBef>
                <a:spcPts val="100"/>
              </a:spcBef>
            </a:pPr>
            <a:r>
              <a:rPr sz="1000" b="0" dirty="0">
                <a:solidFill>
                  <a:srgbClr val="0F172A"/>
                </a:solidFill>
                <a:latin typeface="Aptos"/>
              </a:rPr>
              <a:t>Dashboard </a:t>
            </a:r>
            <a:r>
              <a:rPr sz="1000" b="0" dirty="0" err="1">
                <a:solidFill>
                  <a:srgbClr val="0F172A"/>
                </a:solidFill>
                <a:latin typeface="Aptos"/>
              </a:rPr>
              <a:t>lisible</a:t>
            </a:r>
            <a:r>
              <a:rPr sz="1000" b="0" dirty="0">
                <a:solidFill>
                  <a:srgbClr val="0F172A"/>
                </a:solidFill>
                <a:latin typeface="Aptos"/>
              </a:rPr>
              <a:t> </a:t>
            </a:r>
            <a:r>
              <a:rPr sz="1000" b="0" dirty="0" err="1">
                <a:solidFill>
                  <a:srgbClr val="0F172A"/>
                </a:solidFill>
                <a:latin typeface="Aptos"/>
              </a:rPr>
              <a:t>en</a:t>
            </a:r>
            <a:r>
              <a:rPr sz="1000" b="0" dirty="0">
                <a:solidFill>
                  <a:srgbClr val="0F172A"/>
                </a:solidFill>
                <a:latin typeface="Aptos"/>
              </a:rPr>
              <a:t> </a:t>
            </a:r>
            <a:r>
              <a:rPr sz="1000" b="0" dirty="0" err="1">
                <a:solidFill>
                  <a:srgbClr val="0F172A"/>
                </a:solidFill>
                <a:latin typeface="Aptos"/>
              </a:rPr>
              <a:t>moins</a:t>
            </a:r>
            <a:r>
              <a:rPr sz="1000" b="0" dirty="0">
                <a:solidFill>
                  <a:srgbClr val="0F172A"/>
                </a:solidFill>
                <a:latin typeface="Aptos"/>
              </a:rPr>
              <a:t> de 3 minutes ; sources </a:t>
            </a:r>
            <a:r>
              <a:rPr sz="1000" b="0" dirty="0" err="1">
                <a:solidFill>
                  <a:srgbClr val="0F172A"/>
                </a:solidFill>
                <a:latin typeface="Aptos"/>
              </a:rPr>
              <a:t>traçables</a:t>
            </a:r>
            <a:r>
              <a:rPr sz="1000" b="0" dirty="0">
                <a:solidFill>
                  <a:srgbClr val="0F172A"/>
                </a:solidFill>
                <a:latin typeface="Aptos"/>
              </a:rPr>
              <a:t> ; </a:t>
            </a:r>
            <a:r>
              <a:rPr sz="1000" b="0" dirty="0" err="1">
                <a:solidFill>
                  <a:srgbClr val="0F172A"/>
                </a:solidFill>
                <a:latin typeface="Aptos"/>
              </a:rPr>
              <a:t>filtres</a:t>
            </a:r>
            <a:r>
              <a:rPr sz="1000" b="0" dirty="0">
                <a:solidFill>
                  <a:srgbClr val="0F172A"/>
                </a:solidFill>
                <a:latin typeface="Aptos"/>
              </a:rPr>
              <a:t> </a:t>
            </a:r>
            <a:r>
              <a:rPr sz="1000" b="0" dirty="0" err="1">
                <a:solidFill>
                  <a:srgbClr val="0F172A"/>
                </a:solidFill>
                <a:latin typeface="Aptos"/>
              </a:rPr>
              <a:t>compréhensibles</a:t>
            </a:r>
            <a:r>
              <a:rPr sz="1000" b="0" dirty="0">
                <a:solidFill>
                  <a:srgbClr val="0F172A"/>
                </a:solidFill>
                <a:latin typeface="Aptos"/>
              </a:rPr>
              <a:t> ; </a:t>
            </a:r>
            <a:r>
              <a:rPr sz="1000" b="0" dirty="0" err="1">
                <a:solidFill>
                  <a:srgbClr val="0F172A"/>
                </a:solidFill>
                <a:latin typeface="Aptos"/>
              </a:rPr>
              <a:t>recommandations</a:t>
            </a:r>
            <a:r>
              <a:rPr sz="1000" b="0" dirty="0">
                <a:solidFill>
                  <a:srgbClr val="0F172A"/>
                </a:solidFill>
                <a:latin typeface="Aptos"/>
              </a:rPr>
              <a:t> </a:t>
            </a:r>
            <a:r>
              <a:rPr sz="1000" b="0" dirty="0" err="1">
                <a:solidFill>
                  <a:srgbClr val="0F172A"/>
                </a:solidFill>
                <a:latin typeface="Aptos"/>
              </a:rPr>
              <a:t>actionnables</a:t>
            </a:r>
            <a:r>
              <a:rPr sz="1000" b="0" dirty="0">
                <a:solidFill>
                  <a:srgbClr val="0F172A"/>
                </a:solidFill>
                <a:latin typeface="Aptos"/>
              </a:rPr>
              <a:t>.</a:t>
            </a:r>
          </a:p>
        </p:txBody>
      </p:sp>
      <p:sp>
        <p:nvSpPr>
          <p:cNvPr id="34" name="TextBox 25">
            <a:extLst>
              <a:ext uri="{FF2B5EF4-FFF2-40B4-BE49-F238E27FC236}">
                <a16:creationId xmlns:a16="http://schemas.microsoft.com/office/drawing/2014/main" id="{60328979-999B-30B8-5CDC-5CFC6092A4AD}"/>
              </a:ext>
            </a:extLst>
          </p:cNvPr>
          <p:cNvSpPr txBox="1"/>
          <p:nvPr/>
        </p:nvSpPr>
        <p:spPr>
          <a:xfrm>
            <a:off x="6862572" y="5100557"/>
            <a:ext cx="4745736" cy="195438"/>
          </a:xfrm>
          <a:prstGeom prst="rect">
            <a:avLst/>
          </a:prstGeom>
          <a:noFill/>
        </p:spPr>
        <p:txBody>
          <a:bodyPr wrap="square" lIns="36576" tIns="18288" rIns="36576" bIns="18288" anchor="t">
            <a:spAutoFit/>
          </a:bodyPr>
          <a:lstStyle/>
          <a:p>
            <a:r>
              <a:rPr lang="fr-FR" sz="1030" b="1" dirty="0">
                <a:solidFill>
                  <a:srgbClr val="0F766E"/>
                </a:solidFill>
                <a:latin typeface="Aptos"/>
              </a:rPr>
              <a:t>6. Filtres &amp; traçabilité</a:t>
            </a:r>
            <a:endParaRPr sz="1030" b="1" dirty="0">
              <a:solidFill>
                <a:srgbClr val="0891B2"/>
              </a:solidFill>
              <a:latin typeface="Aptos"/>
            </a:endParaRPr>
          </a:p>
        </p:txBody>
      </p:sp>
      <p:sp>
        <p:nvSpPr>
          <p:cNvPr id="36" name="TextBox 26">
            <a:extLst>
              <a:ext uri="{FF2B5EF4-FFF2-40B4-BE49-F238E27FC236}">
                <a16:creationId xmlns:a16="http://schemas.microsoft.com/office/drawing/2014/main" id="{70182E8B-B37E-A82C-DB6B-BCA666899BE7}"/>
              </a:ext>
            </a:extLst>
          </p:cNvPr>
          <p:cNvSpPr txBox="1"/>
          <p:nvPr/>
        </p:nvSpPr>
        <p:spPr>
          <a:xfrm>
            <a:off x="6862572" y="5332571"/>
            <a:ext cx="4745736" cy="301621"/>
          </a:xfrm>
          <a:prstGeom prst="rect">
            <a:avLst/>
          </a:prstGeom>
          <a:noFill/>
        </p:spPr>
        <p:txBody>
          <a:bodyPr wrap="square" lIns="36576" tIns="18288" rIns="36576" bIns="18288" anchor="t">
            <a:spAutoFit/>
          </a:bodyPr>
          <a:lstStyle/>
          <a:p>
            <a:r>
              <a:rPr lang="fr-FR" sz="860" dirty="0">
                <a:solidFill>
                  <a:srgbClr val="0F172A"/>
                </a:solidFill>
                <a:latin typeface="Aptos"/>
              </a:rPr>
              <a:t>Filtrer par période, source, thématique, impact et maturité ; conserver le lien vers les sources utilisées</a:t>
            </a:r>
            <a:endParaRPr sz="860" b="0" dirty="0">
              <a:solidFill>
                <a:srgbClr val="0F172A"/>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40</TotalTime>
  <Words>369</Words>
  <Application>Microsoft Office PowerPoint</Application>
  <PresentationFormat>Grand écran</PresentationFormat>
  <Paragraphs>53</Paragraphs>
  <Slides>3</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vt:i4>
      </vt:variant>
    </vt:vector>
  </HeadingPairs>
  <TitlesOfParts>
    <vt:vector size="7" baseType="lpstr">
      <vt:lpstr>Aptos</vt:lpstr>
      <vt:lpstr>Arial</vt:lpstr>
      <vt:lpstr>Calibri</vt:lpstr>
      <vt:lpstr>Office Theme</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Henrique Da Costa</dc:creator>
  <cp:keywords/>
  <dc:description>generated using python-pptx</dc:description>
  <cp:lastModifiedBy>Henrique Da Costa</cp:lastModifiedBy>
  <cp:revision>6</cp:revision>
  <dcterms:created xsi:type="dcterms:W3CDTF">2013-01-27T09:14:16Z</dcterms:created>
  <dcterms:modified xsi:type="dcterms:W3CDTF">2026-06-30T14:45:28Z</dcterms:modified>
  <cp:category/>
</cp:coreProperties>
</file>