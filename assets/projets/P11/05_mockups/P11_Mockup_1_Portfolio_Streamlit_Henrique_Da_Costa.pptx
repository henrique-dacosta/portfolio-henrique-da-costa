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299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65392"/>
            <a:ext cx="6858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11 - </a:t>
            </a: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Mock-up</a:t>
            </a: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portfolio Streamlit - Henrique Da Costa</a:t>
            </a:r>
            <a:endParaRPr lang="en-US" sz="800" b="1" dirty="0"/>
          </a:p>
        </p:txBody>
      </p:sp>
      <p:sp>
        <p:nvSpPr>
          <p:cNvPr id="3" name="Text 1"/>
          <p:cNvSpPr/>
          <p:nvPr/>
        </p:nvSpPr>
        <p:spPr>
          <a:xfrm>
            <a:off x="8514735" y="6565392"/>
            <a:ext cx="337246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OpenClassrooms</a:t>
            </a: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- </a:t>
            </a:r>
            <a:r>
              <a:rPr lang="en-US" sz="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Intelligence Analyst</a:t>
            </a:r>
            <a:endParaRPr lang="en-US" sz="9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17190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 de conception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084832"/>
            <a:ext cx="3383280" cy="1243584"/>
          </a:xfrm>
          <a:prstGeom prst="rect">
            <a:avLst/>
          </a:prstGeom>
          <a:solidFill>
            <a:srgbClr val="EFF6FF"/>
          </a:solidFill>
          <a:ln>
            <a:solidFill>
              <a:srgbClr val="CBD5E1">
                <a:alpha val="8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2563E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000" b="1" dirty="0">
              <a:solidFill>
                <a:srgbClr val="2563E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Rôle</a:t>
            </a: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du mock-up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Valider l’architecture générale du portfolio avant finalisation : navigation, hiérarchie des contenus, preuves et accès aux livrables.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34840" y="2084832"/>
            <a:ext cx="3383280" cy="1243584"/>
          </a:xfrm>
          <a:prstGeom prst="rect">
            <a:avLst/>
          </a:prstGeom>
          <a:solidFill>
            <a:srgbClr val="ECFDF5"/>
          </a:solidFill>
          <a:ln>
            <a:solidFill>
              <a:srgbClr val="CBD5E1">
                <a:alpha val="8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0F766E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000" b="1" dirty="0">
              <a:solidFill>
                <a:srgbClr val="0F766E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Utilisateur</a:t>
            </a: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b="1" dirty="0" err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cible</a:t>
            </a:r>
            <a:endParaRPr lang="en-US" sz="1100" b="1" dirty="0">
              <a:solidFill>
                <a:srgbClr val="0F766E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Recruteur, mentor OpenClassrooms ou interlocuteur métier cherchant à comprendre le profil en quelques minutes.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66760" y="2084832"/>
            <a:ext cx="3383280" cy="1243584"/>
          </a:xfrm>
          <a:prstGeom prst="rect">
            <a:avLst/>
          </a:prstGeom>
          <a:solidFill>
            <a:srgbClr val="FFF7ED"/>
          </a:solidFill>
          <a:ln>
            <a:solidFill>
              <a:srgbClr val="CBD5E1">
                <a:alpha val="8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B45309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000" b="1" dirty="0">
              <a:solidFill>
                <a:srgbClr val="B45309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 </a:t>
            </a:r>
            <a:r>
              <a:rPr lang="en-US" sz="1100" b="1" dirty="0" err="1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attendu</a:t>
            </a:r>
            <a:endParaRPr lang="en-US" sz="1100" b="1" dirty="0">
              <a:solidFill>
                <a:srgbClr val="B45309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Servir de support de conception et de comparaison avec le portfolio Streamlit final déployé.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358149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Parcours utilisateur cible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947258"/>
            <a:ext cx="2606040" cy="978408"/>
          </a:xfrm>
          <a:prstGeom prst="rect">
            <a:avLst/>
          </a:prstGeom>
          <a:solidFill>
            <a:srgbClr val="EFF6FF"/>
          </a:solidFill>
          <a:ln>
            <a:solidFill>
              <a:srgbClr val="CBD5E1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0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Comprendre
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Positionnement et proposition de valeur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3947258"/>
            <a:ext cx="2606040" cy="978408"/>
          </a:xfrm>
          <a:prstGeom prst="rect">
            <a:avLst/>
          </a:prstGeom>
          <a:solidFill>
            <a:srgbClr val="F8FAFC"/>
          </a:solidFill>
          <a:ln>
            <a:solidFill>
              <a:srgbClr val="CBD5E1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0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Évaluer
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Compétences, projets et preuves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55080" y="3947258"/>
            <a:ext cx="2606040" cy="978408"/>
          </a:xfrm>
          <a:prstGeom prst="rect">
            <a:avLst/>
          </a:prstGeom>
          <a:solidFill>
            <a:srgbClr val="EFF6FF"/>
          </a:solidFill>
          <a:ln>
            <a:solidFill>
              <a:srgbClr val="CBD5E1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0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Explorer
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Fiches projets et livrables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281160" y="3947258"/>
            <a:ext cx="2606040" cy="978408"/>
          </a:xfrm>
          <a:prstGeom prst="rect">
            <a:avLst/>
          </a:prstGeom>
          <a:solidFill>
            <a:srgbClr val="F8FAFC"/>
          </a:solidFill>
          <a:ln>
            <a:solidFill>
              <a:srgbClr val="CBD5E1">
                <a:alpha val="80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000" b="1" dirty="0">
                <a:solidFill>
                  <a:srgbClr val="172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Décider
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Contact, CV et suite d’entretien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Décisions UX retenues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5532120"/>
            <a:ext cx="2651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CBD5E1">
                <a:alpha val="8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2563E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 fixe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Accès permanent aux pages </a:t>
            </a:r>
            <a:r>
              <a:rPr lang="en-US" sz="10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clés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</a:p>
          <a:p>
            <a:pPr marL="0" indent="0" algn="ctr">
              <a:buNone/>
            </a:pPr>
            <a:endParaRPr lang="en-US" sz="1000" dirty="0">
              <a:solidFill>
                <a:srgbClr val="334155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5532120"/>
            <a:ext cx="2651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CBD5E1">
                <a:alpha val="8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0F766E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</a:t>
            </a:r>
            <a:r>
              <a:rPr lang="en-US" sz="1100" b="1" dirty="0" err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synthétique</a:t>
            </a:r>
            <a:endParaRPr lang="en-US" sz="1100" b="1" dirty="0">
              <a:solidFill>
                <a:srgbClr val="0F766E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Hero, KPI et cartes de preuves.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5532120"/>
            <a:ext cx="2651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CBD5E1">
                <a:alpha val="8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6D28D9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r>
              <a:rPr lang="en-US" sz="11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b="1" dirty="0" err="1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visibles</a:t>
            </a:r>
            <a:endParaRPr lang="en-US" sz="1100" b="1" dirty="0">
              <a:solidFill>
                <a:srgbClr val="6D28D9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Projets phares et livrables.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06840" y="5532120"/>
            <a:ext cx="2651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CBD5E1">
                <a:alpha val="8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ctr">
              <a:buNone/>
            </a:pPr>
            <a:endParaRPr lang="en-US" sz="1100" b="1" dirty="0">
              <a:solidFill>
                <a:srgbClr val="B45309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Cohérence</a:t>
            </a:r>
            <a:r>
              <a:rPr lang="en-US" sz="11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b="1" dirty="0" err="1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graphique</a:t>
            </a:r>
            <a:endParaRPr lang="en-US" sz="1100" b="1" dirty="0">
              <a:solidFill>
                <a:srgbClr val="B45309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Sobriété, lisibilité, style Streamlit.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21" name="Rounded Rectangle 1">
            <a:extLst>
              <a:ext uri="{FF2B5EF4-FFF2-40B4-BE49-F238E27FC236}">
                <a16:creationId xmlns:a16="http://schemas.microsoft.com/office/drawing/2014/main" id="{6C086122-5CDF-23B5-95A1-9FFB64D06AB9}"/>
              </a:ext>
            </a:extLst>
          </p:cNvPr>
          <p:cNvSpPr/>
          <p:nvPr/>
        </p:nvSpPr>
        <p:spPr>
          <a:xfrm>
            <a:off x="182880" y="509778"/>
            <a:ext cx="11365992" cy="1051560"/>
          </a:xfrm>
          <a:prstGeom prst="roundRect">
            <a:avLst/>
          </a:prstGeom>
          <a:solidFill>
            <a:srgbClr val="172554"/>
          </a:solidFill>
          <a:ln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1D1D7CCA-ABF7-21F4-F77B-70D16F4D9A73}"/>
              </a:ext>
            </a:extLst>
          </p:cNvPr>
          <p:cNvSpPr txBox="1"/>
          <p:nvPr/>
        </p:nvSpPr>
        <p:spPr>
          <a:xfrm>
            <a:off x="484632" y="710946"/>
            <a:ext cx="25603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1">
                <a:solidFill>
                  <a:srgbClr val="BFDBFE"/>
                </a:solidFill>
                <a:latin typeface="Aptos"/>
              </a:rPr>
              <a:t>PROJET 11 · MOCK-UP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42E75891-185C-2C85-FE47-F82135281D63}"/>
              </a:ext>
            </a:extLst>
          </p:cNvPr>
          <p:cNvSpPr txBox="1"/>
          <p:nvPr/>
        </p:nvSpPr>
        <p:spPr>
          <a:xfrm>
            <a:off x="484632" y="921258"/>
            <a:ext cx="9784080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Aptos"/>
              </a:rPr>
              <a:t>Mock-up </a:t>
            </a:r>
            <a:r>
              <a:rPr lang="fr-FR" sz="2400" b="1" dirty="0">
                <a:solidFill>
                  <a:srgbClr val="FFFFFF"/>
                </a:solidFill>
                <a:latin typeface="Aptos"/>
              </a:rPr>
              <a:t>1</a:t>
            </a:r>
            <a:r>
              <a:rPr sz="2400" b="1" dirty="0">
                <a:solidFill>
                  <a:srgbClr val="FFFFFF"/>
                </a:solidFill>
                <a:latin typeface="Aptos"/>
              </a:rPr>
              <a:t> — </a:t>
            </a:r>
            <a:r>
              <a:rPr lang="fr-FR" sz="2400" b="1" dirty="0">
                <a:solidFill>
                  <a:srgbClr val="FFFFFF"/>
                </a:solidFill>
                <a:latin typeface="Aptos"/>
              </a:rPr>
              <a:t>Portfolio </a:t>
            </a:r>
            <a:r>
              <a:rPr lang="fr-FR" sz="2400" b="1" dirty="0" err="1">
                <a:solidFill>
                  <a:srgbClr val="FFFFFF"/>
                </a:solidFill>
                <a:latin typeface="Aptos"/>
              </a:rPr>
              <a:t>Streamlit</a:t>
            </a:r>
            <a:endParaRPr sz="2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27485312-1643-9A02-E6BC-DD7EBCAC0A27}"/>
              </a:ext>
            </a:extLst>
          </p:cNvPr>
          <p:cNvSpPr txBox="1"/>
          <p:nvPr/>
        </p:nvSpPr>
        <p:spPr>
          <a:xfrm>
            <a:off x="484632" y="1287018"/>
            <a:ext cx="97840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fr-FR" sz="1050" b="0" dirty="0">
                <a:solidFill>
                  <a:srgbClr val="DBEAFE"/>
                </a:solidFill>
                <a:latin typeface="Aptos"/>
              </a:rPr>
              <a:t>Maquette cible de l’interface portfolio : lecture rapide, preuves visibles et navigation structurée</a:t>
            </a:r>
            <a:endParaRPr sz="1050" b="0" dirty="0">
              <a:solidFill>
                <a:srgbClr val="DBEAFE"/>
              </a:solidFill>
              <a:latin typeface="Aptos"/>
            </a:endParaRPr>
          </a:p>
        </p:txBody>
      </p:sp>
      <p:sp>
        <p:nvSpPr>
          <p:cNvPr id="26" name="Oval 5">
            <a:extLst>
              <a:ext uri="{FF2B5EF4-FFF2-40B4-BE49-F238E27FC236}">
                <a16:creationId xmlns:a16="http://schemas.microsoft.com/office/drawing/2014/main" id="{0EF0C848-DA9A-1730-343B-0C525A466D1C}"/>
              </a:ext>
            </a:extLst>
          </p:cNvPr>
          <p:cNvSpPr/>
          <p:nvPr/>
        </p:nvSpPr>
        <p:spPr>
          <a:xfrm>
            <a:off x="10561320" y="299466"/>
            <a:ext cx="1325880" cy="132588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82880" y="92104"/>
            <a:ext cx="8046720" cy="25603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Ins="73152" bIns="18288" rtlCol="0" anchor="ctr"/>
          <a:lstStyle/>
          <a:p>
            <a:pPr algn="l"/>
            <a:r>
              <a:rPr sz="790" b="1">
                <a:solidFill>
                  <a:srgbClr val="0F766E"/>
                </a:solidFill>
                <a:latin typeface="Aptos"/>
              </a:rPr>
              <a:t>Livrable P11 - Etape 3 : validation des mock-ups avant réalisation des tableaux de bord et intégration finale au portfolio.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modern_professional_dashboard_portfolio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0" y="3182112"/>
            <a:ext cx="2057400" cy="16002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83464" y="3296412"/>
            <a:ext cx="91440" cy="118872"/>
          </a:xfrm>
          <a:prstGeom prst="rect">
            <a:avLst/>
          </a:prstGeom>
          <a:noFill/>
          <a:ln w="1143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306324" y="3337560"/>
            <a:ext cx="50292" cy="0"/>
          </a:xfrm>
          <a:prstGeom prst="line">
            <a:avLst/>
          </a:prstGeom>
          <a:ln w="76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06324" y="3364992"/>
            <a:ext cx="45720" cy="0"/>
          </a:xfrm>
          <a:prstGeom prst="line">
            <a:avLst/>
          </a:prstGeom>
          <a:ln w="76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5488" y="3273552"/>
            <a:ext cx="137160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15" b="0">
                <a:solidFill>
                  <a:srgbClr val="172554"/>
                </a:solidFill>
                <a:latin typeface="Aptos"/>
              </a:rPr>
              <a:t>Livrables et preuves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3464" y="3625596"/>
            <a:ext cx="96012" cy="118872"/>
          </a:xfrm>
          <a:prstGeom prst="roundRect">
            <a:avLst/>
          </a:prstGeom>
          <a:noFill/>
          <a:ln w="1143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06324" y="3651199"/>
            <a:ext cx="10972" cy="10972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326440" y="3656685"/>
            <a:ext cx="34748" cy="0"/>
          </a:xfrm>
          <a:prstGeom prst="line">
            <a:avLst/>
          </a:prstGeom>
          <a:ln w="76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06324" y="3680459"/>
            <a:ext cx="10972" cy="10972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326440" y="3685946"/>
            <a:ext cx="34748" cy="0"/>
          </a:xfrm>
          <a:prstGeom prst="line">
            <a:avLst/>
          </a:prstGeom>
          <a:ln w="76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06324" y="3709720"/>
            <a:ext cx="10972" cy="10972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326440" y="3715207"/>
            <a:ext cx="34748" cy="0"/>
          </a:xfrm>
          <a:prstGeom prst="line">
            <a:avLst/>
          </a:prstGeom>
          <a:ln w="76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75488" y="3602736"/>
            <a:ext cx="137160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15" b="0">
                <a:solidFill>
                  <a:srgbClr val="172554"/>
                </a:solidFill>
                <a:latin typeface="Aptos"/>
              </a:rPr>
              <a:t>Gestion du projet P11</a:t>
            </a:r>
          </a:p>
        </p:txBody>
      </p:sp>
      <p:sp>
        <p:nvSpPr>
          <p:cNvPr id="39" name="Oval 38"/>
          <p:cNvSpPr/>
          <p:nvPr/>
        </p:nvSpPr>
        <p:spPr>
          <a:xfrm>
            <a:off x="315468" y="3954780"/>
            <a:ext cx="41148" cy="41148"/>
          </a:xfrm>
          <a:prstGeom prst="ellipse">
            <a:avLst/>
          </a:prstGeom>
          <a:noFill/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Arc 39"/>
          <p:cNvSpPr/>
          <p:nvPr/>
        </p:nvSpPr>
        <p:spPr>
          <a:xfrm>
            <a:off x="292608" y="4002328"/>
            <a:ext cx="86868" cy="64008"/>
          </a:xfrm>
          <a:prstGeom prst="arc">
            <a:avLst/>
          </a:prstGeom>
          <a:noFill/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5488" y="3931920"/>
            <a:ext cx="1371600" cy="17373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15" b="0">
                <a:solidFill>
                  <a:srgbClr val="172554"/>
                </a:solidFill>
                <a:latin typeface="Aptos"/>
              </a:rPr>
              <a:t>Contact et objectifs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ghostwriter_images/generated/a_clean_modern_professional_dashboard_portfolio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05" y="1264717"/>
            <a:ext cx="6343281" cy="49686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4262" y="6309359"/>
            <a:ext cx="5806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Aperçu de l’écran cible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598920" y="2001650"/>
            <a:ext cx="2423160" cy="920693"/>
          </a:xfrm>
          <a:prstGeom prst="rect">
            <a:avLst/>
          </a:prstGeom>
          <a:solidFill>
            <a:srgbClr val="EFF6FF"/>
          </a:solidFill>
          <a:ln>
            <a:solidFill>
              <a:srgbClr val="CBD5E1">
                <a:alpha val="8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228600" indent="-228600" algn="ctr">
              <a:buAutoNum type="arabicPeriod"/>
            </a:pPr>
            <a:endParaRPr lang="en-US" sz="1000" b="1" dirty="0">
              <a:solidFill>
                <a:srgbClr val="2563E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algn="ctr"/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Navigation</a:t>
            </a:r>
          </a:p>
          <a:p>
            <a:pPr algn="ctr"/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 latéral fixe, photo de profil et accès direct aux pages clés.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250680" y="2001651"/>
            <a:ext cx="2423160" cy="920692"/>
          </a:xfrm>
          <a:prstGeom prst="rect">
            <a:avLst/>
          </a:prstGeom>
          <a:solidFill>
            <a:srgbClr val="EFF6FF"/>
          </a:solidFill>
          <a:ln>
            <a:solidFill>
              <a:srgbClr val="CBD5E1">
                <a:alpha val="8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2563E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Bandeau hero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Positionnement professionnel, lisible dès l’arrivée.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14160" y="3110825"/>
            <a:ext cx="2423160" cy="920693"/>
          </a:xfrm>
          <a:prstGeom prst="rect">
            <a:avLst/>
          </a:prstGeom>
          <a:solidFill>
            <a:srgbClr val="ECFDF5"/>
          </a:solidFill>
          <a:ln>
            <a:solidFill>
              <a:srgbClr val="CBD5E1">
                <a:alpha val="8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0F766E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KPI </a:t>
            </a:r>
            <a:r>
              <a:rPr lang="en-US" sz="1100" b="1" dirty="0" err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</a:t>
            </a:r>
            <a:endParaRPr lang="en-US" sz="1100" b="1" dirty="0">
              <a:solidFill>
                <a:srgbClr val="0F766E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Expérience, projets et positionnement valorisés en lecture rapide.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265920" y="3110826"/>
            <a:ext cx="2423160" cy="920692"/>
          </a:xfrm>
          <a:prstGeom prst="rect">
            <a:avLst/>
          </a:prstGeom>
          <a:solidFill>
            <a:srgbClr val="ECFDF5"/>
          </a:solidFill>
          <a:ln>
            <a:solidFill>
              <a:srgbClr val="CBD5E1">
                <a:alpha val="8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0F766E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</a:t>
            </a:r>
            <a:r>
              <a:rPr lang="en-US" sz="1100" b="1" dirty="0" err="1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Compétences</a:t>
            </a:r>
            <a:endParaRPr lang="en-US" sz="1100" b="1" dirty="0">
              <a:solidFill>
                <a:srgbClr val="0F766E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Trois piliers : culture métier, data/BI, restitution décisionnelle.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98920" y="4218233"/>
            <a:ext cx="2423160" cy="920693"/>
          </a:xfrm>
          <a:prstGeom prst="rect">
            <a:avLst/>
          </a:prstGeom>
          <a:solidFill>
            <a:srgbClr val="F5F3FF"/>
          </a:solidFill>
          <a:ln>
            <a:solidFill>
              <a:srgbClr val="CBD5E1">
                <a:alpha val="8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6D28D9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</a:t>
            </a:r>
            <a:r>
              <a:rPr lang="en-US" sz="1100" b="1" dirty="0" err="1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Projets</a:t>
            </a:r>
            <a:r>
              <a:rPr lang="en-US" sz="11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phares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Exemples probants avec tags et résumé de valeur métier.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250680" y="4218234"/>
            <a:ext cx="2423160" cy="920692"/>
          </a:xfrm>
          <a:prstGeom prst="rect">
            <a:avLst/>
          </a:prstGeom>
          <a:solidFill>
            <a:srgbClr val="FFF7ED"/>
          </a:solidFill>
          <a:ln>
            <a:solidFill>
              <a:srgbClr val="CBD5E1">
                <a:alpha val="80000"/>
              </a:srgbClr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B45309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</a:t>
            </a:r>
            <a:r>
              <a:rPr lang="en-US" sz="1100" b="1" dirty="0" err="1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r>
              <a:rPr lang="en-US" sz="11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P11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page Gestion du projet P11 sera accessible dans la navigation.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651768" y="522417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5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Critères de validation du mock-up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29400" y="5541264"/>
            <a:ext cx="4156587" cy="9601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• </a:t>
            </a:r>
            <a:r>
              <a:rPr lang="en-US" sz="10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Comprendre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le positionnement en moins de 2 minutes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• </a:t>
            </a:r>
            <a:r>
              <a:rPr lang="en-US" sz="10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Atteindre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les projets et preuves en moins de 3 interactions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• </a:t>
            </a:r>
            <a:r>
              <a:rPr lang="en-US" sz="10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Distinguer</a:t>
            </a: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clairement profil, compétences, projets et livrables P11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• Conserver un rendu professionnel, sobre et cohérent avec Streamlit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5" name="Rounded Rectangle 1">
            <a:extLst>
              <a:ext uri="{FF2B5EF4-FFF2-40B4-BE49-F238E27FC236}">
                <a16:creationId xmlns:a16="http://schemas.microsoft.com/office/drawing/2014/main" id="{5A5FF7D7-9B82-4F19-082D-9C5B195C632D}"/>
              </a:ext>
            </a:extLst>
          </p:cNvPr>
          <p:cNvSpPr/>
          <p:nvPr/>
        </p:nvSpPr>
        <p:spPr>
          <a:xfrm>
            <a:off x="175506" y="213157"/>
            <a:ext cx="11365992" cy="1051560"/>
          </a:xfrm>
          <a:prstGeom prst="roundRect">
            <a:avLst/>
          </a:prstGeom>
          <a:solidFill>
            <a:srgbClr val="172554"/>
          </a:solidFill>
          <a:ln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542C7940-B8FB-F479-739D-92A10F581C8B}"/>
              </a:ext>
            </a:extLst>
          </p:cNvPr>
          <p:cNvSpPr txBox="1"/>
          <p:nvPr/>
        </p:nvSpPr>
        <p:spPr>
          <a:xfrm>
            <a:off x="477258" y="414325"/>
            <a:ext cx="256032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1">
                <a:solidFill>
                  <a:srgbClr val="BFDBFE"/>
                </a:solidFill>
                <a:latin typeface="Aptos"/>
              </a:rPr>
              <a:t>PROJET 11 · MOCK-UP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435D265F-B9CF-1C50-050B-B23C6C5DED55}"/>
              </a:ext>
            </a:extLst>
          </p:cNvPr>
          <p:cNvSpPr txBox="1"/>
          <p:nvPr/>
        </p:nvSpPr>
        <p:spPr>
          <a:xfrm>
            <a:off x="477258" y="624637"/>
            <a:ext cx="978408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Annotations fonctionnelles</a:t>
            </a: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06AB9F46-1DFC-845A-3019-97ECAC11A401}"/>
              </a:ext>
            </a:extLst>
          </p:cNvPr>
          <p:cNvSpPr txBox="1"/>
          <p:nvPr/>
        </p:nvSpPr>
        <p:spPr>
          <a:xfrm>
            <a:off x="477258" y="990397"/>
            <a:ext cx="978408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DBEAFE"/>
                </a:solidFill>
                <a:latin typeface="Aptos"/>
              </a:rPr>
              <a:t>Lecture du mock-up </a:t>
            </a:r>
            <a:r>
              <a:rPr lang="fr-FR" sz="1050" b="0" dirty="0">
                <a:solidFill>
                  <a:srgbClr val="DBEAFE"/>
                </a:solidFill>
                <a:latin typeface="Aptos"/>
              </a:rPr>
              <a:t>: zones de l’interface et critères de validation</a:t>
            </a:r>
            <a:r>
              <a:rPr sz="1050" b="0" dirty="0">
                <a:solidFill>
                  <a:srgbClr val="DBEAFE"/>
                </a:solidFill>
                <a:latin typeface="Aptos"/>
              </a:rPr>
              <a:t>.</a:t>
            </a:r>
          </a:p>
        </p:txBody>
      </p:sp>
      <p:sp>
        <p:nvSpPr>
          <p:cNvPr id="19" name="Oval 5">
            <a:extLst>
              <a:ext uri="{FF2B5EF4-FFF2-40B4-BE49-F238E27FC236}">
                <a16:creationId xmlns:a16="http://schemas.microsoft.com/office/drawing/2014/main" id="{EF2480B4-A3E8-EB32-B01E-025F69048606}"/>
              </a:ext>
            </a:extLst>
          </p:cNvPr>
          <p:cNvSpPr/>
          <p:nvPr/>
        </p:nvSpPr>
        <p:spPr>
          <a:xfrm>
            <a:off x="10553946" y="2845"/>
            <a:ext cx="1325880" cy="132588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98919" y="1344066"/>
            <a:ext cx="5059681" cy="57233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bIns="27432" rtlCol="0" anchor="ctr"/>
          <a:lstStyle/>
          <a:p>
            <a:pPr algn="ctr"/>
            <a:r>
              <a:rPr sz="1000" b="1" dirty="0">
                <a:solidFill>
                  <a:srgbClr val="2563EB"/>
                </a:solidFill>
                <a:latin typeface="Aptos"/>
              </a:rPr>
              <a:t>Navigation </a:t>
            </a:r>
            <a:r>
              <a:rPr sz="1000" b="1" dirty="0" err="1">
                <a:solidFill>
                  <a:srgbClr val="2563EB"/>
                </a:solidFill>
                <a:latin typeface="Aptos"/>
              </a:rPr>
              <a:t>cible</a:t>
            </a:r>
            <a:endParaRPr sz="1000" b="1" dirty="0">
              <a:solidFill>
                <a:srgbClr val="2563EB"/>
              </a:solidFill>
              <a:latin typeface="Aptos"/>
            </a:endParaRPr>
          </a:p>
          <a:p>
            <a:pPr>
              <a:spcBef>
                <a:spcPts val="100"/>
              </a:spcBef>
            </a:pPr>
            <a:r>
              <a:rPr sz="900" b="0" dirty="0" err="1">
                <a:solidFill>
                  <a:srgbClr val="0F172A"/>
                </a:solidFill>
                <a:latin typeface="Aptos"/>
              </a:rPr>
              <a:t>L'entrée</a:t>
            </a:r>
            <a:r>
              <a:rPr sz="900" b="0" dirty="0">
                <a:solidFill>
                  <a:srgbClr val="0F172A"/>
                </a:solidFill>
                <a:latin typeface="Aptos"/>
              </a:rPr>
              <a:t> « Gestion du </a:t>
            </a:r>
            <a:r>
              <a:rPr sz="900" b="0" dirty="0" err="1">
                <a:solidFill>
                  <a:srgbClr val="0F172A"/>
                </a:solidFill>
                <a:latin typeface="Aptos"/>
              </a:rPr>
              <a:t>projet</a:t>
            </a:r>
            <a:r>
              <a:rPr sz="900" b="0" dirty="0">
                <a:solidFill>
                  <a:srgbClr val="0F172A"/>
                </a:solidFill>
                <a:latin typeface="Aptos"/>
              </a:rPr>
              <a:t> P11 » </a:t>
            </a:r>
            <a:r>
              <a:rPr sz="900" b="0" dirty="0" err="1">
                <a:solidFill>
                  <a:srgbClr val="0F172A"/>
                </a:solidFill>
                <a:latin typeface="Aptos"/>
              </a:rPr>
              <a:t>regroupe</a:t>
            </a:r>
            <a:r>
              <a:rPr sz="900" b="0" dirty="0">
                <a:solidFill>
                  <a:srgbClr val="0F172A"/>
                </a:solidFill>
                <a:latin typeface="Aptos"/>
              </a:rPr>
              <a:t> les </a:t>
            </a:r>
            <a:r>
              <a:rPr sz="900" b="0" dirty="0" err="1">
                <a:solidFill>
                  <a:srgbClr val="0F172A"/>
                </a:solidFill>
                <a:latin typeface="Aptos"/>
              </a:rPr>
              <a:t>livrables</a:t>
            </a:r>
            <a:r>
              <a:rPr sz="900" b="0" dirty="0">
                <a:solidFill>
                  <a:srgbClr val="0F172A"/>
                </a:solidFill>
                <a:latin typeface="Aptos"/>
              </a:rPr>
              <a:t> OC, mock-ups, dashboards, </a:t>
            </a:r>
            <a:r>
              <a:rPr sz="900" b="0" dirty="0" err="1">
                <a:solidFill>
                  <a:srgbClr val="0F172A"/>
                </a:solidFill>
                <a:latin typeface="Aptos"/>
              </a:rPr>
              <a:t>vidéo</a:t>
            </a:r>
            <a:r>
              <a:rPr sz="900" b="0" dirty="0">
                <a:solidFill>
                  <a:srgbClr val="0F172A"/>
                </a:solidFill>
                <a:latin typeface="Aptos"/>
              </a:rPr>
              <a:t>, documentation et lien final.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396</Words>
  <Application>Microsoft Office PowerPoint</Application>
  <PresentationFormat>Grand écran</PresentationFormat>
  <Paragraphs>77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Présentation PowerPoint</vt:lpstr>
      <vt:lpstr>Présentation PowerPoint</vt:lpstr>
      <vt:lpstr>Présentation PowerPoint</vt:lpstr>
    </vt:vector>
  </TitlesOfParts>
  <Company>OpenClassrooms - Projet 11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P11 - Mock-up 1 - Portfolio Streamlit</dc:title>
  <dc:subject>Mock-up du portfolio Streamlit</dc:subject>
  <dc:creator>Henrique Da Costa</dc:creator>
  <cp:lastModifiedBy>Henrique Da Costa</cp:lastModifiedBy>
  <cp:revision>6</cp:revision>
  <dcterms:created xsi:type="dcterms:W3CDTF">2026-06-29T17:48:41Z</dcterms:created>
  <dcterms:modified xsi:type="dcterms:W3CDTF">2026-06-30T15:11:32Z</dcterms:modified>
</cp:coreProperties>
</file>