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760" y="256032"/>
            <a:ext cx="11430000" cy="822960"/>
          </a:xfrm>
          <a:prstGeom prst="roundRect">
            <a:avLst/>
          </a:prstGeom>
          <a:solidFill>
            <a:srgbClr val="172554"/>
          </a:solidFill>
          <a:ln>
            <a:solidFill>
              <a:srgbClr val="172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 dirty="0" err="1">
                <a:solidFill>
                  <a:srgbClr val="FFFFFF"/>
                </a:solidFill>
              </a:rPr>
              <a:t>Projet</a:t>
            </a:r>
            <a:r>
              <a:rPr sz="2100" b="1" dirty="0">
                <a:solidFill>
                  <a:srgbClr val="FFFFFF"/>
                </a:solidFill>
              </a:rPr>
              <a:t> 11 — </a:t>
            </a:r>
            <a:r>
              <a:rPr sz="2100" b="1" dirty="0" err="1">
                <a:solidFill>
                  <a:srgbClr val="FFFFFF"/>
                </a:solidFill>
              </a:rPr>
              <a:t>Diagramme</a:t>
            </a:r>
            <a:r>
              <a:rPr sz="2100" b="1" dirty="0">
                <a:solidFill>
                  <a:srgbClr val="FFFFFF"/>
                </a:solidFill>
              </a:rPr>
              <a:t> de Gantt</a:t>
            </a:r>
          </a:p>
          <a:p>
            <a:pPr algn="ctr"/>
            <a:r>
              <a:rPr sz="1150" dirty="0">
                <a:solidFill>
                  <a:srgbClr val="DBEAFE"/>
                </a:solidFill>
              </a:rPr>
              <a:t>Mission </a:t>
            </a:r>
            <a:r>
              <a:rPr sz="1150" dirty="0" err="1">
                <a:solidFill>
                  <a:srgbClr val="DBEAFE"/>
                </a:solidFill>
              </a:rPr>
              <a:t>planifiée</a:t>
            </a:r>
            <a:r>
              <a:rPr sz="1150" dirty="0">
                <a:solidFill>
                  <a:srgbClr val="DBEAFE"/>
                </a:solidFill>
              </a:rPr>
              <a:t> du 20 </a:t>
            </a:r>
            <a:r>
              <a:rPr sz="1150" dirty="0" err="1">
                <a:solidFill>
                  <a:srgbClr val="DBEAFE"/>
                </a:solidFill>
              </a:rPr>
              <a:t>juin</a:t>
            </a:r>
            <a:r>
              <a:rPr sz="1150" dirty="0">
                <a:solidFill>
                  <a:srgbClr val="DBEAFE"/>
                </a:solidFill>
              </a:rPr>
              <a:t> au 20 </a:t>
            </a:r>
            <a:r>
              <a:rPr sz="1150" dirty="0" err="1">
                <a:solidFill>
                  <a:srgbClr val="DBEAFE"/>
                </a:solidFill>
              </a:rPr>
              <a:t>juillet</a:t>
            </a:r>
            <a:r>
              <a:rPr sz="1150" dirty="0">
                <a:solidFill>
                  <a:srgbClr val="DBEAFE"/>
                </a:solidFill>
              </a:rPr>
              <a:t> 2026 — </a:t>
            </a:r>
            <a:r>
              <a:rPr sz="1150" dirty="0" err="1">
                <a:solidFill>
                  <a:srgbClr val="DBEAFE"/>
                </a:solidFill>
              </a:rPr>
              <a:t>soutenance</a:t>
            </a:r>
            <a:r>
              <a:rPr sz="1150" dirty="0">
                <a:solidFill>
                  <a:srgbClr val="DBEAFE"/>
                </a:solidFill>
              </a:rPr>
              <a:t> </a:t>
            </a:r>
            <a:r>
              <a:rPr sz="1150" dirty="0" err="1">
                <a:solidFill>
                  <a:srgbClr val="DBEAFE"/>
                </a:solidFill>
              </a:rPr>
              <a:t>visée</a:t>
            </a:r>
            <a:r>
              <a:rPr sz="1150" dirty="0">
                <a:solidFill>
                  <a:srgbClr val="DBEAFE"/>
                </a:solidFill>
              </a:rPr>
              <a:t> avant le 31 </a:t>
            </a:r>
            <a:r>
              <a:rPr sz="1150" dirty="0" err="1">
                <a:solidFill>
                  <a:srgbClr val="DBEAFE"/>
                </a:solidFill>
              </a:rPr>
              <a:t>juillet</a:t>
            </a:r>
            <a:endParaRPr sz="1150" dirty="0">
              <a:solidFill>
                <a:srgbClr val="DBEAFE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65760" y="1325880"/>
            <a:ext cx="114300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325880"/>
            <a:ext cx="11430000" cy="347472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380744"/>
            <a:ext cx="130759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2554"/>
                </a:solidFill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56232" y="1380744"/>
            <a:ext cx="331927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72554"/>
                </a:solidFill>
              </a:rPr>
              <a:t>Tâche / jalon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783080" y="1325880"/>
            <a:ext cx="9144" cy="457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12080" y="1325880"/>
            <a:ext cx="9144" cy="457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475569"/>
                </a:solidFill>
              </a:rPr>
              <a:t>20/06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81343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475569"/>
                </a:solidFill>
              </a:rPr>
              <a:t>27/06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4223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33487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</a:rPr>
              <a:t>04/07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16367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85632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</a:rPr>
              <a:t>11/07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68512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37775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</a:rPr>
              <a:t>18/07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20655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19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475569"/>
                </a:solidFill>
              </a:rPr>
              <a:t>25/07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799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48288" y="1371600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 dirty="0">
                <a:solidFill>
                  <a:srgbClr val="475569"/>
                </a:solidFill>
              </a:rPr>
              <a:t>30/07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795759" y="1673352"/>
            <a:ext cx="9144" cy="42245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1673352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1682496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2563EB"/>
                </a:solidFill>
              </a:rPr>
              <a:t>Cadrage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6232" y="1682496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Analyse du besoin métier client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1723644"/>
            <a:ext cx="329184" cy="1005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1874520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1883664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2563EB"/>
                </a:solidFill>
              </a:rPr>
              <a:t>Cadrage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56232" y="1883664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 dirty="0">
                <a:solidFill>
                  <a:srgbClr val="0F172A"/>
                </a:solidFill>
              </a:rPr>
              <a:t>Cahier des charges </a:t>
            </a:r>
            <a:r>
              <a:rPr sz="860" b="0" dirty="0" err="1">
                <a:solidFill>
                  <a:srgbClr val="0F172A"/>
                </a:solidFill>
              </a:rPr>
              <a:t>fonctionnel</a:t>
            </a:r>
            <a:endParaRPr sz="860" b="0" dirty="0">
              <a:solidFill>
                <a:srgbClr val="0F172A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541264" y="1924812"/>
            <a:ext cx="493775" cy="1005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5760" y="2075688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38912" y="2084832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2563EB"/>
                </a:solidFill>
              </a:rPr>
              <a:t>Cadrage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56232" y="2084832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Carte mentale du projet portfolio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39" y="2125980"/>
            <a:ext cx="164592" cy="1005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2276856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" y="2286000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56232" y="2286000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Validation mentor - carte mentale</a:t>
            </a:r>
          </a:p>
        </p:txBody>
      </p:sp>
      <p:sp>
        <p:nvSpPr>
          <p:cNvPr id="39" name="Diamond 38"/>
          <p:cNvSpPr/>
          <p:nvPr/>
        </p:nvSpPr>
        <p:spPr>
          <a:xfrm>
            <a:off x="6144767" y="2322576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5760" y="2478024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8912" y="2487168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2563EB"/>
                </a:solidFill>
              </a:rPr>
              <a:t>Cadrage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56232" y="2487168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Gantt et planification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1" y="2528316"/>
            <a:ext cx="164592" cy="1005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65760" y="2679192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8912" y="2688336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56232" y="2688336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Validation mentor - livrables organisationnels</a:t>
            </a:r>
          </a:p>
        </p:txBody>
      </p:sp>
      <p:sp>
        <p:nvSpPr>
          <p:cNvPr id="47" name="Diamond 46"/>
          <p:cNvSpPr/>
          <p:nvPr/>
        </p:nvSpPr>
        <p:spPr>
          <a:xfrm>
            <a:off x="6309359" y="2724912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65760" y="2880360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38912" y="2889504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0F766E"/>
                </a:solidFill>
              </a:rPr>
              <a:t>Conception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56232" y="2889504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Mock-ups : portfolio, veille et profil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8816" y="2930652"/>
            <a:ext cx="822959" cy="100584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365760" y="3081528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38912" y="3090672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56232" y="3090672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Validation mentor - mock-ups</a:t>
            </a:r>
          </a:p>
        </p:txBody>
      </p:sp>
      <p:sp>
        <p:nvSpPr>
          <p:cNvPr id="55" name="Diamond 54"/>
          <p:cNvSpPr/>
          <p:nvPr/>
        </p:nvSpPr>
        <p:spPr>
          <a:xfrm>
            <a:off x="7296912" y="3127248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65760" y="3282696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38912" y="3291840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7C3AED"/>
                </a:solidFill>
              </a:rPr>
              <a:t>Productions client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56232" y="3291840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Dashboard de veille métier et technologique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16367" y="3332988"/>
            <a:ext cx="658368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5760" y="3483864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8912" y="3493008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7C3AED"/>
                </a:solidFill>
              </a:rPr>
              <a:t>Productions client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56232" y="3493008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Dashboard de présentation du profil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174736" y="3534156"/>
            <a:ext cx="493775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365760" y="3685032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38912" y="3694176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7C3AED"/>
                </a:solidFill>
              </a:rPr>
              <a:t>Productions client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56232" y="3694176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Vidéo de formation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668512" y="3735324"/>
            <a:ext cx="493775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65760" y="3886200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38912" y="3895344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7C3AED"/>
                </a:solidFill>
              </a:rPr>
              <a:t>Productions client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56232" y="3895344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Documentation utilisateur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62287" y="3936492"/>
            <a:ext cx="164592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365760" y="4087368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38912" y="4096512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7C3AED"/>
                </a:solidFill>
              </a:rPr>
              <a:t>Productions client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56232" y="4096512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Documentation technique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326880" y="4137660"/>
            <a:ext cx="164592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365760" y="4288536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38912" y="4297680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B45309"/>
                </a:solidFill>
              </a:rPr>
              <a:t>Finalisation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56232" y="4297680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Développement et intégration du portfolio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491472" y="4338828"/>
            <a:ext cx="329184" cy="10058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65760" y="4489704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38912" y="4498848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B45309"/>
                </a:solidFill>
              </a:rPr>
              <a:t>Finalisation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856232" y="4498848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Recette, sécurité et optimisation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820655" y="4539996"/>
            <a:ext cx="164592" cy="10058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65760" y="4690872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438912" y="4700016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B45309"/>
                </a:solidFill>
              </a:rPr>
              <a:t>Finalisation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56232" y="4700016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Déploiement GitHub et Streamlit Cloud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985248" y="4741164"/>
            <a:ext cx="164592" cy="10058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365760" y="4892040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38912" y="4901184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B45309"/>
                </a:solidFill>
              </a:rPr>
              <a:t>Finalisation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232" y="4901184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0">
                <a:solidFill>
                  <a:srgbClr val="0F172A"/>
                </a:solidFill>
              </a:rPr>
              <a:t>Support, répétition et remise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0149839" y="4942332"/>
            <a:ext cx="164592" cy="10058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365760" y="5093208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38912" y="5102352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856232" y="5102352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Derniers livrables client</a:t>
            </a:r>
          </a:p>
        </p:txBody>
      </p:sp>
      <p:sp>
        <p:nvSpPr>
          <p:cNvPr id="95" name="Diamond 94"/>
          <p:cNvSpPr/>
          <p:nvPr/>
        </p:nvSpPr>
        <p:spPr>
          <a:xfrm>
            <a:off x="10259567" y="5138928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365760" y="5294376"/>
            <a:ext cx="11430000" cy="20116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38912" y="5303520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56232" y="5303520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Soutenance blanche</a:t>
            </a:r>
          </a:p>
        </p:txBody>
      </p:sp>
      <p:sp>
        <p:nvSpPr>
          <p:cNvPr id="99" name="Diamond 98"/>
          <p:cNvSpPr/>
          <p:nvPr/>
        </p:nvSpPr>
        <p:spPr>
          <a:xfrm>
            <a:off x="10753343" y="5340096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365760" y="5495544"/>
            <a:ext cx="11430000" cy="20116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38912" y="5504688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856232" y="5504688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Soutenance finale visée</a:t>
            </a:r>
          </a:p>
        </p:txBody>
      </p:sp>
      <p:sp>
        <p:nvSpPr>
          <p:cNvPr id="103" name="Diamond 102"/>
          <p:cNvSpPr/>
          <p:nvPr/>
        </p:nvSpPr>
        <p:spPr>
          <a:xfrm>
            <a:off x="11411711" y="5541264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365760" y="5696712"/>
            <a:ext cx="11430000" cy="33832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0</a:t>
            </a:r>
            <a:endParaRPr dirty="0"/>
          </a:p>
        </p:txBody>
      </p:sp>
      <p:sp>
        <p:nvSpPr>
          <p:cNvPr id="105" name="TextBox 104"/>
          <p:cNvSpPr txBox="1"/>
          <p:nvPr/>
        </p:nvSpPr>
        <p:spPr>
          <a:xfrm>
            <a:off x="438912" y="5705856"/>
            <a:ext cx="128930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1">
                <a:solidFill>
                  <a:srgbClr val="C2410C"/>
                </a:solidFill>
              </a:rPr>
              <a:t>Jalon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856232" y="5705856"/>
            <a:ext cx="3300984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60" b="1">
                <a:solidFill>
                  <a:srgbClr val="0F172A"/>
                </a:solidFill>
              </a:rPr>
              <a:t>Date butoir interne avant stage</a:t>
            </a:r>
          </a:p>
        </p:txBody>
      </p:sp>
      <p:sp>
        <p:nvSpPr>
          <p:cNvPr id="107" name="Diamond 106"/>
          <p:cNvSpPr/>
          <p:nvPr/>
        </p:nvSpPr>
        <p:spPr>
          <a:xfrm>
            <a:off x="11740895" y="5742432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92609" y="637794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 err="1">
                <a:solidFill>
                  <a:srgbClr val="172554"/>
                </a:solidFill>
              </a:rPr>
              <a:t>Légende</a:t>
            </a:r>
            <a:r>
              <a:rPr sz="1100" b="1" dirty="0">
                <a:solidFill>
                  <a:srgbClr val="172554"/>
                </a:solidFill>
              </a:rPr>
              <a:t> :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1083565" y="6460236"/>
            <a:ext cx="164592" cy="100584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207009" y="6391656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F172A"/>
                </a:solidFill>
              </a:rPr>
              <a:t>Cadrage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862073" y="6460236"/>
            <a:ext cx="164592" cy="100584"/>
          </a:xfrm>
          <a:prstGeom prst="round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990089" y="6391656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F172A"/>
                </a:solidFill>
              </a:rPr>
              <a:t>Conception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654713" y="6460236"/>
            <a:ext cx="164592" cy="100584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773169" y="6391656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F172A"/>
                </a:solidFill>
              </a:rPr>
              <a:t>Productions client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446520" y="6460236"/>
            <a:ext cx="164592" cy="100584"/>
          </a:xfrm>
          <a:prstGeom prst="roundRect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6556249" y="6391656"/>
            <a:ext cx="13258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F172A"/>
                </a:solidFill>
              </a:rPr>
              <a:t>Finalisation</a:t>
            </a:r>
          </a:p>
        </p:txBody>
      </p:sp>
      <p:sp>
        <p:nvSpPr>
          <p:cNvPr id="117" name="Diamond 116"/>
          <p:cNvSpPr/>
          <p:nvPr/>
        </p:nvSpPr>
        <p:spPr>
          <a:xfrm>
            <a:off x="8229601" y="6446520"/>
            <a:ext cx="109728" cy="109728"/>
          </a:xfrm>
          <a:prstGeom prst="diamond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8311897" y="6391656"/>
            <a:ext cx="1463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0F172A"/>
                </a:solidFill>
              </a:rPr>
              <a:t>Jalon /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159</Words>
  <Application>Microsoft Office PowerPoint</Application>
  <PresentationFormat>Grand écran</PresentationFormat>
  <Paragraphs>60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Henrique Da Costa</dc:creator>
  <cp:keywords/>
  <dc:description>generated using python-pptx</dc:description>
  <cp:lastModifiedBy>Henrique Da Costa</cp:lastModifiedBy>
  <cp:revision>2</cp:revision>
  <dcterms:created xsi:type="dcterms:W3CDTF">2013-01-27T09:14:16Z</dcterms:created>
  <dcterms:modified xsi:type="dcterms:W3CDTF">2026-07-01T15:51:35Z</dcterms:modified>
  <cp:category/>
</cp:coreProperties>
</file>