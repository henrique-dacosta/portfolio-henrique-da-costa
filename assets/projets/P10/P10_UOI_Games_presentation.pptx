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3" r:id="rId10"/>
    <p:sldId id="264" r:id="rId11"/>
    <p:sldId id="284" r:id="rId12"/>
    <p:sldId id="265" r:id="rId13"/>
    <p:sldId id="28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6" r:id="rId31"/>
    <p:sldId id="282" r:id="rId32"/>
  </p:sldIdLst>
  <p:sldSz cx="9144000" cy="5143500" type="screen16x9"/>
  <p:notesSz cx="6858000" cy="9144000"/>
  <p:embeddedFontLst>
    <p:embeddedFont>
      <p:font typeface="Space Grotesk Medium" panose="020B0604020202020204" charset="0"/>
      <p:regular r:id="rId34"/>
      <p:bold r:id="rId35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5" roundtripDataSignature="AMtx7mjdhnSw0mXkQg9u0bc1nEdsQBft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272DF2-5866-4BD9-90D9-472611E76D45}">
  <a:tblStyle styleId="{40272DF2-5866-4BD9-90D9-472611E76D4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6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5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0100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CB722-40FA-4938-F741-B81A60108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FF8B49A-6569-D26C-F5DB-6FF98E335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106C829-3446-A2ED-7183-79C07A29E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4685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A50A64-0DC9-216F-D956-DDC724B6C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4E11390-B0A0-AB76-0BC7-C2914EDF1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BFF63F-562B-CFEC-D6C9-B77E9C57F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40761-54E8-4DAB-AAFA-BFE2465254B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EFFE2B-64AE-5A78-A56F-D352B77E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B1C33D-B1CD-247F-C398-B35AA49E5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AC0F-0C53-4BDF-B37B-7E554C5626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77671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4A46D1-82AE-A1A3-7F88-D33D33971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B13768-3B26-2C38-28C2-2BDEDC9E8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D32AFD-D8E7-8653-C72D-3B2002240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40761-54E8-4DAB-AAFA-BFE2465254B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61D21D-4E04-643B-CC97-04039CFC4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C5F179-2B29-05DF-510D-D09B6878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AC0F-0C53-4BDF-B37B-7E554C5626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62328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76DA07-9E61-42D1-7C7A-E6A92EDC0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E8E13D-979D-F99F-E0F3-3849ADCE9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353DC2-3C90-F9CC-8D53-54C8E6077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40761-54E8-4DAB-AAFA-BFE2465254B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0AC1B1-17BA-DC6C-1736-37149FC83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AC3DF8-8904-CEDB-DB8A-3D4CD9A8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AC0F-0C53-4BDF-B37B-7E554C5626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661173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5825DD-E46D-D833-01A8-ADBC8C043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3961A9-37C0-DC13-19B2-88CB2A51A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FEC8B8B-4CEE-1927-6E8C-9B6E407C5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DB9259-65B3-4E37-F57F-B210328A5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40761-54E8-4DAB-AAFA-BFE2465254B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673B9A4-3400-B58D-03C7-5E2A0A308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93F4BC-FE09-446E-4E80-B3A54CEC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AC0F-0C53-4BDF-B37B-7E554C5626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992588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2862C2-211D-107A-78F8-DF8D855E8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16274E-7FF4-5157-68E1-034E398F3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131890C-3F60-C904-6068-9F918469B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512BEA7-BC83-718A-6C92-0ED1398A80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12C7537-7AAF-EAE4-EBF8-8A9F9B731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B64CEB1-9EBF-3A73-C341-BBB4ABE14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40761-54E8-4DAB-AAFA-BFE2465254B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9DCDFA9-5B40-76FC-22DD-6CFC53458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75438E1-77C0-90B7-CAF4-E0F20FC61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AC0F-0C53-4BDF-B37B-7E554C5626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05634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EB481A-A0D2-0BB8-57E5-BE448E5B6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3480253-11A6-60A9-ADE4-21D6DFB43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40761-54E8-4DAB-AAFA-BFE2465254B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CB11B9-80E2-1ECB-BAA6-AB1851015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2897F4-731C-FF50-5A75-B0D92FB0E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AC0F-0C53-4BDF-B37B-7E554C5626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50843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7CCE352-24F7-4449-3133-A812FC6BF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40761-54E8-4DAB-AAFA-BFE2465254B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BC8A009-C869-617B-719E-CE537189F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588735-C46F-1E92-1ABF-8C8AEE8E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AC0F-0C53-4BDF-B37B-7E554C5626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26164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FF35CA-85BA-F2BF-9B7B-3748017F6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820E72-F10F-7D5D-A73F-F95F65451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D26B3B3-A9D9-CE05-8DDC-15803D72A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0AE041F-D9BF-2E48-C7A0-D65CB8B6A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40761-54E8-4DAB-AAFA-BFE2465254B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D9B3D4-3F2F-71BB-B801-883A9B0C3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04AE3A-D78A-A993-46D6-8979AC567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AC0F-0C53-4BDF-B37B-7E554C5626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902615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0599E7-F548-C4E0-16F1-B4683220B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2D4D3C6-B40E-6982-C14F-00E96D5F1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154D323-F1FA-F7E6-E945-C03353319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6F730BF-9F12-FC08-0D8E-CFF12A00F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40761-54E8-4DAB-AAFA-BFE2465254B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DE43A8-2058-3418-5BCD-7C547119D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A958C-43BA-B1BE-290A-BDF8FBB31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AC0F-0C53-4BDF-B37B-7E554C5626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511202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E468DD-A245-B67F-1814-55E4CD219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972DA2-6BFE-0462-68A6-EC29FEDF8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85FEDA-426D-EECC-595C-7ED2EB4E2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40761-54E8-4DAB-AAFA-BFE2465254B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7762F4-AC72-24DD-947A-EF381FFCD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B0BE43-D3AC-33F2-55B1-8A3CA416F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AC0F-0C53-4BDF-B37B-7E554C5626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22830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2486ED0-DDD3-12B4-0263-8C9D5FD6B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325590-F783-F6A9-103B-52687A4DC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A6B020-BF91-6488-4A79-582F6F01D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40761-54E8-4DAB-AAFA-BFE2465254B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87D249-EF3E-287A-FC91-464685214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204B8B-C151-E732-003C-17F8FBF9C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AC0F-0C53-4BDF-B37B-7E554C5626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886528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9"/>
          <p:cNvSpPr txBox="1">
            <a:spLocks noGrp="1"/>
          </p:cNvSpPr>
          <p:nvPr>
            <p:ph type="title"/>
          </p:nvPr>
        </p:nvSpPr>
        <p:spPr>
          <a:xfrm>
            <a:off x="883200" y="128788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2" name="Google Shape;692;p49"/>
          <p:cNvSpPr txBox="1">
            <a:spLocks noGrp="1"/>
          </p:cNvSpPr>
          <p:nvPr>
            <p:ph type="subTitle" idx="1"/>
          </p:nvPr>
        </p:nvSpPr>
        <p:spPr>
          <a:xfrm>
            <a:off x="883201" y="1731875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3" name="Google Shape;693;p49"/>
          <p:cNvSpPr txBox="1">
            <a:spLocks noGrp="1"/>
          </p:cNvSpPr>
          <p:nvPr>
            <p:ph type="title" idx="2"/>
          </p:nvPr>
        </p:nvSpPr>
        <p:spPr>
          <a:xfrm>
            <a:off x="883201" y="244556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4" name="Google Shape;694;p49"/>
          <p:cNvSpPr txBox="1">
            <a:spLocks noGrp="1"/>
          </p:cNvSpPr>
          <p:nvPr>
            <p:ph type="subTitle" idx="3"/>
          </p:nvPr>
        </p:nvSpPr>
        <p:spPr>
          <a:xfrm>
            <a:off x="883201" y="2884841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5" name="Google Shape;695;p49"/>
          <p:cNvSpPr txBox="1">
            <a:spLocks noGrp="1"/>
          </p:cNvSpPr>
          <p:nvPr>
            <p:ph type="title" idx="4"/>
          </p:nvPr>
        </p:nvSpPr>
        <p:spPr>
          <a:xfrm>
            <a:off x="883176" y="3577196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6" name="Google Shape;696;p49"/>
          <p:cNvSpPr txBox="1">
            <a:spLocks noGrp="1"/>
          </p:cNvSpPr>
          <p:nvPr>
            <p:ph type="subTitle" idx="5"/>
          </p:nvPr>
        </p:nvSpPr>
        <p:spPr>
          <a:xfrm>
            <a:off x="883176" y="4020638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49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49"/>
          <p:cNvSpPr txBox="1">
            <a:spLocks noGrp="1"/>
          </p:cNvSpPr>
          <p:nvPr>
            <p:ph type="title" idx="7"/>
          </p:nvPr>
        </p:nvSpPr>
        <p:spPr>
          <a:xfrm>
            <a:off x="6092700" y="128788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9" name="Google Shape;699;p49"/>
          <p:cNvSpPr txBox="1">
            <a:spLocks noGrp="1"/>
          </p:cNvSpPr>
          <p:nvPr>
            <p:ph type="subTitle" idx="8"/>
          </p:nvPr>
        </p:nvSpPr>
        <p:spPr>
          <a:xfrm>
            <a:off x="6092701" y="1731875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49"/>
          <p:cNvSpPr txBox="1">
            <a:spLocks noGrp="1"/>
          </p:cNvSpPr>
          <p:nvPr>
            <p:ph type="title" idx="9"/>
          </p:nvPr>
        </p:nvSpPr>
        <p:spPr>
          <a:xfrm>
            <a:off x="6092701" y="244556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01" name="Google Shape;701;p49"/>
          <p:cNvSpPr txBox="1">
            <a:spLocks noGrp="1"/>
          </p:cNvSpPr>
          <p:nvPr>
            <p:ph type="subTitle" idx="13"/>
          </p:nvPr>
        </p:nvSpPr>
        <p:spPr>
          <a:xfrm>
            <a:off x="6092701" y="2884841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49"/>
          <p:cNvSpPr txBox="1">
            <a:spLocks noGrp="1"/>
          </p:cNvSpPr>
          <p:nvPr>
            <p:ph type="title" idx="14"/>
          </p:nvPr>
        </p:nvSpPr>
        <p:spPr>
          <a:xfrm>
            <a:off x="6092676" y="3577196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03" name="Google Shape;703;p49"/>
          <p:cNvSpPr txBox="1">
            <a:spLocks noGrp="1"/>
          </p:cNvSpPr>
          <p:nvPr>
            <p:ph type="subTitle" idx="15"/>
          </p:nvPr>
        </p:nvSpPr>
        <p:spPr>
          <a:xfrm>
            <a:off x="6092676" y="4020638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243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490982-65D0-0FB0-553B-28F9FAD69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9ABFB6-ECB9-CFE6-27A4-FF089F704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C13FB6-64B0-26DC-4828-820FD962D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040761-54E8-4DAB-AAFA-BFE2465254B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392F6F-B528-01BE-C588-CBC4BCB443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648AC7-FA2A-D656-99CA-E26DBF720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4AC0F-0C53-4BDF-B37B-7E554C5626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006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2103120" cy="137160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0" y="182880"/>
            <a:ext cx="2286000" cy="137160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0" y="182880"/>
            <a:ext cx="2011680" cy="137160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0" y="182880"/>
            <a:ext cx="2011680" cy="137160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66560" y="182879"/>
            <a:ext cx="2377440" cy="172849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14400"/>
            <a:ext cx="8458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solidFill>
                  <a:srgbClr val="141642"/>
                </a:solidFill>
              </a:rPr>
              <a:t>Analyse</a:t>
            </a:r>
            <a:r>
              <a:rPr sz="2400" b="1" dirty="0">
                <a:solidFill>
                  <a:srgbClr val="141642"/>
                </a:solidFill>
              </a:rPr>
              <a:t> de </a:t>
            </a:r>
            <a:r>
              <a:rPr sz="2400" b="1" dirty="0" err="1">
                <a:solidFill>
                  <a:srgbClr val="141642"/>
                </a:solidFill>
              </a:rPr>
              <a:t>demande</a:t>
            </a:r>
            <a:r>
              <a:rPr sz="2400" b="1" dirty="0">
                <a:solidFill>
                  <a:srgbClr val="141642"/>
                </a:solidFill>
              </a:rPr>
              <a:t> business</a:t>
            </a:r>
            <a:r>
              <a:rPr lang="fr-FR" sz="2400" b="1" dirty="0">
                <a:solidFill>
                  <a:srgbClr val="141642"/>
                </a:solidFill>
              </a:rPr>
              <a:t> </a:t>
            </a:r>
            <a:r>
              <a:rPr sz="2400" b="1" dirty="0">
                <a:solidFill>
                  <a:srgbClr val="141642"/>
                </a:solidFill>
              </a:rPr>
              <a:t>&amp; segmentation </a:t>
            </a:r>
            <a:r>
              <a:rPr sz="2400" b="1" dirty="0" err="1">
                <a:solidFill>
                  <a:srgbClr val="141642"/>
                </a:solidFill>
              </a:rPr>
              <a:t>marché</a:t>
            </a:r>
            <a:endParaRPr lang="fr-FR" sz="2400" b="1" dirty="0">
              <a:solidFill>
                <a:srgbClr val="141642"/>
              </a:solidFill>
            </a:endParaRPr>
          </a:p>
          <a:p>
            <a:endParaRPr sz="2400" b="1" dirty="0">
              <a:solidFill>
                <a:srgbClr val="141642"/>
              </a:solidFill>
            </a:endParaRPr>
          </a:p>
          <a:p>
            <a:r>
              <a:rPr sz="1600" dirty="0" err="1">
                <a:solidFill>
                  <a:srgbClr val="373B48"/>
                </a:solidFill>
              </a:rPr>
              <a:t>Projet</a:t>
            </a:r>
            <a:r>
              <a:rPr sz="1600" dirty="0">
                <a:solidFill>
                  <a:srgbClr val="373B48"/>
                </a:solidFill>
              </a:rPr>
              <a:t> P10 — UOI Games | </a:t>
            </a:r>
            <a:r>
              <a:rPr sz="1600" dirty="0" err="1">
                <a:solidFill>
                  <a:srgbClr val="373B48"/>
                </a:solidFill>
              </a:rPr>
              <a:t>Lancement</a:t>
            </a:r>
            <a:r>
              <a:rPr sz="1600" dirty="0">
                <a:solidFill>
                  <a:srgbClr val="373B48"/>
                </a:solidFill>
              </a:rPr>
              <a:t> d’un jeu </a:t>
            </a:r>
            <a:r>
              <a:rPr sz="1600" dirty="0" err="1">
                <a:solidFill>
                  <a:srgbClr val="373B48"/>
                </a:solidFill>
              </a:rPr>
              <a:t>vidéo</a:t>
            </a:r>
            <a:r>
              <a:rPr sz="1600" dirty="0">
                <a:solidFill>
                  <a:srgbClr val="373B48"/>
                </a:solidFill>
              </a:rPr>
              <a:t> AAA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" y="2550289"/>
            <a:ext cx="8458199" cy="822960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 dirty="0" err="1">
                <a:solidFill>
                  <a:srgbClr val="FFFFFF"/>
                </a:solidFill>
              </a:rPr>
              <a:t>Recommandation</a:t>
            </a:r>
            <a:r>
              <a:rPr sz="1900" b="1" dirty="0">
                <a:solidFill>
                  <a:srgbClr val="FFFFFF"/>
                </a:solidFill>
              </a:rPr>
              <a:t> : Action-</a:t>
            </a:r>
            <a:r>
              <a:rPr sz="1900" b="1" dirty="0" err="1">
                <a:solidFill>
                  <a:srgbClr val="FFFFFF"/>
                </a:solidFill>
              </a:rPr>
              <a:t>aventure</a:t>
            </a:r>
            <a:r>
              <a:rPr sz="1900" b="1" dirty="0">
                <a:solidFill>
                  <a:srgbClr val="FFFFFF"/>
                </a:solidFill>
              </a:rPr>
              <a:t> AAA premium — PC + consoles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6300" y="4728078"/>
            <a:ext cx="263726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dirty="0">
                <a:solidFill>
                  <a:srgbClr val="6D757D"/>
                </a:solidFill>
              </a:rPr>
              <a:t>Henrique Da Costa —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9164"/>
            <a:ext cx="1534885" cy="59436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9114" y="164592"/>
            <a:ext cx="1534886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603503"/>
            <a:ext cx="2338250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rgbClr val="FFFFFF"/>
                </a:solidFill>
              </a:rPr>
              <a:t>SOMMAIRE</a:t>
            </a:r>
            <a:endParaRPr sz="2000" b="1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66760" y="480974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D757D"/>
                </a:solidFill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606972" y="1325880"/>
            <a:ext cx="536028" cy="347472"/>
          </a:xfrm>
          <a:prstGeom prst="ellipse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353312"/>
            <a:ext cx="34747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41642"/>
                </a:solidFill>
              </a:rPr>
              <a:t>Contexte &amp; demande business</a:t>
            </a:r>
          </a:p>
        </p:txBody>
      </p:sp>
      <p:sp>
        <p:nvSpPr>
          <p:cNvPr id="15" name="Oval 14"/>
          <p:cNvSpPr/>
          <p:nvPr/>
        </p:nvSpPr>
        <p:spPr>
          <a:xfrm>
            <a:off x="4617720" y="1325880"/>
            <a:ext cx="561702" cy="347472"/>
          </a:xfrm>
          <a:prstGeom prst="ellipse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353312"/>
            <a:ext cx="34747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41642"/>
                </a:solidFill>
              </a:rPr>
              <a:t>Méthodologie &amp; données</a:t>
            </a:r>
          </a:p>
        </p:txBody>
      </p:sp>
      <p:sp>
        <p:nvSpPr>
          <p:cNvPr id="17" name="Oval 16"/>
          <p:cNvSpPr/>
          <p:nvPr/>
        </p:nvSpPr>
        <p:spPr>
          <a:xfrm>
            <a:off x="606972" y="2185415"/>
            <a:ext cx="536028" cy="347472"/>
          </a:xfrm>
          <a:prstGeom prst="ellipse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221991"/>
            <a:ext cx="34747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41642"/>
                </a:solidFill>
              </a:rPr>
              <a:t>Tendances marché</a:t>
            </a:r>
          </a:p>
        </p:txBody>
      </p:sp>
      <p:sp>
        <p:nvSpPr>
          <p:cNvPr id="19" name="Oval 18"/>
          <p:cNvSpPr/>
          <p:nvPr/>
        </p:nvSpPr>
        <p:spPr>
          <a:xfrm>
            <a:off x="4617720" y="2194559"/>
            <a:ext cx="561702" cy="347472"/>
          </a:xfrm>
          <a:prstGeom prst="ellipse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221991"/>
            <a:ext cx="34747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41642"/>
                </a:solidFill>
              </a:rPr>
              <a:t>Analyses internes &amp; questionnaire</a:t>
            </a:r>
          </a:p>
        </p:txBody>
      </p:sp>
      <p:sp>
        <p:nvSpPr>
          <p:cNvPr id="21" name="Oval 20"/>
          <p:cNvSpPr/>
          <p:nvPr/>
        </p:nvSpPr>
        <p:spPr>
          <a:xfrm>
            <a:off x="606972" y="3063239"/>
            <a:ext cx="536028" cy="347472"/>
          </a:xfrm>
          <a:prstGeom prst="ellipse">
            <a:avLst/>
          </a:prstGeom>
          <a:solidFill>
            <a:srgbClr val="1E7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090671"/>
            <a:ext cx="34747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41642"/>
                </a:solidFill>
              </a:rPr>
              <a:t>SWOT / PESTEL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3076955"/>
            <a:ext cx="561702" cy="347472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090671"/>
            <a:ext cx="34747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41642"/>
                </a:solidFill>
              </a:rPr>
              <a:t>Segmentation &amp; recommandation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155" y="4037077"/>
            <a:ext cx="7772400" cy="50292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r>
              <a:rPr sz="1500" b="1" dirty="0">
                <a:solidFill>
                  <a:srgbClr val="373B48"/>
                </a:solidFill>
              </a:rPr>
              <a:t>Objectif</a:t>
            </a:r>
            <a:r>
              <a:rPr sz="1500" b="0" dirty="0">
                <a:solidFill>
                  <a:srgbClr val="373B48"/>
                </a:solidFill>
              </a:rPr>
              <a:t> : passer d’un corpus de données </a:t>
            </a:r>
            <a:r>
              <a:rPr sz="1500" b="0" dirty="0" err="1">
                <a:solidFill>
                  <a:srgbClr val="373B48"/>
                </a:solidFill>
              </a:rPr>
              <a:t>hétérogènes</a:t>
            </a:r>
            <a:r>
              <a:rPr sz="1500" b="0" dirty="0">
                <a:solidFill>
                  <a:srgbClr val="373B48"/>
                </a:solidFill>
              </a:rPr>
              <a:t> à </a:t>
            </a:r>
            <a:r>
              <a:rPr sz="1500" b="0" dirty="0" err="1">
                <a:solidFill>
                  <a:srgbClr val="373B48"/>
                </a:solidFill>
              </a:rPr>
              <a:t>une</a:t>
            </a:r>
            <a:r>
              <a:rPr sz="1500" b="0" dirty="0">
                <a:solidFill>
                  <a:srgbClr val="373B48"/>
                </a:solidFill>
              </a:rPr>
              <a:t> </a:t>
            </a:r>
            <a:r>
              <a:rPr sz="1500" b="0" dirty="0" err="1">
                <a:solidFill>
                  <a:srgbClr val="373B48"/>
                </a:solidFill>
              </a:rPr>
              <a:t>décision</a:t>
            </a:r>
            <a:r>
              <a:rPr sz="1500" b="0" dirty="0">
                <a:solidFill>
                  <a:srgbClr val="373B48"/>
                </a:solidFill>
              </a:rPr>
              <a:t> business </a:t>
            </a:r>
            <a:r>
              <a:rPr sz="1500" b="0" dirty="0" err="1">
                <a:solidFill>
                  <a:srgbClr val="373B48"/>
                </a:solidFill>
              </a:rPr>
              <a:t>actionnable</a:t>
            </a:r>
            <a:r>
              <a:rPr sz="1500" b="0" dirty="0">
                <a:solidFill>
                  <a:srgbClr val="373B48"/>
                </a:solidFill>
              </a:rPr>
              <a:t> pour un premier jeu </a:t>
            </a:r>
            <a:r>
              <a:rPr sz="1500" b="0" dirty="0" err="1">
                <a:solidFill>
                  <a:srgbClr val="373B48"/>
                </a:solidFill>
              </a:rPr>
              <a:t>vidéo</a:t>
            </a:r>
            <a:r>
              <a:rPr sz="1500" b="0" dirty="0">
                <a:solidFill>
                  <a:srgbClr val="373B48"/>
                </a:solidFill>
              </a:rPr>
              <a:t> AAA.</a:t>
            </a: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9A43E2DC-B8EA-92A6-50BA-6EE364CB2425}"/>
              </a:ext>
            </a:extLst>
          </p:cNvPr>
          <p:cNvSpPr txBox="1"/>
          <p:nvPr/>
        </p:nvSpPr>
        <p:spPr>
          <a:xfrm>
            <a:off x="411480" y="4828032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 dirty="0" err="1">
                <a:solidFill>
                  <a:srgbClr val="6D757D"/>
                </a:solidFill>
              </a:rPr>
              <a:t>Projet</a:t>
            </a:r>
            <a:r>
              <a:rPr sz="750" dirty="0">
                <a:solidFill>
                  <a:srgbClr val="6D757D"/>
                </a:solidFill>
              </a:rPr>
              <a:t> P10 — UOI Games | Données OC, questionnaire et sources externes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53488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9114" y="164592"/>
            <a:ext cx="1534886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329184"/>
            <a:ext cx="2338250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01 _ </a:t>
            </a:r>
            <a:r>
              <a:rPr b="1" dirty="0">
                <a:solidFill>
                  <a:srgbClr val="FFFFFF"/>
                </a:solidFill>
              </a:rPr>
              <a:t>CONTEXTE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76656"/>
            <a:ext cx="6933180" cy="46166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lang="fr-FR" sz="2400" b="1" dirty="0">
                <a:solidFill>
                  <a:srgbClr val="141642"/>
                </a:solidFill>
              </a:rPr>
              <a:t>U</a:t>
            </a:r>
            <a:r>
              <a:rPr sz="2400" b="1" dirty="0">
                <a:solidFill>
                  <a:srgbClr val="141642"/>
                </a:solidFill>
              </a:rPr>
              <a:t>ne </a:t>
            </a:r>
            <a:r>
              <a:rPr sz="2400" b="1" dirty="0" err="1">
                <a:solidFill>
                  <a:srgbClr val="141642"/>
                </a:solidFill>
              </a:rPr>
              <a:t>décision</a:t>
            </a:r>
            <a:r>
              <a:rPr sz="2400" b="1" dirty="0">
                <a:solidFill>
                  <a:srgbClr val="141642"/>
                </a:solidFill>
              </a:rPr>
              <a:t> de </a:t>
            </a:r>
            <a:r>
              <a:rPr sz="2400" b="1" dirty="0" err="1">
                <a:solidFill>
                  <a:srgbClr val="141642"/>
                </a:solidFill>
              </a:rPr>
              <a:t>positionnement</a:t>
            </a:r>
            <a:r>
              <a:rPr sz="2400" b="1" dirty="0">
                <a:solidFill>
                  <a:srgbClr val="141642"/>
                </a:solidFill>
              </a:rPr>
              <a:t> avant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28032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 dirty="0" err="1">
                <a:solidFill>
                  <a:srgbClr val="6D757D"/>
                </a:solidFill>
              </a:rPr>
              <a:t>Projet</a:t>
            </a:r>
            <a:r>
              <a:rPr sz="750" dirty="0">
                <a:solidFill>
                  <a:srgbClr val="6D757D"/>
                </a:solidFill>
              </a:rPr>
              <a:t> P10 — UOI Games | Données OC, questionnaire et sources externes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80974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D757D"/>
                </a:solidFill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234440"/>
            <a:ext cx="210312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1234440"/>
            <a:ext cx="64008" cy="822960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307592"/>
            <a:ext cx="187451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7148E8"/>
                </a:solidFill>
              </a:rPr>
              <a:t>Client</a:t>
            </a:r>
          </a:p>
          <a:p>
            <a:pPr>
              <a:spcBef>
                <a:spcPts val="200"/>
              </a:spcBef>
            </a:pPr>
            <a:r>
              <a:rPr sz="1600" b="1" dirty="0">
                <a:solidFill>
                  <a:srgbClr val="141642"/>
                </a:solidFill>
              </a:rPr>
              <a:t>UOI Games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1234440"/>
            <a:ext cx="256032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80360" y="1234440"/>
            <a:ext cx="64008" cy="822960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17520" y="1307592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6D5C"/>
                </a:solidFill>
              </a:rPr>
              <a:t>Projet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41642"/>
                </a:solidFill>
              </a:rPr>
              <a:t>Premier jeu AAA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234440"/>
            <a:ext cx="265176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23560" y="1234440"/>
            <a:ext cx="64008" cy="822960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720" y="1307592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AA650"/>
                </a:solidFill>
              </a:rPr>
              <a:t>Décision attendue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41642"/>
                </a:solidFill>
              </a:rPr>
              <a:t>Choix du segment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423160"/>
            <a:ext cx="182880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r>
              <a:rPr sz="1200" b="1">
                <a:solidFill>
                  <a:srgbClr val="7148E8"/>
                </a:solidFill>
              </a:rPr>
              <a:t>Question business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2697480"/>
            <a:ext cx="7818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642"/>
                </a:solidFill>
              </a:rPr>
              <a:t>Quel segment du marché du jeu vidéo offre le meilleur équilibre entre potentiel commercial, attentes consommateurs, faisabilité stratégique et cohérence AAA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886200"/>
            <a:ext cx="5875808" cy="6001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b="1" dirty="0">
                <a:solidFill>
                  <a:srgbClr val="7148E8"/>
                </a:solidFill>
              </a:rPr>
              <a:t>• </a:t>
            </a:r>
            <a:r>
              <a:rPr lang="fr-FR" sz="1100" b="1" dirty="0">
                <a:solidFill>
                  <a:srgbClr val="373B48"/>
                </a:solidFill>
              </a:rPr>
              <a:t>U</a:t>
            </a:r>
            <a:r>
              <a:rPr sz="1100" dirty="0">
                <a:solidFill>
                  <a:srgbClr val="373B48"/>
                </a:solidFill>
              </a:rPr>
              <a:t>ne étude </a:t>
            </a:r>
            <a:r>
              <a:rPr sz="1100" dirty="0" err="1">
                <a:solidFill>
                  <a:srgbClr val="373B48"/>
                </a:solidFill>
              </a:rPr>
              <a:t>d’opportunité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marché</a:t>
            </a:r>
            <a:r>
              <a:rPr sz="1100" dirty="0">
                <a:solidFill>
                  <a:srgbClr val="373B48"/>
                </a:solidFill>
              </a:rPr>
              <a:t>.</a:t>
            </a:r>
          </a:p>
          <a:p>
            <a:pPr>
              <a:spcAft>
                <a:spcPts val="0"/>
              </a:spcAft>
            </a:pPr>
            <a:r>
              <a:rPr sz="1100" b="1" dirty="0">
                <a:solidFill>
                  <a:srgbClr val="7148E8"/>
                </a:solidFill>
              </a:rPr>
              <a:t>• </a:t>
            </a:r>
            <a:r>
              <a:rPr sz="1100" dirty="0" err="1">
                <a:solidFill>
                  <a:srgbClr val="373B48"/>
                </a:solidFill>
              </a:rPr>
              <a:t>Livrables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attendus</a:t>
            </a:r>
            <a:r>
              <a:rPr sz="1100" dirty="0">
                <a:solidFill>
                  <a:srgbClr val="373B48"/>
                </a:solidFill>
              </a:rPr>
              <a:t> : </a:t>
            </a:r>
            <a:r>
              <a:rPr sz="1100" dirty="0" err="1">
                <a:solidFill>
                  <a:srgbClr val="373B48"/>
                </a:solidFill>
              </a:rPr>
              <a:t>analyse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documentée</a:t>
            </a:r>
            <a:r>
              <a:rPr sz="1100" dirty="0">
                <a:solidFill>
                  <a:srgbClr val="373B48"/>
                </a:solidFill>
              </a:rPr>
              <a:t> + support de </a:t>
            </a:r>
            <a:r>
              <a:rPr sz="1100" dirty="0" err="1">
                <a:solidFill>
                  <a:srgbClr val="373B48"/>
                </a:solidFill>
              </a:rPr>
              <a:t>présentation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synthétique</a:t>
            </a:r>
            <a:r>
              <a:rPr sz="1100" dirty="0">
                <a:solidFill>
                  <a:srgbClr val="373B48"/>
                </a:solidFill>
              </a:rPr>
              <a:t>.</a:t>
            </a:r>
          </a:p>
          <a:p>
            <a:pPr>
              <a:spcAft>
                <a:spcPts val="0"/>
              </a:spcAft>
            </a:pPr>
            <a:r>
              <a:rPr sz="1100" b="1" dirty="0">
                <a:solidFill>
                  <a:srgbClr val="7148E8"/>
                </a:solidFill>
              </a:rPr>
              <a:t>• </a:t>
            </a:r>
            <a:r>
              <a:rPr sz="1100" dirty="0">
                <a:solidFill>
                  <a:srgbClr val="373B48"/>
                </a:solidFill>
              </a:rPr>
              <a:t>Sortie finale : un segment </a:t>
            </a:r>
            <a:r>
              <a:rPr sz="1100" dirty="0" err="1">
                <a:solidFill>
                  <a:srgbClr val="373B48"/>
                </a:solidFill>
              </a:rPr>
              <a:t>prioritaire</a:t>
            </a:r>
            <a:r>
              <a:rPr sz="1100" dirty="0">
                <a:solidFill>
                  <a:srgbClr val="373B48"/>
                </a:solidFill>
              </a:rPr>
              <a:t>, un concept de jeu et </a:t>
            </a:r>
            <a:r>
              <a:rPr sz="1100" dirty="0" err="1">
                <a:solidFill>
                  <a:srgbClr val="373B48"/>
                </a:solidFill>
              </a:rPr>
              <a:t>une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trajectoire</a:t>
            </a:r>
            <a:r>
              <a:rPr sz="1100" dirty="0">
                <a:solidFill>
                  <a:srgbClr val="373B48"/>
                </a:solidFill>
              </a:rPr>
              <a:t> de ventes plausible.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53488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9114" y="164592"/>
            <a:ext cx="1534886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329184"/>
            <a:ext cx="2057400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02 _ </a:t>
            </a:r>
            <a:r>
              <a:rPr b="1" dirty="0">
                <a:solidFill>
                  <a:srgbClr val="FFFFFF"/>
                </a:solidFill>
              </a:rPr>
              <a:t>MÉTHODE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76656"/>
            <a:ext cx="6293582" cy="46166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lang="fr-FR" sz="2400" b="1" dirty="0">
                <a:solidFill>
                  <a:srgbClr val="141642"/>
                </a:solidFill>
              </a:rPr>
              <a:t>T</a:t>
            </a:r>
            <a:r>
              <a:rPr sz="2400" b="1" dirty="0" err="1">
                <a:solidFill>
                  <a:srgbClr val="141642"/>
                </a:solidFill>
              </a:rPr>
              <a:t>rianguler</a:t>
            </a:r>
            <a:r>
              <a:rPr sz="2400" b="1" dirty="0">
                <a:solidFill>
                  <a:srgbClr val="141642"/>
                </a:solidFill>
              </a:rPr>
              <a:t> les </a:t>
            </a:r>
            <a:r>
              <a:rPr sz="2400" b="1" dirty="0" err="1">
                <a:solidFill>
                  <a:srgbClr val="141642"/>
                </a:solidFill>
              </a:rPr>
              <a:t>signaux</a:t>
            </a:r>
            <a:r>
              <a:rPr sz="2400" b="1" dirty="0">
                <a:solidFill>
                  <a:srgbClr val="141642"/>
                </a:solidFill>
              </a:rPr>
              <a:t> avant de </a:t>
            </a:r>
            <a:r>
              <a:rPr sz="2400" b="1" dirty="0" err="1">
                <a:solidFill>
                  <a:srgbClr val="141642"/>
                </a:solidFill>
              </a:rPr>
              <a:t>recommander</a:t>
            </a:r>
            <a:endParaRPr sz="2400" b="1" dirty="0">
              <a:solidFill>
                <a:srgbClr val="14164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" y="4828032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6D757D"/>
                </a:solidFill>
              </a:rPr>
              <a:t>Projet P10 — UOI Games | Données OC, questionnaire et sources externes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80974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D757D"/>
                </a:solidFill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25880"/>
            <a:ext cx="1920240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1325880"/>
            <a:ext cx="64008" cy="1417320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1399032"/>
            <a:ext cx="169164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48E8"/>
                </a:solidFill>
              </a:rPr>
              <a:t>Données OC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141642"/>
                </a:solidFill>
              </a:rPr>
              <a:t>Ventes 1980-2016
Catalogue 2022
Ventes consoles</a:t>
            </a:r>
          </a:p>
        </p:txBody>
      </p:sp>
      <p:sp>
        <p:nvSpPr>
          <p:cNvPr id="16" name="Oval 15"/>
          <p:cNvSpPr/>
          <p:nvPr/>
        </p:nvSpPr>
        <p:spPr>
          <a:xfrm>
            <a:off x="1188720" y="2971800"/>
            <a:ext cx="502920" cy="502920"/>
          </a:xfrm>
          <a:prstGeom prst="ellipse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03120" y="3054096"/>
            <a:ext cx="457200" cy="201168"/>
          </a:xfrm>
          <a:prstGeom prst="rightArrow">
            <a:avLst/>
          </a:prstGeom>
          <a:solidFill>
            <a:srgbClr val="6D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651760" y="1325880"/>
            <a:ext cx="1920240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51760" y="1325880"/>
            <a:ext cx="64008" cy="1417320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88920" y="1399032"/>
            <a:ext cx="169164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6D5C"/>
                </a:solidFill>
              </a:rPr>
              <a:t>Sources externes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141642"/>
                </a:solidFill>
              </a:rPr>
              <a:t>Newzoo, SELL, ESA/Circana, Video Games Europe, Sony/Nintendo</a:t>
            </a:r>
          </a:p>
        </p:txBody>
      </p:sp>
      <p:sp>
        <p:nvSpPr>
          <p:cNvPr id="21" name="Oval 20"/>
          <p:cNvSpPr/>
          <p:nvPr/>
        </p:nvSpPr>
        <p:spPr>
          <a:xfrm>
            <a:off x="3337560" y="2971800"/>
            <a:ext cx="502920" cy="502920"/>
          </a:xfrm>
          <a:prstGeom prst="ellipse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251960" y="3054096"/>
            <a:ext cx="457200" cy="201168"/>
          </a:xfrm>
          <a:prstGeom prst="rightArrow">
            <a:avLst/>
          </a:prstGeom>
          <a:solidFill>
            <a:srgbClr val="6D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800600" y="1325880"/>
            <a:ext cx="1920240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00600" y="1325880"/>
            <a:ext cx="64008" cy="1417320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37760" y="1399032"/>
            <a:ext cx="169164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AA650"/>
                </a:solidFill>
              </a:rPr>
              <a:t>Questionnaire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141642"/>
                </a:solidFill>
              </a:rPr>
              <a:t>14 réponses
Préférences, prix, plateformes, concepts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0" y="2971800"/>
            <a:ext cx="502920" cy="502920"/>
          </a:xfrm>
          <a:prstGeom prst="ellipse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400800" y="3054096"/>
            <a:ext cx="457200" cy="201168"/>
          </a:xfrm>
          <a:prstGeom prst="rightArrow">
            <a:avLst/>
          </a:prstGeom>
          <a:solidFill>
            <a:srgbClr val="6D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949440" y="1325880"/>
            <a:ext cx="1920240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49440" y="1325880"/>
            <a:ext cx="64008" cy="1417320"/>
          </a:xfrm>
          <a:prstGeom prst="rect">
            <a:avLst/>
          </a:prstGeom>
          <a:solidFill>
            <a:srgbClr val="1E7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86600" y="1399032"/>
            <a:ext cx="169164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78D2"/>
                </a:solidFill>
              </a:rPr>
              <a:t>Scoring final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141642"/>
                </a:solidFill>
              </a:rPr>
              <a:t>Interne 40 %
Externe 40 %
Questionnaire 20 %</a:t>
            </a:r>
          </a:p>
        </p:txBody>
      </p:sp>
      <p:sp>
        <p:nvSpPr>
          <p:cNvPr id="31" name="Oval 30"/>
          <p:cNvSpPr/>
          <p:nvPr/>
        </p:nvSpPr>
        <p:spPr>
          <a:xfrm>
            <a:off x="7635240" y="2971800"/>
            <a:ext cx="502920" cy="502920"/>
          </a:xfrm>
          <a:prstGeom prst="ellipse">
            <a:avLst/>
          </a:prstGeom>
          <a:solidFill>
            <a:srgbClr val="1E7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794760"/>
            <a:ext cx="182880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r>
              <a:rPr sz="1200" b="1">
                <a:solidFill>
                  <a:srgbClr val="7148E8"/>
                </a:solidFill>
              </a:rPr>
              <a:t>Principe directeur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069080"/>
            <a:ext cx="5596759" cy="5943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b="1" dirty="0">
                <a:solidFill>
                  <a:srgbClr val="7148E8"/>
                </a:solidFill>
              </a:rPr>
              <a:t>• </a:t>
            </a:r>
            <a:r>
              <a:rPr sz="1100" dirty="0">
                <a:solidFill>
                  <a:srgbClr val="373B48"/>
                </a:solidFill>
              </a:rPr>
              <a:t>Ne pas </a:t>
            </a:r>
            <a:r>
              <a:rPr sz="1100" dirty="0" err="1">
                <a:solidFill>
                  <a:srgbClr val="373B48"/>
                </a:solidFill>
              </a:rPr>
              <a:t>confondre</a:t>
            </a:r>
            <a:r>
              <a:rPr sz="1100" dirty="0">
                <a:solidFill>
                  <a:srgbClr val="373B48"/>
                </a:solidFill>
              </a:rPr>
              <a:t> ventes </a:t>
            </a:r>
            <a:r>
              <a:rPr sz="1100" dirty="0" err="1">
                <a:solidFill>
                  <a:srgbClr val="373B48"/>
                </a:solidFill>
              </a:rPr>
              <a:t>historiques</a:t>
            </a:r>
            <a:r>
              <a:rPr sz="1100" dirty="0">
                <a:solidFill>
                  <a:srgbClr val="373B48"/>
                </a:solidFill>
              </a:rPr>
              <a:t>, </a:t>
            </a:r>
            <a:r>
              <a:rPr sz="1100" dirty="0" err="1">
                <a:solidFill>
                  <a:srgbClr val="373B48"/>
                </a:solidFill>
              </a:rPr>
              <a:t>présence</a:t>
            </a:r>
            <a:r>
              <a:rPr sz="1100" dirty="0">
                <a:solidFill>
                  <a:srgbClr val="373B48"/>
                </a:solidFill>
              </a:rPr>
              <a:t> catalogue et tendances </a:t>
            </a:r>
            <a:r>
              <a:rPr sz="1100" dirty="0" err="1">
                <a:solidFill>
                  <a:srgbClr val="373B48"/>
                </a:solidFill>
              </a:rPr>
              <a:t>récentes</a:t>
            </a:r>
            <a:r>
              <a:rPr sz="1100" dirty="0">
                <a:solidFill>
                  <a:srgbClr val="373B48"/>
                </a:solidFill>
              </a:rPr>
              <a:t>.</a:t>
            </a:r>
          </a:p>
          <a:p>
            <a:pPr>
              <a:spcAft>
                <a:spcPts val="0"/>
              </a:spcAft>
            </a:pPr>
            <a:r>
              <a:rPr sz="1100" b="1" dirty="0">
                <a:solidFill>
                  <a:srgbClr val="7148E8"/>
                </a:solidFill>
              </a:rPr>
              <a:t>• </a:t>
            </a:r>
            <a:r>
              <a:rPr sz="1100" dirty="0">
                <a:solidFill>
                  <a:srgbClr val="373B48"/>
                </a:solidFill>
              </a:rPr>
              <a:t>Documenter les </a:t>
            </a:r>
            <a:r>
              <a:rPr sz="1100" dirty="0" err="1">
                <a:solidFill>
                  <a:srgbClr val="373B48"/>
                </a:solidFill>
              </a:rPr>
              <a:t>limites</a:t>
            </a:r>
            <a:r>
              <a:rPr sz="1100" dirty="0">
                <a:solidFill>
                  <a:srgbClr val="373B48"/>
                </a:solidFill>
              </a:rPr>
              <a:t> pour </a:t>
            </a:r>
            <a:r>
              <a:rPr sz="1100" dirty="0" err="1">
                <a:solidFill>
                  <a:srgbClr val="373B48"/>
                </a:solidFill>
              </a:rPr>
              <a:t>éviter</a:t>
            </a:r>
            <a:r>
              <a:rPr sz="1100" dirty="0">
                <a:solidFill>
                  <a:srgbClr val="373B48"/>
                </a:solidFill>
              </a:rPr>
              <a:t> la </a:t>
            </a:r>
            <a:r>
              <a:rPr sz="1100" dirty="0" err="1">
                <a:solidFill>
                  <a:srgbClr val="373B48"/>
                </a:solidFill>
              </a:rPr>
              <a:t>fausse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précision</a:t>
            </a:r>
            <a:r>
              <a:rPr sz="1100" dirty="0">
                <a:solidFill>
                  <a:srgbClr val="373B48"/>
                </a:solidFill>
              </a:rPr>
              <a:t>.</a:t>
            </a:r>
          </a:p>
          <a:p>
            <a:pPr>
              <a:spcAft>
                <a:spcPts val="0"/>
              </a:spcAft>
            </a:pPr>
            <a:r>
              <a:rPr sz="1100" b="1" dirty="0">
                <a:solidFill>
                  <a:srgbClr val="7148E8"/>
                </a:solidFill>
              </a:rPr>
              <a:t>• </a:t>
            </a:r>
            <a:r>
              <a:rPr sz="1100" dirty="0">
                <a:solidFill>
                  <a:srgbClr val="373B48"/>
                </a:solidFill>
              </a:rPr>
              <a:t>Faire </a:t>
            </a:r>
            <a:r>
              <a:rPr sz="1100" dirty="0" err="1">
                <a:solidFill>
                  <a:srgbClr val="373B48"/>
                </a:solidFill>
              </a:rPr>
              <a:t>émerger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une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recommandation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lisible</a:t>
            </a:r>
            <a:r>
              <a:rPr sz="1100" dirty="0">
                <a:solidFill>
                  <a:srgbClr val="373B48"/>
                </a:solidFill>
              </a:rPr>
              <a:t>, pas </a:t>
            </a:r>
            <a:r>
              <a:rPr sz="1100" dirty="0" err="1">
                <a:solidFill>
                  <a:srgbClr val="373B48"/>
                </a:solidFill>
              </a:rPr>
              <a:t>seulement</a:t>
            </a:r>
            <a:r>
              <a:rPr sz="1100" dirty="0">
                <a:solidFill>
                  <a:srgbClr val="373B48"/>
                </a:solidFill>
              </a:rPr>
              <a:t> un </a:t>
            </a:r>
            <a:r>
              <a:rPr sz="1100" dirty="0" err="1">
                <a:solidFill>
                  <a:srgbClr val="373B48"/>
                </a:solidFill>
              </a:rPr>
              <a:t>classement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mécanique</a:t>
            </a:r>
            <a:r>
              <a:rPr sz="1100" dirty="0">
                <a:solidFill>
                  <a:srgbClr val="373B48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53488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9114" y="164592"/>
            <a:ext cx="1534886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329184"/>
            <a:ext cx="2286000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02 _ </a:t>
            </a:r>
            <a:r>
              <a:rPr b="1" dirty="0">
                <a:solidFill>
                  <a:srgbClr val="FFFFFF"/>
                </a:solidFill>
              </a:rPr>
              <a:t>DONNÉES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76656"/>
            <a:ext cx="8229600" cy="53035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400" b="1">
                <a:solidFill>
                  <a:srgbClr val="141642"/>
                </a:solidFill>
              </a:rPr>
              <a:t>Données exploitées : richesse réelle, limites assumées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28032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6D757D"/>
                </a:solidFill>
              </a:rPr>
              <a:t>Projet P10 — UOI Games | Données OC, questionnaire et sources externes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80974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D757D"/>
                </a:solidFill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234440"/>
            <a:ext cx="196596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1234440"/>
            <a:ext cx="64008" cy="777240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307592"/>
            <a:ext cx="17373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48E8"/>
                </a:solidFill>
              </a:rPr>
              <a:t>Ventes jeux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41642"/>
                </a:solidFill>
              </a:rPr>
              <a:t>16 545 lignes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1234440"/>
            <a:ext cx="196596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97480" y="1234440"/>
            <a:ext cx="64008" cy="777240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34640" y="1307592"/>
            <a:ext cx="17373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6D5C"/>
                </a:solidFill>
              </a:rPr>
              <a:t>Catalogue 2022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41642"/>
                </a:solidFill>
              </a:rPr>
              <a:t>440 896 lignes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1234440"/>
            <a:ext cx="169164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00600" y="1234440"/>
            <a:ext cx="64008" cy="777240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1307592"/>
            <a:ext cx="14630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AA650"/>
                </a:solidFill>
              </a:rPr>
              <a:t>Consoles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41642"/>
                </a:solidFill>
              </a:rPr>
              <a:t>20 lignes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1234440"/>
            <a:ext cx="17830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629400" y="1234440"/>
            <a:ext cx="64008" cy="777240"/>
          </a:xfrm>
          <a:prstGeom prst="rect">
            <a:avLst/>
          </a:prstGeom>
          <a:solidFill>
            <a:srgbClr val="1E7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1307592"/>
            <a:ext cx="15544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78D2"/>
                </a:solidFill>
              </a:rPr>
              <a:t>Questionnaire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41642"/>
                </a:solidFill>
              </a:rPr>
              <a:t>14 réponses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331720"/>
            <a:ext cx="182880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r>
              <a:rPr sz="1200" b="1">
                <a:solidFill>
                  <a:srgbClr val="7148E8"/>
                </a:solidFill>
              </a:rPr>
              <a:t>Usages analytiques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51760"/>
            <a:ext cx="3977639" cy="1280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50" b="1" dirty="0">
                <a:solidFill>
                  <a:srgbClr val="7148E8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Ventes 1980-2016 : </a:t>
            </a:r>
            <a:r>
              <a:rPr sz="1050" dirty="0" err="1">
                <a:solidFill>
                  <a:srgbClr val="373B48"/>
                </a:solidFill>
              </a:rPr>
              <a:t>mesurer</a:t>
            </a:r>
            <a:r>
              <a:rPr sz="1050" dirty="0">
                <a:solidFill>
                  <a:srgbClr val="373B48"/>
                </a:solidFill>
              </a:rPr>
              <a:t> les </a:t>
            </a:r>
            <a:r>
              <a:rPr sz="1050" dirty="0" err="1">
                <a:solidFill>
                  <a:srgbClr val="373B48"/>
                </a:solidFill>
              </a:rPr>
              <a:t>fondamentaux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historiques</a:t>
            </a:r>
            <a:r>
              <a:rPr sz="1050" dirty="0">
                <a:solidFill>
                  <a:srgbClr val="373B48"/>
                </a:solidFill>
              </a:rPr>
              <a:t> par genre, </a:t>
            </a:r>
            <a:r>
              <a:rPr sz="1050" dirty="0" err="1">
                <a:solidFill>
                  <a:srgbClr val="373B48"/>
                </a:solidFill>
              </a:rPr>
              <a:t>plateforme</a:t>
            </a:r>
            <a:r>
              <a:rPr sz="1050" dirty="0">
                <a:solidFill>
                  <a:srgbClr val="373B48"/>
                </a:solidFill>
              </a:rPr>
              <a:t> et zone.</a:t>
            </a:r>
          </a:p>
          <a:p>
            <a:pPr>
              <a:spcAft>
                <a:spcPts val="0"/>
              </a:spcAft>
            </a:pPr>
            <a:r>
              <a:rPr sz="1050" b="1" dirty="0">
                <a:solidFill>
                  <a:srgbClr val="7148E8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Catalogue 2022 : </a:t>
            </a:r>
            <a:r>
              <a:rPr sz="1050" dirty="0" err="1">
                <a:solidFill>
                  <a:srgbClr val="373B48"/>
                </a:solidFill>
              </a:rPr>
              <a:t>capter</a:t>
            </a:r>
            <a:r>
              <a:rPr sz="1050" dirty="0">
                <a:solidFill>
                  <a:srgbClr val="373B48"/>
                </a:solidFill>
              </a:rPr>
              <a:t> la </a:t>
            </a:r>
            <a:r>
              <a:rPr sz="1050" dirty="0" err="1">
                <a:solidFill>
                  <a:srgbClr val="373B48"/>
                </a:solidFill>
              </a:rPr>
              <a:t>présence</a:t>
            </a:r>
            <a:r>
              <a:rPr sz="1050" dirty="0">
                <a:solidFill>
                  <a:srgbClr val="373B48"/>
                </a:solidFill>
              </a:rPr>
              <a:t>, </a:t>
            </a:r>
            <a:r>
              <a:rPr sz="1050" dirty="0" err="1">
                <a:solidFill>
                  <a:srgbClr val="373B48"/>
                </a:solidFill>
              </a:rPr>
              <a:t>l’engagement</a:t>
            </a:r>
            <a:r>
              <a:rPr sz="1050" dirty="0">
                <a:solidFill>
                  <a:srgbClr val="373B48"/>
                </a:solidFill>
              </a:rPr>
              <a:t> et la </a:t>
            </a:r>
            <a:r>
              <a:rPr sz="1050" dirty="0" err="1">
                <a:solidFill>
                  <a:srgbClr val="373B48"/>
                </a:solidFill>
              </a:rPr>
              <a:t>diversité</a:t>
            </a:r>
            <a:r>
              <a:rPr sz="1050" dirty="0">
                <a:solidFill>
                  <a:srgbClr val="373B48"/>
                </a:solidFill>
              </a:rPr>
              <a:t> des jeux </a:t>
            </a:r>
            <a:r>
              <a:rPr sz="1050" dirty="0" err="1">
                <a:solidFill>
                  <a:srgbClr val="373B48"/>
                </a:solidFill>
              </a:rPr>
              <a:t>récents</a:t>
            </a:r>
            <a:r>
              <a:rPr sz="1050" dirty="0">
                <a:solidFill>
                  <a:srgbClr val="373B48"/>
                </a:solidFill>
              </a:rPr>
              <a:t>.</a:t>
            </a:r>
          </a:p>
          <a:p>
            <a:pPr>
              <a:spcAft>
                <a:spcPts val="0"/>
              </a:spcAft>
            </a:pPr>
            <a:r>
              <a:rPr sz="1050" b="1" dirty="0">
                <a:solidFill>
                  <a:srgbClr val="7148E8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Sources externes : </a:t>
            </a:r>
            <a:r>
              <a:rPr sz="1050" dirty="0" err="1">
                <a:solidFill>
                  <a:srgbClr val="373B48"/>
                </a:solidFill>
              </a:rPr>
              <a:t>actualiser</a:t>
            </a:r>
            <a:r>
              <a:rPr sz="1050" dirty="0">
                <a:solidFill>
                  <a:srgbClr val="373B48"/>
                </a:solidFill>
              </a:rPr>
              <a:t> la lecture du </a:t>
            </a:r>
            <a:r>
              <a:rPr sz="1050" dirty="0" err="1">
                <a:solidFill>
                  <a:srgbClr val="373B48"/>
                </a:solidFill>
              </a:rPr>
              <a:t>marché</a:t>
            </a:r>
            <a:r>
              <a:rPr sz="1050" dirty="0">
                <a:solidFill>
                  <a:srgbClr val="373B48"/>
                </a:solidFill>
              </a:rPr>
              <a:t> post-2016.</a:t>
            </a:r>
          </a:p>
          <a:p>
            <a:pPr>
              <a:spcAft>
                <a:spcPts val="0"/>
              </a:spcAft>
            </a:pPr>
            <a:r>
              <a:rPr sz="1050" b="1" dirty="0">
                <a:solidFill>
                  <a:srgbClr val="7148E8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Questionnaire : signal </a:t>
            </a:r>
            <a:r>
              <a:rPr sz="1050" dirty="0" err="1">
                <a:solidFill>
                  <a:srgbClr val="373B48"/>
                </a:solidFill>
              </a:rPr>
              <a:t>exploratoire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consommateur</a:t>
            </a:r>
            <a:r>
              <a:rPr sz="1050" dirty="0">
                <a:solidFill>
                  <a:srgbClr val="373B48"/>
                </a:solidFill>
              </a:rPr>
              <a:t>, non </a:t>
            </a:r>
            <a:r>
              <a:rPr sz="1050" dirty="0" err="1">
                <a:solidFill>
                  <a:srgbClr val="373B48"/>
                </a:solidFill>
              </a:rPr>
              <a:t>représentatif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statistiquement</a:t>
            </a:r>
            <a:r>
              <a:rPr sz="1050" dirty="0">
                <a:solidFill>
                  <a:srgbClr val="373B48"/>
                </a:solidFill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331720"/>
            <a:ext cx="182880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r>
              <a:rPr sz="1200" b="1">
                <a:solidFill>
                  <a:srgbClr val="FF6D5C"/>
                </a:solidFill>
              </a:rPr>
              <a:t>Limites structurantes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2651760"/>
            <a:ext cx="3566160" cy="1143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50" b="1" dirty="0">
                <a:solidFill>
                  <a:srgbClr val="FF6D5C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Les ventes jeux </a:t>
            </a:r>
            <a:r>
              <a:rPr sz="1050" dirty="0" err="1">
                <a:solidFill>
                  <a:srgbClr val="373B48"/>
                </a:solidFill>
              </a:rPr>
              <a:t>s’arrêtent</a:t>
            </a:r>
            <a:r>
              <a:rPr sz="1050" dirty="0">
                <a:solidFill>
                  <a:srgbClr val="373B48"/>
                </a:solidFill>
              </a:rPr>
              <a:t> à 2016 : pas de projection </a:t>
            </a:r>
            <a:r>
              <a:rPr sz="1050" dirty="0" err="1">
                <a:solidFill>
                  <a:srgbClr val="373B48"/>
                </a:solidFill>
              </a:rPr>
              <a:t>directe</a:t>
            </a:r>
            <a:r>
              <a:rPr sz="1050" dirty="0">
                <a:solidFill>
                  <a:srgbClr val="373B48"/>
                </a:solidFill>
              </a:rPr>
              <a:t> sans </a:t>
            </a:r>
            <a:r>
              <a:rPr sz="1050" dirty="0" err="1">
                <a:solidFill>
                  <a:srgbClr val="373B48"/>
                </a:solidFill>
              </a:rPr>
              <a:t>actualisation</a:t>
            </a:r>
            <a:r>
              <a:rPr sz="1050" dirty="0">
                <a:solidFill>
                  <a:srgbClr val="373B48"/>
                </a:solidFill>
              </a:rPr>
              <a:t> externe.</a:t>
            </a:r>
          </a:p>
          <a:p>
            <a:pPr>
              <a:spcAft>
                <a:spcPts val="0"/>
              </a:spcAft>
            </a:pPr>
            <a:r>
              <a:rPr sz="1050" b="1" dirty="0">
                <a:solidFill>
                  <a:srgbClr val="FF6D5C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Le catalogue 2022 </a:t>
            </a:r>
            <a:r>
              <a:rPr sz="1050" dirty="0" err="1">
                <a:solidFill>
                  <a:srgbClr val="373B48"/>
                </a:solidFill>
              </a:rPr>
              <a:t>n’est</a:t>
            </a:r>
            <a:r>
              <a:rPr sz="1050" dirty="0">
                <a:solidFill>
                  <a:srgbClr val="373B48"/>
                </a:solidFill>
              </a:rPr>
              <a:t> pas un </a:t>
            </a:r>
            <a:r>
              <a:rPr sz="1050" dirty="0" err="1">
                <a:solidFill>
                  <a:srgbClr val="373B48"/>
                </a:solidFill>
              </a:rPr>
              <a:t>fichier</a:t>
            </a:r>
            <a:r>
              <a:rPr sz="1050" dirty="0">
                <a:solidFill>
                  <a:srgbClr val="373B48"/>
                </a:solidFill>
              </a:rPr>
              <a:t> de ventes.</a:t>
            </a:r>
          </a:p>
          <a:p>
            <a:pPr>
              <a:spcAft>
                <a:spcPts val="0"/>
              </a:spcAft>
            </a:pPr>
            <a:r>
              <a:rPr sz="1050" b="1" dirty="0">
                <a:solidFill>
                  <a:srgbClr val="FF6D5C"/>
                </a:solidFill>
              </a:rPr>
              <a:t>• </a:t>
            </a:r>
            <a:r>
              <a:rPr sz="1050" dirty="0" err="1">
                <a:solidFill>
                  <a:srgbClr val="373B48"/>
                </a:solidFill>
              </a:rPr>
              <a:t>L’échantillon</a:t>
            </a:r>
            <a:r>
              <a:rPr sz="1050" dirty="0">
                <a:solidFill>
                  <a:srgbClr val="373B48"/>
                </a:solidFill>
              </a:rPr>
              <a:t> questionnaire est de convenance : utile pour </a:t>
            </a:r>
            <a:r>
              <a:rPr sz="1050" dirty="0" err="1">
                <a:solidFill>
                  <a:srgbClr val="373B48"/>
                </a:solidFill>
              </a:rPr>
              <a:t>éclairer</a:t>
            </a:r>
            <a:r>
              <a:rPr sz="1050" dirty="0">
                <a:solidFill>
                  <a:srgbClr val="373B48"/>
                </a:solidFill>
              </a:rPr>
              <a:t>, pas pour </a:t>
            </a:r>
            <a:r>
              <a:rPr sz="1050" dirty="0" err="1">
                <a:solidFill>
                  <a:srgbClr val="373B48"/>
                </a:solidFill>
              </a:rPr>
              <a:t>prouver</a:t>
            </a:r>
            <a:r>
              <a:rPr sz="1050" dirty="0">
                <a:solidFill>
                  <a:srgbClr val="373B48"/>
                </a:solidFill>
              </a:rPr>
              <a:t> seul.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21484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9114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329184"/>
            <a:ext cx="1920240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03 _ </a:t>
            </a:r>
            <a:r>
              <a:rPr b="1" dirty="0">
                <a:solidFill>
                  <a:srgbClr val="FFFFFF"/>
                </a:solidFill>
              </a:rPr>
              <a:t>MARCHÉ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76656"/>
            <a:ext cx="8229600" cy="53035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400" b="1">
                <a:solidFill>
                  <a:srgbClr val="141642"/>
                </a:solidFill>
              </a:rPr>
              <a:t>Tendances actuelles : un marché massif mais sélectif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28032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6D757D"/>
                </a:solidFill>
              </a:rPr>
              <a:t>Projet P10 — UOI Games | Données OC, questionnaire et sources externes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80974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D757D"/>
                </a:solidFill>
              </a:rP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234440"/>
            <a:ext cx="150876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1234440"/>
            <a:ext cx="64008" cy="914400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1307592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7148E8"/>
                </a:solidFill>
              </a:rPr>
              <a:t>Marché mondial 2025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41642"/>
                </a:solidFill>
              </a:rPr>
              <a:t>188,8 Md$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965960"/>
            <a:ext cx="13258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00" b="1" dirty="0" err="1">
                <a:solidFill>
                  <a:srgbClr val="6D757D"/>
                </a:solidFill>
              </a:rPr>
              <a:t>Newzoo</a:t>
            </a:r>
            <a:endParaRPr sz="800" b="1" dirty="0">
              <a:solidFill>
                <a:srgbClr val="6D757D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94560" y="1234440"/>
            <a:ext cx="150876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94560" y="1234440"/>
            <a:ext cx="64008" cy="914400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31720" y="1307592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F6D5C"/>
                </a:solidFill>
              </a:rPr>
              <a:t>Joueurs mondiaux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41642"/>
                </a:solidFill>
              </a:rPr>
              <a:t>3,6 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1965960"/>
            <a:ext cx="13258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00" b="1" dirty="0" err="1">
                <a:solidFill>
                  <a:srgbClr val="6D757D"/>
                </a:solidFill>
              </a:rPr>
              <a:t>Newzoo</a:t>
            </a:r>
            <a:endParaRPr sz="800" b="1" dirty="0">
              <a:solidFill>
                <a:srgbClr val="6D757D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886200" y="1234440"/>
            <a:ext cx="150876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886200" y="1234440"/>
            <a:ext cx="64008" cy="914400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23360" y="1307592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7AA650"/>
                </a:solidFill>
              </a:rPr>
              <a:t>Projection 2028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41642"/>
                </a:solidFill>
              </a:rPr>
              <a:t>206,5 Md$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40" y="1965960"/>
            <a:ext cx="13258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00" b="1" dirty="0" err="1">
                <a:solidFill>
                  <a:srgbClr val="6D757D"/>
                </a:solidFill>
              </a:rPr>
              <a:t>Newzoo</a:t>
            </a:r>
            <a:endParaRPr sz="800" b="1" dirty="0">
              <a:solidFill>
                <a:srgbClr val="6D757D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577840" y="1234440"/>
            <a:ext cx="150876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577840" y="1234440"/>
            <a:ext cx="64008" cy="914400"/>
          </a:xfrm>
          <a:prstGeom prst="rect">
            <a:avLst/>
          </a:prstGeom>
          <a:solidFill>
            <a:srgbClr val="1E7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15000" y="1307592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E78D2"/>
                </a:solidFill>
              </a:rPr>
              <a:t>Europe 2024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41642"/>
                </a:solidFill>
              </a:rPr>
              <a:t>26,8 Md€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1965960"/>
            <a:ext cx="13258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700" b="1" dirty="0">
                <a:solidFill>
                  <a:srgbClr val="6D757D"/>
                </a:solidFill>
              </a:rPr>
              <a:t>VGE</a:t>
            </a:r>
            <a:r>
              <a:rPr lang="fr-FR" sz="700" b="1" dirty="0">
                <a:solidFill>
                  <a:srgbClr val="6D757D"/>
                </a:solidFill>
              </a:rPr>
              <a:t> </a:t>
            </a:r>
            <a:r>
              <a:rPr sz="700" b="1" dirty="0">
                <a:solidFill>
                  <a:srgbClr val="6D757D"/>
                </a:solidFill>
              </a:rPr>
              <a:t>/</a:t>
            </a:r>
            <a:r>
              <a:rPr lang="fr-FR" sz="700" b="1" dirty="0">
                <a:solidFill>
                  <a:srgbClr val="6D757D"/>
                </a:solidFill>
              </a:rPr>
              <a:t> </a:t>
            </a:r>
            <a:r>
              <a:rPr sz="700" b="1" dirty="0">
                <a:solidFill>
                  <a:srgbClr val="6D757D"/>
                </a:solidFill>
              </a:rPr>
              <a:t>EGDF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1234440"/>
            <a:ext cx="150876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269480" y="1234440"/>
            <a:ext cx="64008" cy="914400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06640" y="1307592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6B93B"/>
                </a:solidFill>
              </a:rPr>
              <a:t>France 2024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41642"/>
                </a:solidFill>
              </a:rPr>
              <a:t>5,7 Md€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1965960"/>
            <a:ext cx="13258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700" b="1" dirty="0">
                <a:solidFill>
                  <a:srgbClr val="6D757D"/>
                </a:solidFill>
              </a:rPr>
              <a:t>SELL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2423160"/>
            <a:ext cx="384048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01_marche_mondial_2025_2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23160"/>
            <a:ext cx="4069080" cy="216460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800600" y="2560320"/>
            <a:ext cx="3977640" cy="11079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b="1" dirty="0">
                <a:solidFill>
                  <a:srgbClr val="7AA650"/>
                </a:solidFill>
              </a:rPr>
              <a:t>• </a:t>
            </a:r>
            <a:r>
              <a:rPr sz="1100" dirty="0">
                <a:solidFill>
                  <a:srgbClr val="373B48"/>
                </a:solidFill>
              </a:rPr>
              <a:t>Le jeu </a:t>
            </a:r>
            <a:r>
              <a:rPr sz="1100" dirty="0" err="1">
                <a:solidFill>
                  <a:srgbClr val="373B48"/>
                </a:solidFill>
              </a:rPr>
              <a:t>vidéo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reste</a:t>
            </a:r>
            <a:r>
              <a:rPr sz="1100" dirty="0">
                <a:solidFill>
                  <a:srgbClr val="373B48"/>
                </a:solidFill>
              </a:rPr>
              <a:t> un </a:t>
            </a:r>
            <a:r>
              <a:rPr sz="1100" dirty="0" err="1">
                <a:solidFill>
                  <a:srgbClr val="373B48"/>
                </a:solidFill>
              </a:rPr>
              <a:t>marché</a:t>
            </a:r>
            <a:r>
              <a:rPr sz="1100" dirty="0">
                <a:solidFill>
                  <a:srgbClr val="373B48"/>
                </a:solidFill>
              </a:rPr>
              <a:t> de masse, </a:t>
            </a:r>
            <a:r>
              <a:rPr sz="1100" dirty="0" err="1">
                <a:solidFill>
                  <a:srgbClr val="373B48"/>
                </a:solidFill>
              </a:rPr>
              <a:t>mais</a:t>
            </a:r>
            <a:r>
              <a:rPr sz="1100" dirty="0">
                <a:solidFill>
                  <a:srgbClr val="373B48"/>
                </a:solidFill>
              </a:rPr>
              <a:t> les AAA </a:t>
            </a:r>
            <a:r>
              <a:rPr sz="1100" dirty="0" err="1">
                <a:solidFill>
                  <a:srgbClr val="373B48"/>
                </a:solidFill>
              </a:rPr>
              <a:t>sont</a:t>
            </a:r>
            <a:r>
              <a:rPr sz="1100" dirty="0">
                <a:solidFill>
                  <a:srgbClr val="373B48"/>
                </a:solidFill>
              </a:rPr>
              <a:t> exposés à </a:t>
            </a:r>
            <a:r>
              <a:rPr sz="1100" dirty="0" err="1">
                <a:solidFill>
                  <a:srgbClr val="373B48"/>
                </a:solidFill>
              </a:rPr>
              <a:t>une</a:t>
            </a:r>
            <a:r>
              <a:rPr sz="1100" dirty="0">
                <a:solidFill>
                  <a:srgbClr val="373B48"/>
                </a:solidFill>
              </a:rPr>
              <a:t> forte exigence </a:t>
            </a:r>
            <a:r>
              <a:rPr sz="1100" dirty="0" err="1">
                <a:solidFill>
                  <a:srgbClr val="373B48"/>
                </a:solidFill>
              </a:rPr>
              <a:t>d’exécution</a:t>
            </a:r>
            <a:r>
              <a:rPr sz="1100" dirty="0">
                <a:solidFill>
                  <a:srgbClr val="373B48"/>
                </a:solidFill>
              </a:rPr>
              <a:t>.</a:t>
            </a:r>
          </a:p>
          <a:p>
            <a:pPr>
              <a:spcAft>
                <a:spcPts val="0"/>
              </a:spcAft>
            </a:pPr>
            <a:r>
              <a:rPr sz="1100" b="1" dirty="0">
                <a:solidFill>
                  <a:srgbClr val="7AA650"/>
                </a:solidFill>
              </a:rPr>
              <a:t>• </a:t>
            </a:r>
            <a:r>
              <a:rPr sz="1100" dirty="0">
                <a:solidFill>
                  <a:srgbClr val="373B48"/>
                </a:solidFill>
              </a:rPr>
              <a:t>La </a:t>
            </a:r>
            <a:r>
              <a:rPr sz="1100" dirty="0" err="1">
                <a:solidFill>
                  <a:srgbClr val="373B48"/>
                </a:solidFill>
              </a:rPr>
              <a:t>croissance</a:t>
            </a:r>
            <a:r>
              <a:rPr sz="1100" dirty="0">
                <a:solidFill>
                  <a:srgbClr val="373B48"/>
                </a:solidFill>
              </a:rPr>
              <a:t> future </a:t>
            </a:r>
            <a:r>
              <a:rPr sz="1100" dirty="0" err="1">
                <a:solidFill>
                  <a:srgbClr val="373B48"/>
                </a:solidFill>
              </a:rPr>
              <a:t>valide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l’opportunité</a:t>
            </a:r>
            <a:r>
              <a:rPr sz="1100" dirty="0">
                <a:solidFill>
                  <a:srgbClr val="373B48"/>
                </a:solidFill>
              </a:rPr>
              <a:t>, sans </a:t>
            </a:r>
            <a:r>
              <a:rPr sz="1100" dirty="0" err="1">
                <a:solidFill>
                  <a:srgbClr val="373B48"/>
                </a:solidFill>
              </a:rPr>
              <a:t>supprimer</a:t>
            </a:r>
            <a:r>
              <a:rPr sz="1100" dirty="0">
                <a:solidFill>
                  <a:srgbClr val="373B48"/>
                </a:solidFill>
              </a:rPr>
              <a:t> le </a:t>
            </a:r>
            <a:r>
              <a:rPr sz="1100" dirty="0" err="1">
                <a:solidFill>
                  <a:srgbClr val="373B48"/>
                </a:solidFill>
              </a:rPr>
              <a:t>risque</a:t>
            </a:r>
            <a:r>
              <a:rPr sz="1100" dirty="0">
                <a:solidFill>
                  <a:srgbClr val="373B48"/>
                </a:solidFill>
              </a:rPr>
              <a:t> de saturation.</a:t>
            </a:r>
          </a:p>
          <a:p>
            <a:pPr>
              <a:spcAft>
                <a:spcPts val="0"/>
              </a:spcAft>
            </a:pPr>
            <a:r>
              <a:rPr sz="1100" b="1" dirty="0">
                <a:solidFill>
                  <a:srgbClr val="7AA650"/>
                </a:solidFill>
              </a:rPr>
              <a:t>• </a:t>
            </a:r>
            <a:r>
              <a:rPr sz="1100" dirty="0">
                <a:solidFill>
                  <a:srgbClr val="373B48"/>
                </a:solidFill>
              </a:rPr>
              <a:t>Un premier AAA doit </a:t>
            </a:r>
            <a:r>
              <a:rPr sz="1100" dirty="0" err="1">
                <a:solidFill>
                  <a:srgbClr val="373B48"/>
                </a:solidFill>
              </a:rPr>
              <a:t>viser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l’international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dès</a:t>
            </a:r>
            <a:r>
              <a:rPr sz="1100" dirty="0">
                <a:solidFill>
                  <a:srgbClr val="373B48"/>
                </a:solidFill>
              </a:rPr>
              <a:t> le </a:t>
            </a:r>
            <a:r>
              <a:rPr sz="1100" dirty="0" err="1">
                <a:solidFill>
                  <a:srgbClr val="373B48"/>
                </a:solidFill>
              </a:rPr>
              <a:t>cadrage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produit</a:t>
            </a:r>
            <a:r>
              <a:rPr sz="1100" dirty="0">
                <a:solidFill>
                  <a:srgbClr val="373B48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21484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9114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79" y="329184"/>
            <a:ext cx="2260775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03 _ </a:t>
            </a:r>
            <a:r>
              <a:rPr b="1" dirty="0">
                <a:solidFill>
                  <a:srgbClr val="FFFFFF"/>
                </a:solidFill>
              </a:rPr>
              <a:t>MARCHÉ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76656"/>
            <a:ext cx="8333500" cy="3693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dirty="0">
                <a:solidFill>
                  <a:srgbClr val="141642"/>
                </a:solidFill>
              </a:rPr>
              <a:t>Distribution &amp; devices : le digital et le couple PC/console </a:t>
            </a:r>
            <a:r>
              <a:rPr b="1" dirty="0" err="1">
                <a:solidFill>
                  <a:srgbClr val="141642"/>
                </a:solidFill>
              </a:rPr>
              <a:t>structurent</a:t>
            </a:r>
            <a:r>
              <a:rPr b="1" dirty="0">
                <a:solidFill>
                  <a:srgbClr val="141642"/>
                </a:solidFill>
              </a:rPr>
              <a:t> la </a:t>
            </a:r>
            <a:r>
              <a:rPr b="1" dirty="0" err="1">
                <a:solidFill>
                  <a:srgbClr val="141642"/>
                </a:solidFill>
              </a:rPr>
              <a:t>décision</a:t>
            </a:r>
            <a:endParaRPr b="1" dirty="0">
              <a:solidFill>
                <a:srgbClr val="14164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" y="4828032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6D757D"/>
                </a:solidFill>
              </a:rPr>
              <a:t>Projet P10 — UOI Games | Données OC, questionnaire et sources externes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80974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D757D"/>
                </a:solidFill>
              </a:rPr>
              <a:t>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6124" y="1188720"/>
            <a:ext cx="4300147" cy="284378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2_europe_revenus_par_device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34" y="1234440"/>
            <a:ext cx="3310084" cy="27203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485290" y="1234440"/>
            <a:ext cx="4384390" cy="279806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03_europe_digital_vs_physiq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728" y="1347952"/>
            <a:ext cx="4027251" cy="25611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04713" y="4170705"/>
            <a:ext cx="6210488" cy="57708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50" b="1" dirty="0">
                <a:solidFill>
                  <a:srgbClr val="7148E8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Le mobile </a:t>
            </a:r>
            <a:r>
              <a:rPr sz="1050" dirty="0" err="1">
                <a:solidFill>
                  <a:srgbClr val="373B48"/>
                </a:solidFill>
              </a:rPr>
              <a:t>pèse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lourd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en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valeur</a:t>
            </a:r>
            <a:r>
              <a:rPr sz="1050" dirty="0">
                <a:solidFill>
                  <a:srgbClr val="373B48"/>
                </a:solidFill>
              </a:rPr>
              <a:t>, </a:t>
            </a:r>
            <a:r>
              <a:rPr sz="1050" dirty="0" err="1">
                <a:solidFill>
                  <a:srgbClr val="373B48"/>
                </a:solidFill>
              </a:rPr>
              <a:t>mais</a:t>
            </a:r>
            <a:r>
              <a:rPr sz="1050" dirty="0">
                <a:solidFill>
                  <a:srgbClr val="373B48"/>
                </a:solidFill>
              </a:rPr>
              <a:t> son </a:t>
            </a:r>
            <a:r>
              <a:rPr sz="1050" dirty="0" err="1">
                <a:solidFill>
                  <a:srgbClr val="373B48"/>
                </a:solidFill>
              </a:rPr>
              <a:t>modèle</a:t>
            </a:r>
            <a:r>
              <a:rPr sz="1050" dirty="0">
                <a:solidFill>
                  <a:srgbClr val="373B48"/>
                </a:solidFill>
              </a:rPr>
              <a:t> économique </a:t>
            </a:r>
            <a:r>
              <a:rPr sz="1050" dirty="0" err="1">
                <a:solidFill>
                  <a:srgbClr val="373B48"/>
                </a:solidFill>
              </a:rPr>
              <a:t>s’éloigne</a:t>
            </a:r>
            <a:r>
              <a:rPr sz="1050" dirty="0">
                <a:solidFill>
                  <a:srgbClr val="373B48"/>
                </a:solidFill>
              </a:rPr>
              <a:t> du AAA premium </a:t>
            </a:r>
            <a:r>
              <a:rPr sz="1050" dirty="0" err="1">
                <a:solidFill>
                  <a:srgbClr val="373B48"/>
                </a:solidFill>
              </a:rPr>
              <a:t>classique</a:t>
            </a:r>
            <a:r>
              <a:rPr sz="1050" dirty="0">
                <a:solidFill>
                  <a:srgbClr val="373B48"/>
                </a:solidFill>
              </a:rPr>
              <a:t>.</a:t>
            </a:r>
          </a:p>
          <a:p>
            <a:pPr>
              <a:spcAft>
                <a:spcPts val="0"/>
              </a:spcAft>
            </a:pPr>
            <a:r>
              <a:rPr sz="1050" b="1" dirty="0">
                <a:solidFill>
                  <a:srgbClr val="7148E8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La console </a:t>
            </a:r>
            <a:r>
              <a:rPr sz="1050" dirty="0" err="1">
                <a:solidFill>
                  <a:srgbClr val="373B48"/>
                </a:solidFill>
              </a:rPr>
              <a:t>demeure</a:t>
            </a:r>
            <a:r>
              <a:rPr sz="1050" dirty="0">
                <a:solidFill>
                  <a:srgbClr val="373B48"/>
                </a:solidFill>
              </a:rPr>
              <a:t> un </a:t>
            </a:r>
            <a:r>
              <a:rPr sz="1050" dirty="0" err="1">
                <a:solidFill>
                  <a:srgbClr val="373B48"/>
                </a:solidFill>
              </a:rPr>
              <a:t>pilier</a:t>
            </a:r>
            <a:r>
              <a:rPr sz="1050" dirty="0">
                <a:solidFill>
                  <a:srgbClr val="373B48"/>
                </a:solidFill>
              </a:rPr>
              <a:t> des productions premium ; le PC </a:t>
            </a:r>
            <a:r>
              <a:rPr sz="1050" dirty="0" err="1">
                <a:solidFill>
                  <a:srgbClr val="373B48"/>
                </a:solidFill>
              </a:rPr>
              <a:t>complète</a:t>
            </a:r>
            <a:r>
              <a:rPr sz="1050" dirty="0">
                <a:solidFill>
                  <a:srgbClr val="373B48"/>
                </a:solidFill>
              </a:rPr>
              <a:t> la </a:t>
            </a:r>
            <a:r>
              <a:rPr sz="1050" dirty="0" err="1">
                <a:solidFill>
                  <a:srgbClr val="373B48"/>
                </a:solidFill>
              </a:rPr>
              <a:t>stratégie</a:t>
            </a:r>
            <a:r>
              <a:rPr sz="1050" dirty="0">
                <a:solidFill>
                  <a:srgbClr val="373B48"/>
                </a:solidFill>
              </a:rPr>
              <a:t> par la longue </a:t>
            </a:r>
            <a:r>
              <a:rPr sz="1050" dirty="0" err="1">
                <a:solidFill>
                  <a:srgbClr val="373B48"/>
                </a:solidFill>
              </a:rPr>
              <a:t>traîne</a:t>
            </a:r>
            <a:r>
              <a:rPr sz="1050" dirty="0">
                <a:solidFill>
                  <a:srgbClr val="373B48"/>
                </a:solidFill>
              </a:rPr>
              <a:t>.</a:t>
            </a:r>
          </a:p>
          <a:p>
            <a:pPr>
              <a:spcAft>
                <a:spcPts val="0"/>
              </a:spcAft>
            </a:pPr>
            <a:r>
              <a:rPr sz="1050" b="1" dirty="0">
                <a:solidFill>
                  <a:srgbClr val="7148E8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La distribution </a:t>
            </a:r>
            <a:r>
              <a:rPr sz="1050" dirty="0" err="1">
                <a:solidFill>
                  <a:srgbClr val="373B48"/>
                </a:solidFill>
              </a:rPr>
              <a:t>digitale</a:t>
            </a:r>
            <a:r>
              <a:rPr sz="1050" dirty="0">
                <a:solidFill>
                  <a:srgbClr val="373B48"/>
                </a:solidFill>
              </a:rPr>
              <a:t> impose </a:t>
            </a:r>
            <a:r>
              <a:rPr sz="1050" dirty="0" err="1">
                <a:solidFill>
                  <a:srgbClr val="373B48"/>
                </a:solidFill>
              </a:rPr>
              <a:t>une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stratégie</a:t>
            </a:r>
            <a:r>
              <a:rPr sz="1050" dirty="0">
                <a:solidFill>
                  <a:srgbClr val="373B48"/>
                </a:solidFill>
              </a:rPr>
              <a:t> de </a:t>
            </a:r>
            <a:r>
              <a:rPr sz="1050" dirty="0" err="1">
                <a:solidFill>
                  <a:srgbClr val="373B48"/>
                </a:solidFill>
              </a:rPr>
              <a:t>visibilité</a:t>
            </a:r>
            <a:r>
              <a:rPr sz="1050" dirty="0">
                <a:solidFill>
                  <a:srgbClr val="373B48"/>
                </a:solidFill>
              </a:rPr>
              <a:t> : stores, </a:t>
            </a:r>
            <a:r>
              <a:rPr sz="1050" dirty="0" err="1">
                <a:solidFill>
                  <a:srgbClr val="373B48"/>
                </a:solidFill>
              </a:rPr>
              <a:t>wishlists</a:t>
            </a:r>
            <a:r>
              <a:rPr sz="1050" dirty="0">
                <a:solidFill>
                  <a:srgbClr val="373B48"/>
                </a:solidFill>
              </a:rPr>
              <a:t>, </a:t>
            </a:r>
            <a:r>
              <a:rPr sz="1050" dirty="0" err="1">
                <a:solidFill>
                  <a:srgbClr val="373B48"/>
                </a:solidFill>
              </a:rPr>
              <a:t>communautés</a:t>
            </a:r>
            <a:r>
              <a:rPr sz="1050" dirty="0">
                <a:solidFill>
                  <a:srgbClr val="373B48"/>
                </a:solidFill>
              </a:rPr>
              <a:t>, </a:t>
            </a:r>
            <a:r>
              <a:rPr sz="1050" dirty="0" err="1">
                <a:solidFill>
                  <a:srgbClr val="373B48"/>
                </a:solidFill>
              </a:rPr>
              <a:t>créateurs</a:t>
            </a:r>
            <a:r>
              <a:rPr sz="1050" dirty="0">
                <a:solidFill>
                  <a:srgbClr val="373B48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21484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9114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329184"/>
            <a:ext cx="2338250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04 _ </a:t>
            </a:r>
            <a:r>
              <a:rPr b="1" dirty="0">
                <a:solidFill>
                  <a:srgbClr val="FFFFFF"/>
                </a:solidFill>
              </a:rPr>
              <a:t>ANALYSES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76656"/>
            <a:ext cx="8349465" cy="3693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dirty="0" err="1">
                <a:solidFill>
                  <a:srgbClr val="141642"/>
                </a:solidFill>
              </a:rPr>
              <a:t>Fondamentaux</a:t>
            </a:r>
            <a:r>
              <a:rPr b="1" dirty="0">
                <a:solidFill>
                  <a:srgbClr val="141642"/>
                </a:solidFill>
              </a:rPr>
              <a:t> </a:t>
            </a:r>
            <a:r>
              <a:rPr b="1" dirty="0" err="1">
                <a:solidFill>
                  <a:srgbClr val="141642"/>
                </a:solidFill>
              </a:rPr>
              <a:t>historiques</a:t>
            </a:r>
            <a:r>
              <a:rPr b="1" dirty="0">
                <a:solidFill>
                  <a:srgbClr val="141642"/>
                </a:solidFill>
              </a:rPr>
              <a:t> : action, sport, shooter et RPG </a:t>
            </a:r>
            <a:r>
              <a:rPr b="1" dirty="0" err="1">
                <a:solidFill>
                  <a:srgbClr val="141642"/>
                </a:solidFill>
              </a:rPr>
              <a:t>dominent</a:t>
            </a:r>
            <a:r>
              <a:rPr b="1" dirty="0">
                <a:solidFill>
                  <a:srgbClr val="141642"/>
                </a:solidFill>
              </a:rPr>
              <a:t> les volumes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28032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6D757D"/>
                </a:solidFill>
              </a:rPr>
              <a:t>Projet P10 — UOI Games | Données OC, questionnaire et sources externes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80974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D757D"/>
                </a:solidFill>
              </a:rPr>
              <a:t>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9186" y="1069848"/>
            <a:ext cx="5205774" cy="3651923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1_ventes_mondiales_par_gen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95248"/>
            <a:ext cx="4937760" cy="30085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0" y="1819611"/>
            <a:ext cx="3468414" cy="69210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0" y="1819611"/>
            <a:ext cx="45719" cy="692106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17026" y="1922007"/>
            <a:ext cx="3200399" cy="4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7148E8"/>
                </a:solidFill>
              </a:rPr>
              <a:t>Lecture </a:t>
            </a:r>
            <a:r>
              <a:rPr sz="1100" b="1" dirty="0" err="1">
                <a:solidFill>
                  <a:srgbClr val="7148E8"/>
                </a:solidFill>
              </a:rPr>
              <a:t>clé</a:t>
            </a:r>
            <a:endParaRPr sz="1100" b="1" dirty="0">
              <a:solidFill>
                <a:srgbClr val="7148E8"/>
              </a:solidFill>
            </a:endParaRPr>
          </a:p>
          <a:p>
            <a:pPr>
              <a:spcBef>
                <a:spcPts val="200"/>
              </a:spcBef>
            </a:pPr>
            <a:r>
              <a:rPr sz="1300" b="1" dirty="0">
                <a:solidFill>
                  <a:srgbClr val="141642"/>
                </a:solidFill>
              </a:rPr>
              <a:t>Action = 20,6 % des ventes</a:t>
            </a:r>
            <a:r>
              <a:rPr lang="fr-FR" sz="1300" b="1" dirty="0">
                <a:solidFill>
                  <a:srgbClr val="141642"/>
                </a:solidFill>
              </a:rPr>
              <a:t> </a:t>
            </a:r>
            <a:r>
              <a:rPr sz="1300" b="1" dirty="0" err="1">
                <a:solidFill>
                  <a:srgbClr val="141642"/>
                </a:solidFill>
              </a:rPr>
              <a:t>historiques</a:t>
            </a:r>
            <a:endParaRPr sz="1300" b="1" dirty="0">
              <a:solidFill>
                <a:srgbClr val="14164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32119" y="2873807"/>
            <a:ext cx="3461881" cy="10618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50" b="1" dirty="0">
                <a:solidFill>
                  <a:srgbClr val="7148E8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Le segment Action est le plus </a:t>
            </a:r>
            <a:r>
              <a:rPr sz="1050" dirty="0" err="1">
                <a:solidFill>
                  <a:srgbClr val="373B48"/>
                </a:solidFill>
              </a:rPr>
              <a:t>robuste</a:t>
            </a:r>
            <a:r>
              <a:rPr sz="1050" dirty="0">
                <a:solidFill>
                  <a:srgbClr val="373B48"/>
                </a:solidFill>
              </a:rPr>
              <a:t> dans les ventes </a:t>
            </a:r>
            <a:r>
              <a:rPr sz="1050" dirty="0" err="1">
                <a:solidFill>
                  <a:srgbClr val="373B48"/>
                </a:solidFill>
              </a:rPr>
              <a:t>historiques</a:t>
            </a:r>
            <a:r>
              <a:rPr sz="1050" dirty="0">
                <a:solidFill>
                  <a:srgbClr val="373B48"/>
                </a:solidFill>
              </a:rPr>
              <a:t> du </a:t>
            </a:r>
            <a:r>
              <a:rPr sz="1050" dirty="0" err="1">
                <a:solidFill>
                  <a:srgbClr val="373B48"/>
                </a:solidFill>
              </a:rPr>
              <a:t>fichier</a:t>
            </a:r>
            <a:r>
              <a:rPr sz="1050" dirty="0">
                <a:solidFill>
                  <a:srgbClr val="373B48"/>
                </a:solidFill>
              </a:rPr>
              <a:t> OC.</a:t>
            </a:r>
          </a:p>
          <a:p>
            <a:pPr>
              <a:spcAft>
                <a:spcPts val="0"/>
              </a:spcAft>
            </a:pPr>
            <a:r>
              <a:rPr sz="1050" b="1" dirty="0">
                <a:solidFill>
                  <a:srgbClr val="7148E8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Sports et Shooter </a:t>
            </a:r>
            <a:r>
              <a:rPr sz="1050" dirty="0" err="1">
                <a:solidFill>
                  <a:srgbClr val="373B48"/>
                </a:solidFill>
              </a:rPr>
              <a:t>ressortent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également</a:t>
            </a:r>
            <a:r>
              <a:rPr sz="1050" dirty="0">
                <a:solidFill>
                  <a:srgbClr val="373B48"/>
                </a:solidFill>
              </a:rPr>
              <a:t>, </a:t>
            </a:r>
            <a:r>
              <a:rPr sz="1050" dirty="0" err="1">
                <a:solidFill>
                  <a:srgbClr val="373B48"/>
                </a:solidFill>
              </a:rPr>
              <a:t>mais</a:t>
            </a:r>
            <a:r>
              <a:rPr sz="1050" dirty="0">
                <a:solidFill>
                  <a:srgbClr val="373B48"/>
                </a:solidFill>
              </a:rPr>
              <a:t> avec des </a:t>
            </a:r>
            <a:r>
              <a:rPr sz="1050" dirty="0" err="1">
                <a:solidFill>
                  <a:srgbClr val="373B48"/>
                </a:solidFill>
              </a:rPr>
              <a:t>barrières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spécifiques</a:t>
            </a:r>
            <a:r>
              <a:rPr sz="1050" dirty="0">
                <a:solidFill>
                  <a:srgbClr val="373B48"/>
                </a:solidFill>
              </a:rPr>
              <a:t> : </a:t>
            </a:r>
            <a:r>
              <a:rPr sz="1050" dirty="0" err="1">
                <a:solidFill>
                  <a:srgbClr val="373B48"/>
                </a:solidFill>
              </a:rPr>
              <a:t>licences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ou</a:t>
            </a:r>
            <a:r>
              <a:rPr sz="1050" dirty="0">
                <a:solidFill>
                  <a:srgbClr val="373B48"/>
                </a:solidFill>
              </a:rPr>
              <a:t> live ops.</a:t>
            </a:r>
          </a:p>
          <a:p>
            <a:pPr>
              <a:spcAft>
                <a:spcPts val="0"/>
              </a:spcAft>
            </a:pPr>
            <a:r>
              <a:rPr sz="1050" b="1" dirty="0">
                <a:solidFill>
                  <a:srgbClr val="7148E8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Le RPG est </a:t>
            </a:r>
            <a:r>
              <a:rPr sz="1050" dirty="0" err="1">
                <a:solidFill>
                  <a:srgbClr val="373B48"/>
                </a:solidFill>
              </a:rPr>
              <a:t>moins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volumique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que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l’Action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mais</a:t>
            </a:r>
            <a:r>
              <a:rPr sz="1050" dirty="0">
                <a:solidFill>
                  <a:srgbClr val="373B48"/>
                </a:solidFill>
              </a:rPr>
              <a:t> favorable à </a:t>
            </a:r>
            <a:r>
              <a:rPr sz="1050" dirty="0" err="1">
                <a:solidFill>
                  <a:srgbClr val="373B48"/>
                </a:solidFill>
              </a:rPr>
              <a:t>l’engagement</a:t>
            </a:r>
            <a:r>
              <a:rPr sz="1050" dirty="0">
                <a:solidFill>
                  <a:srgbClr val="373B48"/>
                </a:solidFill>
              </a:rPr>
              <a:t> et à la </a:t>
            </a:r>
            <a:r>
              <a:rPr sz="1050" dirty="0" err="1">
                <a:solidFill>
                  <a:srgbClr val="373B48"/>
                </a:solidFill>
              </a:rPr>
              <a:t>différenciation</a:t>
            </a:r>
            <a:r>
              <a:rPr sz="1050" dirty="0">
                <a:solidFill>
                  <a:srgbClr val="373B48"/>
                </a:solidFill>
              </a:rPr>
              <a:t> narrative.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0B2134-89ED-540A-FA69-B560F3638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A6946F-1B97-A229-ABF7-DA923012DD94}"/>
              </a:ext>
            </a:extLst>
          </p:cNvPr>
          <p:cNvSpPr/>
          <p:nvPr/>
        </p:nvSpPr>
        <p:spPr>
          <a:xfrm>
            <a:off x="320040" y="164592"/>
            <a:ext cx="121484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AB2E72-B2AD-A1B7-FAD2-2042ABBC462D}"/>
              </a:ext>
            </a:extLst>
          </p:cNvPr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048E3E-0934-31D9-052D-0A2CB5A8DDD4}"/>
              </a:ext>
            </a:extLst>
          </p:cNvPr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CAFA13-7E0D-606E-7660-A24E56994626}"/>
              </a:ext>
            </a:extLst>
          </p:cNvPr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58378-DDAA-A862-8E20-33608F128FA7}"/>
              </a:ext>
            </a:extLst>
          </p:cNvPr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832F1D-38A0-7EED-025E-6AD635EC952B}"/>
              </a:ext>
            </a:extLst>
          </p:cNvPr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9BD539-ABAB-5292-C5EA-59619E73ABCF}"/>
              </a:ext>
            </a:extLst>
          </p:cNvPr>
          <p:cNvSpPr/>
          <p:nvPr/>
        </p:nvSpPr>
        <p:spPr>
          <a:xfrm>
            <a:off x="7609114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F4753E4-693C-E8F2-E350-16BCB574EBCE}"/>
              </a:ext>
            </a:extLst>
          </p:cNvPr>
          <p:cNvSpPr/>
          <p:nvPr/>
        </p:nvSpPr>
        <p:spPr>
          <a:xfrm>
            <a:off x="411480" y="329184"/>
            <a:ext cx="2338250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04 _ </a:t>
            </a:r>
            <a:r>
              <a:rPr b="1" dirty="0">
                <a:solidFill>
                  <a:srgbClr val="FFFFFF"/>
                </a:solidFill>
              </a:rPr>
              <a:t>ANALYSES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AC19DA-3119-AA74-80AA-386B68D673A9}"/>
              </a:ext>
            </a:extLst>
          </p:cNvPr>
          <p:cNvSpPr txBox="1"/>
          <p:nvPr/>
        </p:nvSpPr>
        <p:spPr>
          <a:xfrm>
            <a:off x="112338" y="676656"/>
            <a:ext cx="8881662" cy="3693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lang="fr-FR" b="1" dirty="0">
                <a:solidFill>
                  <a:srgbClr val="141642"/>
                </a:solidFill>
              </a:rPr>
              <a:t>Actualisation 2025 : </a:t>
            </a:r>
            <a:r>
              <a:rPr lang="fr-FR" b="1" dirty="0">
                <a:solidFill>
                  <a:srgbClr val="2A274A"/>
                </a:solidFill>
              </a:rPr>
              <a:t>l’action reste un signal actuel (Questionnaire et sources externes)</a:t>
            </a:r>
            <a:endParaRPr b="1" dirty="0">
              <a:solidFill>
                <a:srgbClr val="14164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8B8590-2A60-124B-E8E8-788567558B86}"/>
              </a:ext>
            </a:extLst>
          </p:cNvPr>
          <p:cNvSpPr txBox="1"/>
          <p:nvPr/>
        </p:nvSpPr>
        <p:spPr>
          <a:xfrm>
            <a:off x="189186" y="4918706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 dirty="0" err="1">
                <a:solidFill>
                  <a:srgbClr val="6D757D"/>
                </a:solidFill>
              </a:rPr>
              <a:t>Projet</a:t>
            </a:r>
            <a:r>
              <a:rPr sz="750" dirty="0">
                <a:solidFill>
                  <a:srgbClr val="6D757D"/>
                </a:solidFill>
              </a:rPr>
              <a:t> P10 — UOI Games | Données OC, questionnaire et sources externes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372168-7812-6273-78CD-69AD754F2EC3}"/>
              </a:ext>
            </a:extLst>
          </p:cNvPr>
          <p:cNvSpPr txBox="1"/>
          <p:nvPr/>
        </p:nvSpPr>
        <p:spPr>
          <a:xfrm>
            <a:off x="8630511" y="4809744"/>
            <a:ext cx="2391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800" b="1" dirty="0">
                <a:solidFill>
                  <a:srgbClr val="6D757D"/>
                </a:solidFill>
              </a:rPr>
              <a:t>9</a:t>
            </a:r>
            <a:endParaRPr sz="800" b="1" dirty="0">
              <a:solidFill>
                <a:srgbClr val="6D757D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326484D-B2D2-8A91-D815-32376F549B0E}"/>
              </a:ext>
            </a:extLst>
          </p:cNvPr>
          <p:cNvSpPr/>
          <p:nvPr/>
        </p:nvSpPr>
        <p:spPr>
          <a:xfrm>
            <a:off x="189186" y="1069849"/>
            <a:ext cx="4907600" cy="33339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25" descr="current_2025_genres_france.png">
            <a:extLst>
              <a:ext uri="{FF2B5EF4-FFF2-40B4-BE49-F238E27FC236}">
                <a16:creationId xmlns:a16="http://schemas.microsoft.com/office/drawing/2014/main" id="{269CEAF2-30B5-8C6C-3731-0E190D4B2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1872"/>
            <a:ext cx="4323522" cy="2971800"/>
          </a:xfrm>
          <a:prstGeom prst="rect">
            <a:avLst/>
          </a:prstGeom>
        </p:spPr>
      </p:pic>
      <p:sp>
        <p:nvSpPr>
          <p:cNvPr id="20" name="Rounded Rectangle 26">
            <a:extLst>
              <a:ext uri="{FF2B5EF4-FFF2-40B4-BE49-F238E27FC236}">
                <a16:creationId xmlns:a16="http://schemas.microsoft.com/office/drawing/2014/main" id="{B49C2DD5-61DE-9B36-AF42-21B93774F98A}"/>
              </a:ext>
            </a:extLst>
          </p:cNvPr>
          <p:cNvSpPr/>
          <p:nvPr/>
        </p:nvSpPr>
        <p:spPr>
          <a:xfrm>
            <a:off x="5573110" y="1071517"/>
            <a:ext cx="2907319" cy="452075"/>
          </a:xfrm>
          <a:prstGeom prst="roundRect">
            <a:avLst/>
          </a:prstGeom>
          <a:solidFill>
            <a:srgbClr val="FAF7FF"/>
          </a:solidFill>
          <a:ln>
            <a:solidFill>
              <a:srgbClr val="DAD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7">
            <a:extLst>
              <a:ext uri="{FF2B5EF4-FFF2-40B4-BE49-F238E27FC236}">
                <a16:creationId xmlns:a16="http://schemas.microsoft.com/office/drawing/2014/main" id="{D097A283-759D-7B21-B752-5F28A3D1C642}"/>
              </a:ext>
            </a:extLst>
          </p:cNvPr>
          <p:cNvSpPr txBox="1"/>
          <p:nvPr/>
        </p:nvSpPr>
        <p:spPr>
          <a:xfrm>
            <a:off x="5644055" y="1108094"/>
            <a:ext cx="283637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dirty="0">
                <a:solidFill>
                  <a:srgbClr val="6E6E78"/>
                </a:solidFill>
                <a:latin typeface="Aptos"/>
              </a:rPr>
              <a:t>France 2025</a:t>
            </a:r>
            <a:r>
              <a:rPr lang="fr-FR" sz="800" b="1" dirty="0">
                <a:solidFill>
                  <a:srgbClr val="6E6E78"/>
                </a:solidFill>
                <a:latin typeface="Aptos"/>
              </a:rPr>
              <a:t> _ Unités vendues Action (Console + PC</a:t>
            </a:r>
            <a:r>
              <a:rPr lang="fr-FR" sz="700" b="1" dirty="0">
                <a:solidFill>
                  <a:srgbClr val="6E6E78"/>
                </a:solidFill>
                <a:latin typeface="Aptos"/>
              </a:rPr>
              <a:t>)</a:t>
            </a:r>
            <a:endParaRPr sz="700" b="1" dirty="0">
              <a:solidFill>
                <a:srgbClr val="6E6E78"/>
              </a:solidFill>
              <a:latin typeface="Aptos"/>
            </a:endParaRPr>
          </a:p>
          <a:p>
            <a:pPr algn="ctr"/>
            <a:r>
              <a:rPr sz="1300" b="1" dirty="0">
                <a:solidFill>
                  <a:srgbClr val="7042D2"/>
                </a:solidFill>
                <a:latin typeface="Aptos"/>
              </a:rPr>
              <a:t>6,7 </a:t>
            </a:r>
            <a:r>
              <a:rPr lang="fr-FR" sz="1300" b="1" dirty="0">
                <a:solidFill>
                  <a:srgbClr val="7042D2"/>
                </a:solidFill>
                <a:latin typeface="Aptos"/>
              </a:rPr>
              <a:t>Millions</a:t>
            </a:r>
            <a:endParaRPr sz="1300" b="1" dirty="0">
              <a:solidFill>
                <a:srgbClr val="7042D2"/>
              </a:solidFill>
              <a:latin typeface="Aptos"/>
            </a:endParaRPr>
          </a:p>
        </p:txBody>
      </p:sp>
      <p:sp>
        <p:nvSpPr>
          <p:cNvPr id="24" name="Rounded Rectangle 26">
            <a:extLst>
              <a:ext uri="{FF2B5EF4-FFF2-40B4-BE49-F238E27FC236}">
                <a16:creationId xmlns:a16="http://schemas.microsoft.com/office/drawing/2014/main" id="{573BFCF5-FC2A-87AC-7913-5C45E0FF428A}"/>
              </a:ext>
            </a:extLst>
          </p:cNvPr>
          <p:cNvSpPr/>
          <p:nvPr/>
        </p:nvSpPr>
        <p:spPr>
          <a:xfrm>
            <a:off x="5573110" y="1618205"/>
            <a:ext cx="2907319" cy="452075"/>
          </a:xfrm>
          <a:prstGeom prst="roundRect">
            <a:avLst/>
          </a:prstGeom>
          <a:solidFill>
            <a:srgbClr val="FAF7FF"/>
          </a:solidFill>
          <a:ln>
            <a:solidFill>
              <a:srgbClr val="DAD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7">
            <a:extLst>
              <a:ext uri="{FF2B5EF4-FFF2-40B4-BE49-F238E27FC236}">
                <a16:creationId xmlns:a16="http://schemas.microsoft.com/office/drawing/2014/main" id="{959604F7-5F77-A116-5A09-B8CE398D86F0}"/>
              </a:ext>
            </a:extLst>
          </p:cNvPr>
          <p:cNvSpPr txBox="1"/>
          <p:nvPr/>
        </p:nvSpPr>
        <p:spPr>
          <a:xfrm>
            <a:off x="5644055" y="1654782"/>
            <a:ext cx="283637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dirty="0">
                <a:solidFill>
                  <a:srgbClr val="6E6E78"/>
                </a:solidFill>
                <a:latin typeface="Aptos"/>
              </a:rPr>
              <a:t>France 2025</a:t>
            </a:r>
            <a:r>
              <a:rPr lang="fr-FR" sz="800" b="1" dirty="0">
                <a:solidFill>
                  <a:srgbClr val="6E6E78"/>
                </a:solidFill>
                <a:latin typeface="Aptos"/>
              </a:rPr>
              <a:t> _ Unités vendues Aventure (Console + PC</a:t>
            </a:r>
            <a:r>
              <a:rPr lang="fr-FR" sz="700" b="1" dirty="0">
                <a:solidFill>
                  <a:srgbClr val="6E6E78"/>
                </a:solidFill>
                <a:latin typeface="Aptos"/>
              </a:rPr>
              <a:t>)</a:t>
            </a:r>
            <a:endParaRPr sz="700" b="1" dirty="0">
              <a:solidFill>
                <a:srgbClr val="6E6E78"/>
              </a:solidFill>
              <a:latin typeface="Aptos"/>
            </a:endParaRPr>
          </a:p>
          <a:p>
            <a:pPr algn="ctr"/>
            <a:r>
              <a:rPr lang="fr-FR" sz="1300" b="1" dirty="0">
                <a:solidFill>
                  <a:srgbClr val="7042D2"/>
                </a:solidFill>
                <a:latin typeface="Aptos"/>
              </a:rPr>
              <a:t>2,8</a:t>
            </a:r>
            <a:r>
              <a:rPr sz="1300" b="1" dirty="0">
                <a:solidFill>
                  <a:srgbClr val="7042D2"/>
                </a:solidFill>
                <a:latin typeface="Aptos"/>
              </a:rPr>
              <a:t> </a:t>
            </a:r>
            <a:r>
              <a:rPr lang="fr-FR" sz="1300" b="1" dirty="0">
                <a:solidFill>
                  <a:srgbClr val="7042D2"/>
                </a:solidFill>
                <a:latin typeface="Aptos"/>
              </a:rPr>
              <a:t>Millions</a:t>
            </a:r>
            <a:endParaRPr sz="1300" b="1" dirty="0">
              <a:solidFill>
                <a:srgbClr val="7042D2"/>
              </a:solidFill>
              <a:latin typeface="Aptos"/>
            </a:endParaRPr>
          </a:p>
        </p:txBody>
      </p:sp>
      <p:sp>
        <p:nvSpPr>
          <p:cNvPr id="26" name="Rounded Rectangle 26">
            <a:extLst>
              <a:ext uri="{FF2B5EF4-FFF2-40B4-BE49-F238E27FC236}">
                <a16:creationId xmlns:a16="http://schemas.microsoft.com/office/drawing/2014/main" id="{2034908B-9E7C-3579-AC1C-E62991F5B1FB}"/>
              </a:ext>
            </a:extLst>
          </p:cNvPr>
          <p:cNvSpPr/>
          <p:nvPr/>
        </p:nvSpPr>
        <p:spPr>
          <a:xfrm>
            <a:off x="5573110" y="2164893"/>
            <a:ext cx="2907319" cy="452075"/>
          </a:xfrm>
          <a:prstGeom prst="roundRect">
            <a:avLst/>
          </a:prstGeom>
          <a:solidFill>
            <a:srgbClr val="FAF7FF"/>
          </a:solidFill>
          <a:ln>
            <a:solidFill>
              <a:srgbClr val="DAD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BA1C67FD-BD83-419E-6BC5-82DD8478CCD2}"/>
              </a:ext>
            </a:extLst>
          </p:cNvPr>
          <p:cNvSpPr txBox="1"/>
          <p:nvPr/>
        </p:nvSpPr>
        <p:spPr>
          <a:xfrm>
            <a:off x="5644055" y="2201470"/>
            <a:ext cx="283637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dirty="0">
                <a:solidFill>
                  <a:srgbClr val="6E6E78"/>
                </a:solidFill>
                <a:latin typeface="Aptos"/>
              </a:rPr>
              <a:t>France 2025</a:t>
            </a:r>
            <a:r>
              <a:rPr lang="fr-FR" sz="800" b="1" dirty="0">
                <a:solidFill>
                  <a:srgbClr val="6E6E78"/>
                </a:solidFill>
                <a:latin typeface="Aptos"/>
              </a:rPr>
              <a:t> _ Unités vendues RPG (Console + PC</a:t>
            </a:r>
            <a:r>
              <a:rPr lang="fr-FR" sz="700" b="1" dirty="0">
                <a:solidFill>
                  <a:srgbClr val="6E6E78"/>
                </a:solidFill>
                <a:latin typeface="Aptos"/>
              </a:rPr>
              <a:t>)</a:t>
            </a:r>
            <a:endParaRPr sz="700" b="1" dirty="0">
              <a:solidFill>
                <a:srgbClr val="6E6E78"/>
              </a:solidFill>
              <a:latin typeface="Aptos"/>
            </a:endParaRPr>
          </a:p>
          <a:p>
            <a:pPr algn="ctr"/>
            <a:r>
              <a:rPr lang="fr-FR" sz="1300" b="1" dirty="0">
                <a:solidFill>
                  <a:srgbClr val="7042D2"/>
                </a:solidFill>
                <a:latin typeface="Aptos"/>
              </a:rPr>
              <a:t>2,6</a:t>
            </a:r>
            <a:r>
              <a:rPr sz="1300" b="1" dirty="0">
                <a:solidFill>
                  <a:srgbClr val="7042D2"/>
                </a:solidFill>
                <a:latin typeface="Aptos"/>
              </a:rPr>
              <a:t> </a:t>
            </a:r>
            <a:r>
              <a:rPr lang="fr-FR" sz="1300" b="1" dirty="0">
                <a:solidFill>
                  <a:srgbClr val="7042D2"/>
                </a:solidFill>
                <a:latin typeface="Aptos"/>
              </a:rPr>
              <a:t>Millions</a:t>
            </a:r>
            <a:endParaRPr sz="1300" b="1" dirty="0">
              <a:solidFill>
                <a:srgbClr val="7042D2"/>
              </a:solidFill>
              <a:latin typeface="Aptos"/>
            </a:endParaRPr>
          </a:p>
        </p:txBody>
      </p:sp>
      <p:sp>
        <p:nvSpPr>
          <p:cNvPr id="28" name="TextBox 32">
            <a:extLst>
              <a:ext uri="{FF2B5EF4-FFF2-40B4-BE49-F238E27FC236}">
                <a16:creationId xmlns:a16="http://schemas.microsoft.com/office/drawing/2014/main" id="{F25B0BE6-9F8D-1806-517D-EE8AB4A83135}"/>
              </a:ext>
            </a:extLst>
          </p:cNvPr>
          <p:cNvSpPr txBox="1"/>
          <p:nvPr/>
        </p:nvSpPr>
        <p:spPr>
          <a:xfrm>
            <a:off x="5573110" y="2900516"/>
            <a:ext cx="2836374" cy="10926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D2D3C"/>
                </a:solidFill>
                <a:latin typeface="Aptos"/>
              </a:defRPr>
            </a:pPr>
            <a:r>
              <a:rPr sz="1000" dirty="0"/>
              <a:t>• </a:t>
            </a:r>
            <a:r>
              <a:rPr sz="1000" b="1" dirty="0"/>
              <a:t>Action</a:t>
            </a:r>
            <a:r>
              <a:rPr sz="1000" dirty="0"/>
              <a:t> domine les volumes France 2025 sur console et </a:t>
            </a:r>
            <a:r>
              <a:rPr sz="1000" dirty="0" err="1"/>
              <a:t>reste</a:t>
            </a:r>
            <a:r>
              <a:rPr sz="1000" dirty="0"/>
              <a:t> </a:t>
            </a:r>
            <a:r>
              <a:rPr sz="1000" dirty="0" err="1"/>
              <a:t>significatif</a:t>
            </a:r>
            <a:r>
              <a:rPr sz="1000" dirty="0"/>
              <a:t> sur PC gaming.</a:t>
            </a:r>
            <a:endParaRPr lang="fr-FR" sz="1000" dirty="0"/>
          </a:p>
          <a:p>
            <a:pPr>
              <a:spcAft>
                <a:spcPts val="300"/>
              </a:spcAft>
              <a:defRPr sz="900">
                <a:solidFill>
                  <a:srgbClr val="2D2D3C"/>
                </a:solidFill>
                <a:latin typeface="Aptos"/>
              </a:defRPr>
            </a:pPr>
            <a:endParaRPr sz="1000" dirty="0"/>
          </a:p>
          <a:p>
            <a:pPr>
              <a:spcAft>
                <a:spcPts val="300"/>
              </a:spcAft>
              <a:defRPr sz="900">
                <a:solidFill>
                  <a:srgbClr val="2D2D3C"/>
                </a:solidFill>
                <a:latin typeface="Aptos"/>
              </a:defRPr>
            </a:pPr>
            <a:r>
              <a:rPr sz="1000" dirty="0"/>
              <a:t>• </a:t>
            </a:r>
            <a:r>
              <a:rPr sz="1000" b="1" dirty="0"/>
              <a:t>Aventure et RPG </a:t>
            </a:r>
            <a:r>
              <a:rPr sz="1000" dirty="0" err="1"/>
              <a:t>complètent</a:t>
            </a:r>
            <a:r>
              <a:rPr sz="1000" dirty="0"/>
              <a:t> bien le </a:t>
            </a:r>
            <a:r>
              <a:rPr sz="1000" dirty="0" err="1"/>
              <a:t>positionnement</a:t>
            </a:r>
            <a:r>
              <a:rPr sz="1000" dirty="0"/>
              <a:t> : narration, exploration, engagement.</a:t>
            </a:r>
          </a:p>
        </p:txBody>
      </p:sp>
      <p:sp>
        <p:nvSpPr>
          <p:cNvPr id="29" name="TextBox 33">
            <a:extLst>
              <a:ext uri="{FF2B5EF4-FFF2-40B4-BE49-F238E27FC236}">
                <a16:creationId xmlns:a16="http://schemas.microsoft.com/office/drawing/2014/main" id="{DC6E12E8-D60E-C24A-7552-4A41FDF8AFC1}"/>
              </a:ext>
            </a:extLst>
          </p:cNvPr>
          <p:cNvSpPr txBox="1"/>
          <p:nvPr/>
        </p:nvSpPr>
        <p:spPr>
          <a:xfrm>
            <a:off x="52026" y="4437889"/>
            <a:ext cx="804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dirty="0" err="1">
                <a:solidFill>
                  <a:srgbClr val="6E6E78"/>
                </a:solidFill>
                <a:latin typeface="Aptos"/>
              </a:rPr>
              <a:t>Unités</a:t>
            </a:r>
            <a:r>
              <a:rPr sz="800" b="1" dirty="0">
                <a:solidFill>
                  <a:srgbClr val="6E6E78"/>
                </a:solidFill>
                <a:latin typeface="Aptos"/>
              </a:rPr>
              <a:t> : ventes </a:t>
            </a:r>
            <a:r>
              <a:rPr sz="800" b="1" dirty="0" err="1">
                <a:solidFill>
                  <a:srgbClr val="6E6E78"/>
                </a:solidFill>
                <a:latin typeface="Aptos"/>
              </a:rPr>
              <a:t>en</a:t>
            </a:r>
            <a:r>
              <a:rPr sz="800" b="1" dirty="0">
                <a:solidFill>
                  <a:srgbClr val="6E6E78"/>
                </a:solidFill>
                <a:latin typeface="Aptos"/>
              </a:rPr>
              <a:t> volume, millions </a:t>
            </a:r>
            <a:r>
              <a:rPr sz="800" b="1" dirty="0" err="1">
                <a:solidFill>
                  <a:srgbClr val="6E6E78"/>
                </a:solidFill>
                <a:latin typeface="Aptos"/>
              </a:rPr>
              <a:t>d’unités</a:t>
            </a:r>
            <a:r>
              <a:rPr sz="800" b="1" dirty="0">
                <a:solidFill>
                  <a:srgbClr val="6E6E78"/>
                </a:solidFill>
                <a:latin typeface="Aptos"/>
              </a:rPr>
              <a:t>, France 2025 — Source : SELL, </a:t>
            </a:r>
            <a:r>
              <a:rPr sz="800" b="1" dirty="0" err="1">
                <a:solidFill>
                  <a:srgbClr val="6E6E78"/>
                </a:solidFill>
                <a:latin typeface="Aptos"/>
              </a:rPr>
              <a:t>L’Essentiel</a:t>
            </a:r>
            <a:r>
              <a:rPr sz="800" b="1" dirty="0">
                <a:solidFill>
                  <a:srgbClr val="6E6E78"/>
                </a:solidFill>
                <a:latin typeface="Aptos"/>
              </a:rPr>
              <a:t> du Jeu </a:t>
            </a:r>
            <a:r>
              <a:rPr sz="800" b="1" dirty="0" err="1">
                <a:solidFill>
                  <a:srgbClr val="6E6E78"/>
                </a:solidFill>
                <a:latin typeface="Aptos"/>
              </a:rPr>
              <a:t>Vidéo</a:t>
            </a:r>
            <a:r>
              <a:rPr sz="800" b="1" dirty="0">
                <a:solidFill>
                  <a:srgbClr val="6E6E78"/>
                </a:solidFill>
                <a:latin typeface="Aptos"/>
              </a:rPr>
              <a:t>, </a:t>
            </a:r>
            <a:r>
              <a:rPr sz="800" b="1" dirty="0" err="1">
                <a:solidFill>
                  <a:srgbClr val="6E6E78"/>
                </a:solidFill>
                <a:latin typeface="Aptos"/>
              </a:rPr>
              <a:t>avril</a:t>
            </a:r>
            <a:r>
              <a:rPr sz="800" b="1" dirty="0">
                <a:solidFill>
                  <a:srgbClr val="6E6E78"/>
                </a:solidFill>
                <a:latin typeface="Aptos"/>
              </a:rPr>
              <a:t> 2026.</a:t>
            </a:r>
          </a:p>
        </p:txBody>
      </p:sp>
    </p:spTree>
    <p:extLst>
      <p:ext uri="{BB962C8B-B14F-4D97-AF65-F5344CB8AC3E}">
        <p14:creationId xmlns:p14="http://schemas.microsoft.com/office/powerpoint/2010/main" val="652951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21484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9114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329184"/>
            <a:ext cx="2418430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04 _ </a:t>
            </a:r>
            <a:r>
              <a:rPr b="1" dirty="0">
                <a:solidFill>
                  <a:srgbClr val="FFFFFF"/>
                </a:solidFill>
              </a:rPr>
              <a:t>ANALYSES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76656"/>
            <a:ext cx="8583760" cy="40011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000" b="1" dirty="0" err="1">
                <a:solidFill>
                  <a:srgbClr val="141642"/>
                </a:solidFill>
              </a:rPr>
              <a:t>Géographies</a:t>
            </a:r>
            <a:r>
              <a:rPr sz="2000" b="1" dirty="0">
                <a:solidFill>
                  <a:srgbClr val="141642"/>
                </a:solidFill>
              </a:rPr>
              <a:t> &amp; </a:t>
            </a:r>
            <a:r>
              <a:rPr sz="2000" b="1" dirty="0" err="1">
                <a:solidFill>
                  <a:srgbClr val="141642"/>
                </a:solidFill>
              </a:rPr>
              <a:t>plateformes</a:t>
            </a:r>
            <a:r>
              <a:rPr sz="2000" b="1" dirty="0">
                <a:solidFill>
                  <a:srgbClr val="141642"/>
                </a:solidFill>
              </a:rPr>
              <a:t> : </a:t>
            </a:r>
            <a:r>
              <a:rPr sz="2000" b="1" dirty="0" err="1">
                <a:solidFill>
                  <a:srgbClr val="141642"/>
                </a:solidFill>
              </a:rPr>
              <a:t>viser</a:t>
            </a:r>
            <a:r>
              <a:rPr sz="2000" b="1" dirty="0">
                <a:solidFill>
                  <a:srgbClr val="141642"/>
                </a:solidFill>
              </a:rPr>
              <a:t> large, </a:t>
            </a:r>
            <a:r>
              <a:rPr sz="2000" b="1" dirty="0" err="1">
                <a:solidFill>
                  <a:srgbClr val="141642"/>
                </a:solidFill>
              </a:rPr>
              <a:t>mais</a:t>
            </a:r>
            <a:r>
              <a:rPr sz="2000" b="1" dirty="0">
                <a:solidFill>
                  <a:srgbClr val="141642"/>
                </a:solidFill>
              </a:rPr>
              <a:t> avec un </a:t>
            </a:r>
            <a:r>
              <a:rPr sz="2000" b="1" dirty="0" err="1">
                <a:solidFill>
                  <a:srgbClr val="141642"/>
                </a:solidFill>
              </a:rPr>
              <a:t>cœur</a:t>
            </a:r>
            <a:r>
              <a:rPr sz="2000" b="1" dirty="0">
                <a:solidFill>
                  <a:srgbClr val="141642"/>
                </a:solidFill>
              </a:rPr>
              <a:t> PC + consoles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28032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6D757D"/>
                </a:solidFill>
              </a:rPr>
              <a:t>Projet P10 — UOI Games | Données OC, questionnaire et sources externes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6009" y="4809744"/>
            <a:ext cx="29367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800" b="1" dirty="0">
                <a:solidFill>
                  <a:srgbClr val="6D757D"/>
                </a:solidFill>
              </a:rPr>
              <a:t>10</a:t>
            </a:r>
            <a:endParaRPr sz="800" b="1" dirty="0">
              <a:solidFill>
                <a:srgbClr val="6D757D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73422" y="1234440"/>
            <a:ext cx="4185744" cy="2971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5b_donut_repartition_ventes_par_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85" y="1234440"/>
            <a:ext cx="2976509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26280" y="1234440"/>
            <a:ext cx="4343400" cy="2971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07_top_plateformes_ventes_historiq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655378"/>
            <a:ext cx="4185744" cy="21611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" y="4489704"/>
            <a:ext cx="8766640" cy="32004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ctr"/>
            <a:r>
              <a:rPr sz="1100" b="1" dirty="0">
                <a:solidFill>
                  <a:srgbClr val="373B48"/>
                </a:solidFill>
              </a:rPr>
              <a:t>Implication</a:t>
            </a:r>
            <a:r>
              <a:rPr sz="1100" b="0" dirty="0">
                <a:solidFill>
                  <a:srgbClr val="373B48"/>
                </a:solidFill>
              </a:rPr>
              <a:t> : ne pas </a:t>
            </a:r>
            <a:r>
              <a:rPr sz="1100" b="0" dirty="0" err="1">
                <a:solidFill>
                  <a:srgbClr val="373B48"/>
                </a:solidFill>
              </a:rPr>
              <a:t>construire</a:t>
            </a:r>
            <a:r>
              <a:rPr sz="1100" b="0" dirty="0">
                <a:solidFill>
                  <a:srgbClr val="373B48"/>
                </a:solidFill>
              </a:rPr>
              <a:t> un </a:t>
            </a:r>
            <a:r>
              <a:rPr sz="1100" b="0" dirty="0" err="1">
                <a:solidFill>
                  <a:srgbClr val="373B48"/>
                </a:solidFill>
              </a:rPr>
              <a:t>produit</a:t>
            </a:r>
            <a:r>
              <a:rPr sz="1100" b="0" dirty="0">
                <a:solidFill>
                  <a:srgbClr val="373B48"/>
                </a:solidFill>
              </a:rPr>
              <a:t> “local”. Le segment </a:t>
            </a:r>
            <a:r>
              <a:rPr sz="1100" b="0" dirty="0" err="1">
                <a:solidFill>
                  <a:srgbClr val="373B48"/>
                </a:solidFill>
              </a:rPr>
              <a:t>recommandé</a:t>
            </a:r>
            <a:r>
              <a:rPr sz="1100" b="0" dirty="0">
                <a:solidFill>
                  <a:srgbClr val="373B48"/>
                </a:solidFill>
              </a:rPr>
              <a:t> doit </a:t>
            </a:r>
            <a:r>
              <a:rPr sz="1100" b="0" dirty="0" err="1">
                <a:solidFill>
                  <a:srgbClr val="373B48"/>
                </a:solidFill>
              </a:rPr>
              <a:t>être</a:t>
            </a:r>
            <a:r>
              <a:rPr sz="1100" b="0" dirty="0">
                <a:solidFill>
                  <a:srgbClr val="373B48"/>
                </a:solidFill>
              </a:rPr>
              <a:t> </a:t>
            </a:r>
            <a:r>
              <a:rPr sz="1100" b="0" dirty="0" err="1">
                <a:solidFill>
                  <a:srgbClr val="373B48"/>
                </a:solidFill>
              </a:rPr>
              <a:t>immédiatement</a:t>
            </a:r>
            <a:r>
              <a:rPr sz="1100" b="0" dirty="0">
                <a:solidFill>
                  <a:srgbClr val="373B48"/>
                </a:solidFill>
              </a:rPr>
              <a:t> </a:t>
            </a:r>
            <a:r>
              <a:rPr sz="1100" b="0" dirty="0" err="1">
                <a:solidFill>
                  <a:srgbClr val="373B48"/>
                </a:solidFill>
              </a:rPr>
              <a:t>lisible</a:t>
            </a:r>
            <a:r>
              <a:rPr sz="1100" b="0" dirty="0">
                <a:solidFill>
                  <a:srgbClr val="373B48"/>
                </a:solidFill>
              </a:rPr>
              <a:t> </a:t>
            </a:r>
            <a:r>
              <a:rPr sz="1100" b="0" dirty="0" err="1">
                <a:solidFill>
                  <a:srgbClr val="373B48"/>
                </a:solidFill>
              </a:rPr>
              <a:t>en</a:t>
            </a:r>
            <a:r>
              <a:rPr sz="1100" b="0" dirty="0">
                <a:solidFill>
                  <a:srgbClr val="373B48"/>
                </a:solidFill>
              </a:rPr>
              <a:t> Amérique du Nord, Europe et </a:t>
            </a:r>
            <a:r>
              <a:rPr sz="1100" b="0" dirty="0" err="1">
                <a:solidFill>
                  <a:srgbClr val="373B48"/>
                </a:solidFill>
              </a:rPr>
              <a:t>marchés</a:t>
            </a:r>
            <a:r>
              <a:rPr sz="1100" b="0" dirty="0">
                <a:solidFill>
                  <a:srgbClr val="373B48"/>
                </a:solidFill>
              </a:rPr>
              <a:t> console/PC.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08E6D-2539-6885-BEFB-0674F5983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612731-5385-25CA-6339-3BF39B8DA339}"/>
              </a:ext>
            </a:extLst>
          </p:cNvPr>
          <p:cNvSpPr/>
          <p:nvPr/>
        </p:nvSpPr>
        <p:spPr>
          <a:xfrm>
            <a:off x="320040" y="164592"/>
            <a:ext cx="121484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566BA7-F2D3-B482-9993-24CEBDD6C70D}"/>
              </a:ext>
            </a:extLst>
          </p:cNvPr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304AE8-89D5-C41C-0F06-02FC91EF1269}"/>
              </a:ext>
            </a:extLst>
          </p:cNvPr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95AF2F-BF56-D6FA-D784-551F250C71DB}"/>
              </a:ext>
            </a:extLst>
          </p:cNvPr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61BC1D-623A-5A81-E214-632EB63D2979}"/>
              </a:ext>
            </a:extLst>
          </p:cNvPr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DDB6BA-635C-B92B-5DE9-0FCDE60B1900}"/>
              </a:ext>
            </a:extLst>
          </p:cNvPr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E1CE35-74BC-0945-AFB8-1453FC1343A7}"/>
              </a:ext>
            </a:extLst>
          </p:cNvPr>
          <p:cNvSpPr/>
          <p:nvPr/>
        </p:nvSpPr>
        <p:spPr>
          <a:xfrm>
            <a:off x="7609114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3411C25-10BA-F81E-6CF5-46BC79CFEFA9}"/>
              </a:ext>
            </a:extLst>
          </p:cNvPr>
          <p:cNvSpPr/>
          <p:nvPr/>
        </p:nvSpPr>
        <p:spPr>
          <a:xfrm>
            <a:off x="411480" y="329184"/>
            <a:ext cx="2418430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04 _ </a:t>
            </a:r>
            <a:r>
              <a:rPr b="1" dirty="0">
                <a:solidFill>
                  <a:srgbClr val="FFFFFF"/>
                </a:solidFill>
              </a:rPr>
              <a:t>ANALYSES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2DCAA8-9EA1-FBD3-CEC3-0B517B98519B}"/>
              </a:ext>
            </a:extLst>
          </p:cNvPr>
          <p:cNvSpPr txBox="1"/>
          <p:nvPr/>
        </p:nvSpPr>
        <p:spPr>
          <a:xfrm>
            <a:off x="411480" y="676656"/>
            <a:ext cx="8272329" cy="40011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lang="fr-FR" sz="2000" b="1" dirty="0">
                <a:solidFill>
                  <a:srgbClr val="141642"/>
                </a:solidFill>
              </a:rPr>
              <a:t>Plateformes 2025 </a:t>
            </a:r>
            <a:r>
              <a:rPr sz="2000" b="1" dirty="0">
                <a:solidFill>
                  <a:srgbClr val="141642"/>
                </a:solidFill>
              </a:rPr>
              <a:t>: </a:t>
            </a:r>
            <a:r>
              <a:rPr lang="fr-FR" sz="2000" b="1" dirty="0">
                <a:solidFill>
                  <a:srgbClr val="2A274A"/>
                </a:solidFill>
              </a:rPr>
              <a:t>Mobile massif, PC + Consoles cohérents pour le AAA</a:t>
            </a:r>
            <a:endParaRPr sz="2000" b="1" dirty="0">
              <a:solidFill>
                <a:srgbClr val="14164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459A38-C941-8D77-2B1B-D691BD80F4C0}"/>
              </a:ext>
            </a:extLst>
          </p:cNvPr>
          <p:cNvSpPr txBox="1"/>
          <p:nvPr/>
        </p:nvSpPr>
        <p:spPr>
          <a:xfrm>
            <a:off x="320040" y="4887468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 dirty="0" err="1">
                <a:solidFill>
                  <a:srgbClr val="6D757D"/>
                </a:solidFill>
              </a:rPr>
              <a:t>Projet</a:t>
            </a:r>
            <a:r>
              <a:rPr sz="750" dirty="0">
                <a:solidFill>
                  <a:srgbClr val="6D757D"/>
                </a:solidFill>
              </a:rPr>
              <a:t> P10 — UOI Games | Données OC, questionnaire et sources externes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1BD3B2-12AA-C877-66A6-4561B42334BE}"/>
              </a:ext>
            </a:extLst>
          </p:cNvPr>
          <p:cNvSpPr txBox="1"/>
          <p:nvPr/>
        </p:nvSpPr>
        <p:spPr>
          <a:xfrm>
            <a:off x="8576009" y="4809744"/>
            <a:ext cx="29367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800" b="1" dirty="0">
                <a:solidFill>
                  <a:srgbClr val="6D757D"/>
                </a:solidFill>
              </a:rPr>
              <a:t>11</a:t>
            </a:r>
            <a:endParaRPr sz="800" b="1" dirty="0">
              <a:solidFill>
                <a:srgbClr val="6D757D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33E496C-E200-CC58-46E4-E4CA987E4050}"/>
              </a:ext>
            </a:extLst>
          </p:cNvPr>
          <p:cNvSpPr/>
          <p:nvPr/>
        </p:nvSpPr>
        <p:spPr>
          <a:xfrm>
            <a:off x="222350" y="1265105"/>
            <a:ext cx="5915770" cy="319805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25" descr="current_2025_platforms_newzoo.png">
            <a:extLst>
              <a:ext uri="{FF2B5EF4-FFF2-40B4-BE49-F238E27FC236}">
                <a16:creationId xmlns:a16="http://schemas.microsoft.com/office/drawing/2014/main" id="{3479E6D7-9069-B606-0C07-F5F8460C7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77" y="1333685"/>
            <a:ext cx="5388997" cy="2971800"/>
          </a:xfrm>
          <a:prstGeom prst="rect">
            <a:avLst/>
          </a:prstGeom>
        </p:spPr>
      </p:pic>
      <p:sp>
        <p:nvSpPr>
          <p:cNvPr id="19" name="Rounded Rectangle 26">
            <a:extLst>
              <a:ext uri="{FF2B5EF4-FFF2-40B4-BE49-F238E27FC236}">
                <a16:creationId xmlns:a16="http://schemas.microsoft.com/office/drawing/2014/main" id="{36AADFDB-F185-9E55-AA82-127707C7777A}"/>
              </a:ext>
            </a:extLst>
          </p:cNvPr>
          <p:cNvSpPr/>
          <p:nvPr/>
        </p:nvSpPr>
        <p:spPr>
          <a:xfrm>
            <a:off x="6236682" y="1266443"/>
            <a:ext cx="2732390" cy="452075"/>
          </a:xfrm>
          <a:prstGeom prst="roundRect">
            <a:avLst/>
          </a:prstGeom>
          <a:solidFill>
            <a:srgbClr val="FAF7FF"/>
          </a:solidFill>
          <a:ln>
            <a:solidFill>
              <a:srgbClr val="DAD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27">
            <a:extLst>
              <a:ext uri="{FF2B5EF4-FFF2-40B4-BE49-F238E27FC236}">
                <a16:creationId xmlns:a16="http://schemas.microsoft.com/office/drawing/2014/main" id="{79AB4C1F-3849-0B33-E8AA-856555852D21}"/>
              </a:ext>
            </a:extLst>
          </p:cNvPr>
          <p:cNvSpPr txBox="1"/>
          <p:nvPr/>
        </p:nvSpPr>
        <p:spPr>
          <a:xfrm>
            <a:off x="6307626" y="1303020"/>
            <a:ext cx="28363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1" dirty="0">
                <a:solidFill>
                  <a:srgbClr val="6E6E78"/>
                </a:solidFill>
                <a:latin typeface="Aptos"/>
              </a:rPr>
              <a:t>Mobile _ Revenus mondiaux 2025 (</a:t>
            </a:r>
            <a:r>
              <a:rPr lang="fr-FR" sz="900" b="1" dirty="0">
                <a:solidFill>
                  <a:schemeClr val="tx2"/>
                </a:solidFill>
                <a:latin typeface="Aptos"/>
              </a:rPr>
              <a:t>Milliards </a:t>
            </a:r>
            <a:r>
              <a:rPr lang="fr-FR" sz="900" b="1" dirty="0">
                <a:solidFill>
                  <a:schemeClr val="tx2"/>
                </a:solidFill>
              </a:rPr>
              <a:t>$</a:t>
            </a:r>
            <a:r>
              <a:rPr lang="fr-FR" sz="900" b="1" dirty="0">
                <a:solidFill>
                  <a:srgbClr val="7042D2"/>
                </a:solidFill>
              </a:rPr>
              <a:t>)</a:t>
            </a:r>
            <a:endParaRPr sz="900" b="1" dirty="0">
              <a:solidFill>
                <a:srgbClr val="6E6E78"/>
              </a:solidFill>
              <a:latin typeface="Aptos"/>
            </a:endParaRPr>
          </a:p>
          <a:p>
            <a:pPr algn="ctr"/>
            <a:r>
              <a:rPr lang="fr-FR" sz="1300" b="1" dirty="0">
                <a:solidFill>
                  <a:srgbClr val="7042D2"/>
                </a:solidFill>
              </a:rPr>
              <a:t>103,0 Md$</a:t>
            </a:r>
          </a:p>
        </p:txBody>
      </p:sp>
      <p:sp>
        <p:nvSpPr>
          <p:cNvPr id="21" name="Rounded Rectangle 26">
            <a:extLst>
              <a:ext uri="{FF2B5EF4-FFF2-40B4-BE49-F238E27FC236}">
                <a16:creationId xmlns:a16="http://schemas.microsoft.com/office/drawing/2014/main" id="{0A3A19CC-EBE1-3C9C-33C6-89EB8DFD5ED1}"/>
              </a:ext>
            </a:extLst>
          </p:cNvPr>
          <p:cNvSpPr/>
          <p:nvPr/>
        </p:nvSpPr>
        <p:spPr>
          <a:xfrm>
            <a:off x="6235810" y="1770484"/>
            <a:ext cx="2732390" cy="452075"/>
          </a:xfrm>
          <a:prstGeom prst="roundRect">
            <a:avLst/>
          </a:prstGeom>
          <a:solidFill>
            <a:srgbClr val="FAF7FF"/>
          </a:solidFill>
          <a:ln>
            <a:solidFill>
              <a:srgbClr val="DAD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7">
            <a:extLst>
              <a:ext uri="{FF2B5EF4-FFF2-40B4-BE49-F238E27FC236}">
                <a16:creationId xmlns:a16="http://schemas.microsoft.com/office/drawing/2014/main" id="{4F59E5B5-A95A-6E23-1BF2-0BF8384F227B}"/>
              </a:ext>
            </a:extLst>
          </p:cNvPr>
          <p:cNvSpPr txBox="1"/>
          <p:nvPr/>
        </p:nvSpPr>
        <p:spPr>
          <a:xfrm>
            <a:off x="6306754" y="1807061"/>
            <a:ext cx="28363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1" dirty="0">
                <a:solidFill>
                  <a:srgbClr val="6E6E78"/>
                </a:solidFill>
                <a:latin typeface="Aptos"/>
              </a:rPr>
              <a:t>Console _ Revenus mondiaux 2025 (</a:t>
            </a:r>
            <a:r>
              <a:rPr lang="fr-FR" sz="900" b="1" dirty="0">
                <a:solidFill>
                  <a:schemeClr val="tx2"/>
                </a:solidFill>
                <a:latin typeface="Aptos"/>
              </a:rPr>
              <a:t>Milliards </a:t>
            </a:r>
            <a:r>
              <a:rPr lang="fr-FR" sz="900" b="1" dirty="0">
                <a:solidFill>
                  <a:schemeClr val="tx2"/>
                </a:solidFill>
              </a:rPr>
              <a:t>$</a:t>
            </a:r>
            <a:r>
              <a:rPr lang="fr-FR" sz="900" b="1" dirty="0">
                <a:solidFill>
                  <a:srgbClr val="7042D2"/>
                </a:solidFill>
              </a:rPr>
              <a:t>)</a:t>
            </a:r>
            <a:endParaRPr sz="900" b="1" dirty="0">
              <a:solidFill>
                <a:srgbClr val="6E6E78"/>
              </a:solidFill>
              <a:latin typeface="Aptos"/>
            </a:endParaRPr>
          </a:p>
          <a:p>
            <a:pPr algn="ctr"/>
            <a:r>
              <a:rPr lang="fr-FR" sz="1300" b="1" dirty="0">
                <a:solidFill>
                  <a:srgbClr val="7042D2"/>
                </a:solidFill>
              </a:rPr>
              <a:t>45,9 Md$</a:t>
            </a:r>
          </a:p>
        </p:txBody>
      </p:sp>
      <p:sp>
        <p:nvSpPr>
          <p:cNvPr id="23" name="Rounded Rectangle 26">
            <a:extLst>
              <a:ext uri="{FF2B5EF4-FFF2-40B4-BE49-F238E27FC236}">
                <a16:creationId xmlns:a16="http://schemas.microsoft.com/office/drawing/2014/main" id="{4606BAF6-197D-E20F-F28C-0630383B5F72}"/>
              </a:ext>
            </a:extLst>
          </p:cNvPr>
          <p:cNvSpPr/>
          <p:nvPr/>
        </p:nvSpPr>
        <p:spPr>
          <a:xfrm>
            <a:off x="6242918" y="2311102"/>
            <a:ext cx="2732390" cy="452075"/>
          </a:xfrm>
          <a:prstGeom prst="roundRect">
            <a:avLst/>
          </a:prstGeom>
          <a:solidFill>
            <a:srgbClr val="FAF7FF"/>
          </a:solidFill>
          <a:ln>
            <a:solidFill>
              <a:srgbClr val="DAD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7">
            <a:extLst>
              <a:ext uri="{FF2B5EF4-FFF2-40B4-BE49-F238E27FC236}">
                <a16:creationId xmlns:a16="http://schemas.microsoft.com/office/drawing/2014/main" id="{36A6203B-7EB8-AD10-4040-BC0715326DF4}"/>
              </a:ext>
            </a:extLst>
          </p:cNvPr>
          <p:cNvSpPr txBox="1"/>
          <p:nvPr/>
        </p:nvSpPr>
        <p:spPr>
          <a:xfrm>
            <a:off x="6313862" y="2347679"/>
            <a:ext cx="28363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1" dirty="0">
                <a:solidFill>
                  <a:srgbClr val="6E6E78"/>
                </a:solidFill>
                <a:latin typeface="Aptos"/>
              </a:rPr>
              <a:t>PC _ Revenus mondiaux 2025 (</a:t>
            </a:r>
            <a:r>
              <a:rPr lang="fr-FR" sz="900" b="1" dirty="0">
                <a:solidFill>
                  <a:schemeClr val="tx2"/>
                </a:solidFill>
                <a:latin typeface="Aptos"/>
              </a:rPr>
              <a:t>Milliards </a:t>
            </a:r>
            <a:r>
              <a:rPr lang="fr-FR" sz="900" b="1" dirty="0">
                <a:solidFill>
                  <a:schemeClr val="tx2"/>
                </a:solidFill>
              </a:rPr>
              <a:t>$</a:t>
            </a:r>
            <a:r>
              <a:rPr lang="fr-FR" sz="900" b="1" dirty="0">
                <a:solidFill>
                  <a:srgbClr val="7042D2"/>
                </a:solidFill>
              </a:rPr>
              <a:t>)</a:t>
            </a:r>
            <a:endParaRPr sz="900" b="1" dirty="0">
              <a:solidFill>
                <a:srgbClr val="6E6E78"/>
              </a:solidFill>
              <a:latin typeface="Aptos"/>
            </a:endParaRPr>
          </a:p>
          <a:p>
            <a:pPr algn="ctr"/>
            <a:r>
              <a:rPr lang="fr-FR" sz="1300" b="1" dirty="0">
                <a:solidFill>
                  <a:srgbClr val="7042D2"/>
                </a:solidFill>
              </a:rPr>
              <a:t>39,9 Md$</a:t>
            </a:r>
          </a:p>
        </p:txBody>
      </p:sp>
      <p:sp>
        <p:nvSpPr>
          <p:cNvPr id="25" name="TextBox 32">
            <a:extLst>
              <a:ext uri="{FF2B5EF4-FFF2-40B4-BE49-F238E27FC236}">
                <a16:creationId xmlns:a16="http://schemas.microsoft.com/office/drawing/2014/main" id="{D8720A37-2CA6-35BD-1F87-6F3F81BAF198}"/>
              </a:ext>
            </a:extLst>
          </p:cNvPr>
          <p:cNvSpPr txBox="1"/>
          <p:nvPr/>
        </p:nvSpPr>
        <p:spPr>
          <a:xfrm>
            <a:off x="6242918" y="2916277"/>
            <a:ext cx="2732390" cy="129266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D2D3C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Mobile</a:t>
            </a:r>
            <a:r>
              <a:rPr dirty="0"/>
              <a:t> : </a:t>
            </a:r>
            <a:r>
              <a:rPr dirty="0" err="1"/>
              <a:t>marché</a:t>
            </a:r>
            <a:r>
              <a:rPr dirty="0"/>
              <a:t> le plus large,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modèle</a:t>
            </a:r>
            <a:r>
              <a:rPr dirty="0"/>
              <a:t> dominant </a:t>
            </a:r>
            <a:r>
              <a:rPr dirty="0" err="1"/>
              <a:t>souvent</a:t>
            </a:r>
            <a:r>
              <a:rPr dirty="0"/>
              <a:t> free-to-play/in-app.</a:t>
            </a:r>
            <a:endParaRPr lang="fr-FR" dirty="0"/>
          </a:p>
          <a:p>
            <a:pPr>
              <a:spcAft>
                <a:spcPts val="300"/>
              </a:spcAft>
              <a:defRPr sz="900">
                <a:solidFill>
                  <a:srgbClr val="2D2D3C"/>
                </a:solidFill>
                <a:latin typeface="Aptos"/>
              </a:defRPr>
            </a:pPr>
            <a:endParaRPr sz="500" dirty="0"/>
          </a:p>
          <a:p>
            <a:pPr>
              <a:spcAft>
                <a:spcPts val="300"/>
              </a:spcAft>
              <a:defRPr sz="900">
                <a:solidFill>
                  <a:srgbClr val="2D2D3C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Console + PC </a:t>
            </a:r>
            <a:r>
              <a:rPr dirty="0"/>
              <a:t>: près de 86 Md$ de </a:t>
            </a:r>
            <a:r>
              <a:rPr dirty="0" err="1"/>
              <a:t>revenus</a:t>
            </a:r>
            <a:r>
              <a:rPr dirty="0"/>
              <a:t>, </a:t>
            </a:r>
            <a:r>
              <a:rPr dirty="0" err="1"/>
              <a:t>meilleur</a:t>
            </a:r>
            <a:r>
              <a:rPr dirty="0"/>
              <a:t> fit pour un jeu premium digital.</a:t>
            </a:r>
            <a:endParaRPr lang="fr-FR" dirty="0"/>
          </a:p>
          <a:p>
            <a:pPr>
              <a:spcAft>
                <a:spcPts val="300"/>
              </a:spcAft>
              <a:defRPr sz="900">
                <a:solidFill>
                  <a:srgbClr val="2D2D3C"/>
                </a:solidFill>
                <a:latin typeface="Aptos"/>
              </a:defRPr>
            </a:pPr>
            <a:endParaRPr dirty="0"/>
          </a:p>
          <a:p>
            <a:pPr>
              <a:spcAft>
                <a:spcPts val="300"/>
              </a:spcAft>
              <a:defRPr sz="900">
                <a:solidFill>
                  <a:srgbClr val="2D2D3C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Le choix PC + PlayStation + Xbox</a:t>
            </a:r>
            <a:r>
              <a:rPr dirty="0"/>
              <a:t> </a:t>
            </a:r>
            <a:r>
              <a:rPr dirty="0" err="1"/>
              <a:t>reste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/>
              <a:t>cohérent</a:t>
            </a:r>
            <a:r>
              <a:rPr dirty="0"/>
              <a:t> malgré la puissance du mobile.</a:t>
            </a:r>
          </a:p>
        </p:txBody>
      </p:sp>
      <p:sp>
        <p:nvSpPr>
          <p:cNvPr id="26" name="TextBox 33">
            <a:extLst>
              <a:ext uri="{FF2B5EF4-FFF2-40B4-BE49-F238E27FC236}">
                <a16:creationId xmlns:a16="http://schemas.microsoft.com/office/drawing/2014/main" id="{FA378D3F-36CD-CBB5-41DD-502C93DA641E}"/>
              </a:ext>
            </a:extLst>
          </p:cNvPr>
          <p:cNvSpPr txBox="1"/>
          <p:nvPr/>
        </p:nvSpPr>
        <p:spPr>
          <a:xfrm>
            <a:off x="0" y="4492849"/>
            <a:ext cx="63147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dirty="0" err="1">
                <a:solidFill>
                  <a:srgbClr val="6E6E78"/>
                </a:solidFill>
                <a:latin typeface="Aptos"/>
              </a:rPr>
              <a:t>Unités</a:t>
            </a:r>
            <a:r>
              <a:rPr sz="800" b="1" dirty="0">
                <a:solidFill>
                  <a:srgbClr val="6E6E78"/>
                </a:solidFill>
                <a:latin typeface="Aptos"/>
              </a:rPr>
              <a:t> : </a:t>
            </a:r>
            <a:r>
              <a:rPr sz="800" b="1" dirty="0" err="1">
                <a:solidFill>
                  <a:srgbClr val="6E6E78"/>
                </a:solidFill>
                <a:latin typeface="Aptos"/>
              </a:rPr>
              <a:t>revenus</a:t>
            </a:r>
            <a:r>
              <a:rPr sz="800" b="1" dirty="0">
                <a:solidFill>
                  <a:srgbClr val="6E6E78"/>
                </a:solidFill>
                <a:latin typeface="Aptos"/>
              </a:rPr>
              <a:t> </a:t>
            </a:r>
            <a:r>
              <a:rPr sz="800" b="1" dirty="0" err="1">
                <a:solidFill>
                  <a:srgbClr val="6E6E78"/>
                </a:solidFill>
                <a:latin typeface="Aptos"/>
              </a:rPr>
              <a:t>en</a:t>
            </a:r>
            <a:r>
              <a:rPr sz="800" b="1" dirty="0">
                <a:solidFill>
                  <a:srgbClr val="6E6E78"/>
                </a:solidFill>
                <a:latin typeface="Aptos"/>
              </a:rPr>
              <a:t> milliards de dollars US ; </a:t>
            </a:r>
            <a:r>
              <a:rPr sz="800" b="1" dirty="0" err="1">
                <a:solidFill>
                  <a:srgbClr val="6E6E78"/>
                </a:solidFill>
                <a:latin typeface="Aptos"/>
              </a:rPr>
              <a:t>joueurs</a:t>
            </a:r>
            <a:r>
              <a:rPr sz="800" b="1" dirty="0">
                <a:solidFill>
                  <a:srgbClr val="6E6E78"/>
                </a:solidFill>
                <a:latin typeface="Aptos"/>
              </a:rPr>
              <a:t> </a:t>
            </a:r>
            <a:r>
              <a:rPr sz="800" b="1" dirty="0" err="1">
                <a:solidFill>
                  <a:srgbClr val="6E6E78"/>
                </a:solidFill>
                <a:latin typeface="Aptos"/>
              </a:rPr>
              <a:t>en</a:t>
            </a:r>
            <a:r>
              <a:rPr sz="800" b="1" dirty="0">
                <a:solidFill>
                  <a:srgbClr val="6E6E78"/>
                </a:solidFill>
                <a:latin typeface="Aptos"/>
              </a:rPr>
              <a:t> milliards de </a:t>
            </a:r>
            <a:r>
              <a:rPr sz="800" b="1" dirty="0" err="1">
                <a:solidFill>
                  <a:srgbClr val="6E6E78"/>
                </a:solidFill>
                <a:latin typeface="Aptos"/>
              </a:rPr>
              <a:t>joueurs</a:t>
            </a:r>
            <a:r>
              <a:rPr sz="800" b="1" dirty="0">
                <a:solidFill>
                  <a:srgbClr val="6E6E78"/>
                </a:solidFill>
                <a:latin typeface="Aptos"/>
              </a:rPr>
              <a:t> — Source : </a:t>
            </a:r>
            <a:r>
              <a:rPr sz="800" b="1" dirty="0" err="1">
                <a:solidFill>
                  <a:srgbClr val="6E6E78"/>
                </a:solidFill>
                <a:latin typeface="Aptos"/>
              </a:rPr>
              <a:t>Newzoo</a:t>
            </a:r>
            <a:r>
              <a:rPr sz="800" b="1" dirty="0">
                <a:solidFill>
                  <a:srgbClr val="6E6E78"/>
                </a:solidFill>
                <a:latin typeface="Aptos"/>
              </a:rPr>
              <a:t> Global Games Market Report 2025.</a:t>
            </a:r>
          </a:p>
        </p:txBody>
      </p:sp>
    </p:spTree>
    <p:extLst>
      <p:ext uri="{BB962C8B-B14F-4D97-AF65-F5344CB8AC3E}">
        <p14:creationId xmlns:p14="http://schemas.microsoft.com/office/powerpoint/2010/main" val="2678519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21484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9114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329184"/>
            <a:ext cx="2338250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04 _ </a:t>
            </a:r>
            <a:r>
              <a:rPr b="1" dirty="0">
                <a:solidFill>
                  <a:srgbClr val="FFFFFF"/>
                </a:solidFill>
              </a:rPr>
              <a:t>ANALYSES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676656"/>
            <a:ext cx="8598513" cy="38472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fr-FR" sz="1900" b="1" dirty="0">
                <a:solidFill>
                  <a:srgbClr val="141642"/>
                </a:solidFill>
              </a:rPr>
              <a:t>Catalogue 2022 : distinguer présence, engagement et potentiel commercial</a:t>
            </a:r>
            <a:endParaRPr sz="1900" b="1" dirty="0">
              <a:solidFill>
                <a:srgbClr val="14164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" y="4828032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6D757D"/>
                </a:solidFill>
              </a:rPr>
              <a:t>Projet P10 — UOI Games | Données OC, questionnaire et sources externes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6009" y="4809744"/>
            <a:ext cx="29367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800" b="1" dirty="0">
                <a:solidFill>
                  <a:srgbClr val="6D757D"/>
                </a:solidFill>
              </a:rPr>
              <a:t>12</a:t>
            </a:r>
            <a:endParaRPr sz="800" b="1" dirty="0">
              <a:solidFill>
                <a:srgbClr val="6D757D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49771" y="1234439"/>
            <a:ext cx="5684099" cy="3495215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12b_scatter_catalogue_genres_presence_vs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351193"/>
            <a:ext cx="4936184" cy="326810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599" y="1472184"/>
            <a:ext cx="2880360" cy="1417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b="1" dirty="0">
                <a:solidFill>
                  <a:srgbClr val="FF6D5C"/>
                </a:solidFill>
              </a:rPr>
              <a:t>• </a:t>
            </a:r>
            <a:r>
              <a:rPr sz="1100" dirty="0">
                <a:solidFill>
                  <a:srgbClr val="373B48"/>
                </a:solidFill>
              </a:rPr>
              <a:t>Le catalogue </a:t>
            </a:r>
            <a:r>
              <a:rPr sz="1100" dirty="0" err="1">
                <a:solidFill>
                  <a:srgbClr val="373B48"/>
                </a:solidFill>
              </a:rPr>
              <a:t>récent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éclaire</a:t>
            </a:r>
            <a:r>
              <a:rPr sz="1100" dirty="0">
                <a:solidFill>
                  <a:srgbClr val="373B48"/>
                </a:solidFill>
              </a:rPr>
              <a:t> la </a:t>
            </a:r>
            <a:r>
              <a:rPr sz="1100" dirty="0" err="1">
                <a:solidFill>
                  <a:srgbClr val="373B48"/>
                </a:solidFill>
              </a:rPr>
              <a:t>densité</a:t>
            </a:r>
            <a:r>
              <a:rPr sz="1100" dirty="0">
                <a:solidFill>
                  <a:srgbClr val="373B48"/>
                </a:solidFill>
              </a:rPr>
              <a:t> de </a:t>
            </a:r>
            <a:r>
              <a:rPr sz="1100" dirty="0" err="1">
                <a:solidFill>
                  <a:srgbClr val="373B48"/>
                </a:solidFill>
              </a:rPr>
              <a:t>l’offre</a:t>
            </a:r>
            <a:r>
              <a:rPr sz="1100" dirty="0">
                <a:solidFill>
                  <a:srgbClr val="373B48"/>
                </a:solidFill>
              </a:rPr>
              <a:t> et les </a:t>
            </a:r>
            <a:r>
              <a:rPr sz="1100" dirty="0" err="1">
                <a:solidFill>
                  <a:srgbClr val="373B48"/>
                </a:solidFill>
              </a:rPr>
              <a:t>signaux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d’engagement</a:t>
            </a:r>
            <a:r>
              <a:rPr sz="1100" dirty="0">
                <a:solidFill>
                  <a:srgbClr val="373B48"/>
                </a:solidFill>
              </a:rPr>
              <a:t>.</a:t>
            </a:r>
          </a:p>
          <a:p>
            <a:pPr>
              <a:spcAft>
                <a:spcPts val="0"/>
              </a:spcAft>
            </a:pPr>
            <a:r>
              <a:rPr sz="1100" b="1" dirty="0">
                <a:solidFill>
                  <a:srgbClr val="FF6D5C"/>
                </a:solidFill>
              </a:rPr>
              <a:t>• </a:t>
            </a:r>
            <a:r>
              <a:rPr sz="1100" dirty="0">
                <a:solidFill>
                  <a:srgbClr val="373B48"/>
                </a:solidFill>
              </a:rPr>
              <a:t>Il ne </a:t>
            </a:r>
            <a:r>
              <a:rPr sz="1100" dirty="0" err="1">
                <a:solidFill>
                  <a:srgbClr val="373B48"/>
                </a:solidFill>
              </a:rPr>
              <a:t>mesure</a:t>
            </a:r>
            <a:r>
              <a:rPr sz="1100" dirty="0">
                <a:solidFill>
                  <a:srgbClr val="373B48"/>
                </a:solidFill>
              </a:rPr>
              <a:t> pas </a:t>
            </a:r>
            <a:r>
              <a:rPr sz="1100" dirty="0" err="1">
                <a:solidFill>
                  <a:srgbClr val="373B48"/>
                </a:solidFill>
              </a:rPr>
              <a:t>directement</a:t>
            </a:r>
            <a:r>
              <a:rPr sz="1100" dirty="0">
                <a:solidFill>
                  <a:srgbClr val="373B48"/>
                </a:solidFill>
              </a:rPr>
              <a:t> les ventes : </a:t>
            </a:r>
            <a:r>
              <a:rPr sz="1100" dirty="0" err="1">
                <a:solidFill>
                  <a:srgbClr val="373B48"/>
                </a:solidFill>
              </a:rPr>
              <a:t>l’interprétation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reste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complémentaire</a:t>
            </a:r>
            <a:r>
              <a:rPr sz="1100" dirty="0">
                <a:solidFill>
                  <a:srgbClr val="373B48"/>
                </a:solidFill>
              </a:rPr>
              <a:t>.</a:t>
            </a:r>
          </a:p>
          <a:p>
            <a:pPr>
              <a:spcAft>
                <a:spcPts val="0"/>
              </a:spcAft>
            </a:pPr>
            <a:r>
              <a:rPr sz="1100" b="1" dirty="0">
                <a:solidFill>
                  <a:srgbClr val="FF6D5C"/>
                </a:solidFill>
              </a:rPr>
              <a:t>• </a:t>
            </a:r>
            <a:r>
              <a:rPr sz="1100" dirty="0">
                <a:solidFill>
                  <a:srgbClr val="373B48"/>
                </a:solidFill>
              </a:rPr>
              <a:t>La </a:t>
            </a:r>
            <a:r>
              <a:rPr sz="1100" dirty="0" err="1">
                <a:solidFill>
                  <a:srgbClr val="373B48"/>
                </a:solidFill>
              </a:rPr>
              <a:t>recommandation</a:t>
            </a:r>
            <a:r>
              <a:rPr sz="1100" dirty="0">
                <a:solidFill>
                  <a:srgbClr val="373B48"/>
                </a:solidFill>
              </a:rPr>
              <a:t> doit </a:t>
            </a:r>
            <a:r>
              <a:rPr sz="1100" dirty="0" err="1">
                <a:solidFill>
                  <a:srgbClr val="373B48"/>
                </a:solidFill>
              </a:rPr>
              <a:t>donc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croiser</a:t>
            </a:r>
            <a:r>
              <a:rPr sz="1100" dirty="0">
                <a:solidFill>
                  <a:srgbClr val="373B48"/>
                </a:solidFill>
              </a:rPr>
              <a:t> catalogue, ventes </a:t>
            </a:r>
            <a:r>
              <a:rPr sz="1100" dirty="0" err="1">
                <a:solidFill>
                  <a:srgbClr val="373B48"/>
                </a:solidFill>
              </a:rPr>
              <a:t>historiques</a:t>
            </a:r>
            <a:r>
              <a:rPr sz="1100" dirty="0">
                <a:solidFill>
                  <a:srgbClr val="373B48"/>
                </a:solidFill>
              </a:rPr>
              <a:t>, sources </a:t>
            </a:r>
            <a:r>
              <a:rPr sz="1100" dirty="0" err="1">
                <a:solidFill>
                  <a:srgbClr val="373B48"/>
                </a:solidFill>
              </a:rPr>
              <a:t>récentes</a:t>
            </a:r>
            <a:r>
              <a:rPr sz="1100" dirty="0">
                <a:solidFill>
                  <a:srgbClr val="373B48"/>
                </a:solidFill>
              </a:rPr>
              <a:t> et questionnaire.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39" y="3246120"/>
            <a:ext cx="288036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71031" y="3300310"/>
            <a:ext cx="64008" cy="814489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199" y="3319272"/>
            <a:ext cx="26517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6D5C"/>
                </a:solidFill>
              </a:rPr>
              <a:t>Règle de lecture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141642"/>
                </a:solidFill>
              </a:rPr>
              <a:t>Popularité catalogue ≠ performance commerciale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1F4F8-BB42-FB37-C76F-8935B77E5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456936-F980-874D-BD26-A6254810A150}"/>
              </a:ext>
            </a:extLst>
          </p:cNvPr>
          <p:cNvSpPr/>
          <p:nvPr/>
        </p:nvSpPr>
        <p:spPr>
          <a:xfrm>
            <a:off x="320040" y="164592"/>
            <a:ext cx="121484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062B82-7E4D-2DA0-7B27-3A1B326F7C72}"/>
              </a:ext>
            </a:extLst>
          </p:cNvPr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560354-DE11-5E6D-29CA-32D14FAADADC}"/>
              </a:ext>
            </a:extLst>
          </p:cNvPr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CEB03C-1778-28B2-4CB5-EE82871F18C0}"/>
              </a:ext>
            </a:extLst>
          </p:cNvPr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8CED28-8554-1C18-EDBF-14295B8BBC3F}"/>
              </a:ext>
            </a:extLst>
          </p:cNvPr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98F5FF-69BB-7430-C95F-CA7061CCFAB5}"/>
              </a:ext>
            </a:extLst>
          </p:cNvPr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81C9B8-FA04-CB28-FD17-7AD76A66040D}"/>
              </a:ext>
            </a:extLst>
          </p:cNvPr>
          <p:cNvSpPr/>
          <p:nvPr/>
        </p:nvSpPr>
        <p:spPr>
          <a:xfrm>
            <a:off x="7609114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04D24D2-0ECA-7275-8B4E-437F02CA9BE2}"/>
              </a:ext>
            </a:extLst>
          </p:cNvPr>
          <p:cNvSpPr/>
          <p:nvPr/>
        </p:nvSpPr>
        <p:spPr>
          <a:xfrm>
            <a:off x="411480" y="329184"/>
            <a:ext cx="2338250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04 _ </a:t>
            </a:r>
            <a:r>
              <a:rPr b="1" dirty="0">
                <a:solidFill>
                  <a:srgbClr val="FFFFFF"/>
                </a:solidFill>
              </a:rPr>
              <a:t>ANALYSES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2E9BFF-5520-3283-A892-9A41DD99C56A}"/>
              </a:ext>
            </a:extLst>
          </p:cNvPr>
          <p:cNvSpPr txBox="1"/>
          <p:nvPr/>
        </p:nvSpPr>
        <p:spPr>
          <a:xfrm>
            <a:off x="205738" y="666505"/>
            <a:ext cx="8732521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fr-FR" sz="1400" b="1" dirty="0">
                <a:solidFill>
                  <a:srgbClr val="141642"/>
                </a:solidFill>
              </a:rPr>
              <a:t>Actualisation 2025 : </a:t>
            </a:r>
            <a:r>
              <a:rPr lang="fr-FR" sz="1400" b="1" dirty="0">
                <a:solidFill>
                  <a:srgbClr val="2A274A"/>
                </a:solidFill>
              </a:rPr>
              <a:t>Digital, post‑launch et cloud : distribution incontournable, streaming encore minoritaire</a:t>
            </a:r>
          </a:p>
          <a:p>
            <a:endParaRPr sz="1400" b="1" dirty="0">
              <a:solidFill>
                <a:srgbClr val="14164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024F1-16F0-7610-489E-69FCA8B14C1E}"/>
              </a:ext>
            </a:extLst>
          </p:cNvPr>
          <p:cNvSpPr txBox="1"/>
          <p:nvPr/>
        </p:nvSpPr>
        <p:spPr>
          <a:xfrm>
            <a:off x="205738" y="4855149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 dirty="0" err="1">
                <a:solidFill>
                  <a:srgbClr val="6D757D"/>
                </a:solidFill>
              </a:rPr>
              <a:t>Projet</a:t>
            </a:r>
            <a:r>
              <a:rPr sz="750" dirty="0">
                <a:solidFill>
                  <a:srgbClr val="6D757D"/>
                </a:solidFill>
              </a:rPr>
              <a:t> P10 — UOI Games | Données OC, questionnaire et sources externes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9B840F-4B5B-2A3C-D1E1-0269A58C5A0D}"/>
              </a:ext>
            </a:extLst>
          </p:cNvPr>
          <p:cNvSpPr txBox="1"/>
          <p:nvPr/>
        </p:nvSpPr>
        <p:spPr>
          <a:xfrm>
            <a:off x="8576009" y="4809744"/>
            <a:ext cx="29367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800" b="1" dirty="0">
                <a:solidFill>
                  <a:srgbClr val="6D757D"/>
                </a:solidFill>
              </a:rPr>
              <a:t>13</a:t>
            </a:r>
            <a:endParaRPr sz="800" b="1" dirty="0">
              <a:solidFill>
                <a:srgbClr val="6D757D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72C1F0E-4EFE-71AC-3846-A166B83257BB}"/>
              </a:ext>
            </a:extLst>
          </p:cNvPr>
          <p:cNvSpPr/>
          <p:nvPr/>
        </p:nvSpPr>
        <p:spPr>
          <a:xfrm>
            <a:off x="149771" y="1234440"/>
            <a:ext cx="5684099" cy="30662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25" descr="current_2025_digital_cloud.png">
            <a:extLst>
              <a:ext uri="{FF2B5EF4-FFF2-40B4-BE49-F238E27FC236}">
                <a16:creationId xmlns:a16="http://schemas.microsoft.com/office/drawing/2014/main" id="{4DE67F97-061D-29C9-C490-E0C31B197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26780"/>
            <a:ext cx="5330950" cy="2759596"/>
          </a:xfrm>
          <a:prstGeom prst="rect">
            <a:avLst/>
          </a:prstGeom>
        </p:spPr>
      </p:pic>
      <p:sp>
        <p:nvSpPr>
          <p:cNvPr id="20" name="TextBox 33">
            <a:extLst>
              <a:ext uri="{FF2B5EF4-FFF2-40B4-BE49-F238E27FC236}">
                <a16:creationId xmlns:a16="http://schemas.microsoft.com/office/drawing/2014/main" id="{6D1B9D65-A945-7499-9132-E236E2A44EB2}"/>
              </a:ext>
            </a:extLst>
          </p:cNvPr>
          <p:cNvSpPr txBox="1"/>
          <p:nvPr/>
        </p:nvSpPr>
        <p:spPr>
          <a:xfrm>
            <a:off x="149771" y="4345367"/>
            <a:ext cx="804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dirty="0" err="1">
                <a:solidFill>
                  <a:srgbClr val="6E6E78"/>
                </a:solidFill>
                <a:latin typeface="Aptos"/>
              </a:rPr>
              <a:t>Unités</a:t>
            </a:r>
            <a:r>
              <a:rPr sz="750" b="1" dirty="0">
                <a:solidFill>
                  <a:srgbClr val="6E6E78"/>
                </a:solidFill>
                <a:latin typeface="Aptos"/>
              </a:rPr>
              <a:t> : parts </a:t>
            </a:r>
            <a:r>
              <a:rPr sz="750" b="1" dirty="0" err="1">
                <a:solidFill>
                  <a:srgbClr val="6E6E78"/>
                </a:solidFill>
                <a:latin typeface="Aptos"/>
              </a:rPr>
              <a:t>en</a:t>
            </a:r>
            <a:r>
              <a:rPr sz="750" b="1" dirty="0">
                <a:solidFill>
                  <a:srgbClr val="6E6E78"/>
                </a:solidFill>
                <a:latin typeface="Aptos"/>
              </a:rPr>
              <a:t> % des </a:t>
            </a:r>
            <a:r>
              <a:rPr sz="750" b="1" dirty="0" err="1">
                <a:solidFill>
                  <a:srgbClr val="6E6E78"/>
                </a:solidFill>
                <a:latin typeface="Aptos"/>
              </a:rPr>
              <a:t>revenus</a:t>
            </a:r>
            <a:r>
              <a:rPr sz="750" b="1" dirty="0">
                <a:solidFill>
                  <a:srgbClr val="6E6E78"/>
                </a:solidFill>
                <a:latin typeface="Aptos"/>
              </a:rPr>
              <a:t> </a:t>
            </a:r>
            <a:r>
              <a:rPr sz="750" b="1" dirty="0" err="1">
                <a:solidFill>
                  <a:srgbClr val="6E6E78"/>
                </a:solidFill>
                <a:latin typeface="Aptos"/>
              </a:rPr>
              <a:t>ou</a:t>
            </a:r>
            <a:r>
              <a:rPr sz="750" b="1" dirty="0">
                <a:solidFill>
                  <a:srgbClr val="6E6E78"/>
                </a:solidFill>
                <a:latin typeface="Aptos"/>
              </a:rPr>
              <a:t> ventes </a:t>
            </a:r>
            <a:r>
              <a:rPr sz="750" b="1" dirty="0" err="1">
                <a:solidFill>
                  <a:srgbClr val="6E6E78"/>
                </a:solidFill>
                <a:latin typeface="Aptos"/>
              </a:rPr>
              <a:t>digitales</a:t>
            </a:r>
            <a:r>
              <a:rPr sz="750" b="1" dirty="0">
                <a:solidFill>
                  <a:srgbClr val="6E6E78"/>
                </a:solidFill>
                <a:latin typeface="Aptos"/>
              </a:rPr>
              <a:t>  — Sources : Video Games Europe 2024, Sony FY2024, Nintendo FY2026.</a:t>
            </a:r>
          </a:p>
        </p:txBody>
      </p:sp>
      <p:sp>
        <p:nvSpPr>
          <p:cNvPr id="21" name="Rounded Rectangle 26">
            <a:extLst>
              <a:ext uri="{FF2B5EF4-FFF2-40B4-BE49-F238E27FC236}">
                <a16:creationId xmlns:a16="http://schemas.microsoft.com/office/drawing/2014/main" id="{B2C8B77E-FBFF-4A9C-14BC-340C1063B243}"/>
              </a:ext>
            </a:extLst>
          </p:cNvPr>
          <p:cNvSpPr/>
          <p:nvPr/>
        </p:nvSpPr>
        <p:spPr>
          <a:xfrm>
            <a:off x="6119982" y="1286963"/>
            <a:ext cx="2551052" cy="452075"/>
          </a:xfrm>
          <a:prstGeom prst="roundRect">
            <a:avLst/>
          </a:prstGeom>
          <a:solidFill>
            <a:srgbClr val="FAF7FF"/>
          </a:solidFill>
          <a:ln>
            <a:solidFill>
              <a:srgbClr val="DAD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7">
            <a:extLst>
              <a:ext uri="{FF2B5EF4-FFF2-40B4-BE49-F238E27FC236}">
                <a16:creationId xmlns:a16="http://schemas.microsoft.com/office/drawing/2014/main" id="{D0C63799-E6CD-C6D3-9D8F-CFD90172F6E7}"/>
              </a:ext>
            </a:extLst>
          </p:cNvPr>
          <p:cNvSpPr txBox="1"/>
          <p:nvPr/>
        </p:nvSpPr>
        <p:spPr>
          <a:xfrm>
            <a:off x="6190926" y="1323540"/>
            <a:ext cx="25510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1" dirty="0">
                <a:solidFill>
                  <a:srgbClr val="6E6E78"/>
                </a:solidFill>
                <a:latin typeface="Aptos"/>
              </a:rPr>
              <a:t>Europe 2024 _ Part des revenus digitaux </a:t>
            </a:r>
            <a:endParaRPr sz="900" b="1" dirty="0">
              <a:solidFill>
                <a:srgbClr val="6E6E78"/>
              </a:solidFill>
              <a:latin typeface="Aptos"/>
            </a:endParaRPr>
          </a:p>
          <a:p>
            <a:pPr algn="ctr"/>
            <a:r>
              <a:rPr lang="fr-FR" sz="1300" b="1" dirty="0">
                <a:solidFill>
                  <a:srgbClr val="7042D2"/>
                </a:solidFill>
              </a:rPr>
              <a:t>90 %</a:t>
            </a:r>
          </a:p>
        </p:txBody>
      </p:sp>
      <p:sp>
        <p:nvSpPr>
          <p:cNvPr id="23" name="Rounded Rectangle 26">
            <a:extLst>
              <a:ext uri="{FF2B5EF4-FFF2-40B4-BE49-F238E27FC236}">
                <a16:creationId xmlns:a16="http://schemas.microsoft.com/office/drawing/2014/main" id="{8889A520-1F01-7730-B9AA-756EE549B847}"/>
              </a:ext>
            </a:extLst>
          </p:cNvPr>
          <p:cNvSpPr/>
          <p:nvPr/>
        </p:nvSpPr>
        <p:spPr>
          <a:xfrm>
            <a:off x="6119982" y="1807082"/>
            <a:ext cx="2551052" cy="452075"/>
          </a:xfrm>
          <a:prstGeom prst="roundRect">
            <a:avLst/>
          </a:prstGeom>
          <a:solidFill>
            <a:srgbClr val="FAF7FF"/>
          </a:solidFill>
          <a:ln>
            <a:solidFill>
              <a:srgbClr val="DAD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7">
            <a:extLst>
              <a:ext uri="{FF2B5EF4-FFF2-40B4-BE49-F238E27FC236}">
                <a16:creationId xmlns:a16="http://schemas.microsoft.com/office/drawing/2014/main" id="{44657CE9-E775-6785-0A6C-BBCB84B62AF5}"/>
              </a:ext>
            </a:extLst>
          </p:cNvPr>
          <p:cNvSpPr txBox="1"/>
          <p:nvPr/>
        </p:nvSpPr>
        <p:spPr>
          <a:xfrm>
            <a:off x="6190926" y="1843659"/>
            <a:ext cx="25510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1" dirty="0">
                <a:solidFill>
                  <a:srgbClr val="6E6E78"/>
                </a:solidFill>
                <a:latin typeface="Aptos"/>
              </a:rPr>
              <a:t>Europe 2024 _ Part des revenus Streaming</a:t>
            </a:r>
            <a:endParaRPr sz="900" b="1" dirty="0">
              <a:solidFill>
                <a:srgbClr val="6E6E78"/>
              </a:solidFill>
              <a:latin typeface="Aptos"/>
            </a:endParaRPr>
          </a:p>
          <a:p>
            <a:pPr algn="ctr"/>
            <a:r>
              <a:rPr lang="fr-FR" sz="1300" b="1" dirty="0">
                <a:solidFill>
                  <a:srgbClr val="7042D2"/>
                </a:solidFill>
              </a:rPr>
              <a:t>4 %</a:t>
            </a:r>
          </a:p>
        </p:txBody>
      </p:sp>
      <p:sp>
        <p:nvSpPr>
          <p:cNvPr id="25" name="Rounded Rectangle 26">
            <a:extLst>
              <a:ext uri="{FF2B5EF4-FFF2-40B4-BE49-F238E27FC236}">
                <a16:creationId xmlns:a16="http://schemas.microsoft.com/office/drawing/2014/main" id="{577C93C9-00CD-7FCB-8D2C-17084EC51D81}"/>
              </a:ext>
            </a:extLst>
          </p:cNvPr>
          <p:cNvSpPr/>
          <p:nvPr/>
        </p:nvSpPr>
        <p:spPr>
          <a:xfrm>
            <a:off x="6119982" y="2345042"/>
            <a:ext cx="2551052" cy="452075"/>
          </a:xfrm>
          <a:prstGeom prst="roundRect">
            <a:avLst/>
          </a:prstGeom>
          <a:solidFill>
            <a:srgbClr val="FAF7FF"/>
          </a:solidFill>
          <a:ln>
            <a:solidFill>
              <a:srgbClr val="DAD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7">
            <a:extLst>
              <a:ext uri="{FF2B5EF4-FFF2-40B4-BE49-F238E27FC236}">
                <a16:creationId xmlns:a16="http://schemas.microsoft.com/office/drawing/2014/main" id="{BCE797D6-FC9B-4887-4932-DE1F375E97EA}"/>
              </a:ext>
            </a:extLst>
          </p:cNvPr>
          <p:cNvSpPr txBox="1"/>
          <p:nvPr/>
        </p:nvSpPr>
        <p:spPr>
          <a:xfrm>
            <a:off x="6190926" y="2381619"/>
            <a:ext cx="25510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1" dirty="0">
                <a:solidFill>
                  <a:srgbClr val="6E6E78"/>
                </a:solidFill>
                <a:latin typeface="Aptos"/>
              </a:rPr>
              <a:t>PlayStation _ Ratio jeux complets digitaux</a:t>
            </a:r>
            <a:endParaRPr sz="900" b="1" dirty="0">
              <a:solidFill>
                <a:srgbClr val="6E6E78"/>
              </a:solidFill>
              <a:latin typeface="Aptos"/>
            </a:endParaRPr>
          </a:p>
          <a:p>
            <a:pPr algn="ctr"/>
            <a:r>
              <a:rPr lang="fr-FR" sz="1300" b="1" dirty="0">
                <a:solidFill>
                  <a:srgbClr val="7042D2"/>
                </a:solidFill>
              </a:rPr>
              <a:t>76 %</a:t>
            </a:r>
          </a:p>
        </p:txBody>
      </p:sp>
      <p:sp>
        <p:nvSpPr>
          <p:cNvPr id="27" name="TextBox 32">
            <a:extLst>
              <a:ext uri="{FF2B5EF4-FFF2-40B4-BE49-F238E27FC236}">
                <a16:creationId xmlns:a16="http://schemas.microsoft.com/office/drawing/2014/main" id="{60ADA106-7FA4-10CE-A64F-BAB5755AB8D7}"/>
              </a:ext>
            </a:extLst>
          </p:cNvPr>
          <p:cNvSpPr txBox="1"/>
          <p:nvPr/>
        </p:nvSpPr>
        <p:spPr>
          <a:xfrm>
            <a:off x="6119981" y="2941358"/>
            <a:ext cx="2551051" cy="15081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D2D3C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Le digital structure le </a:t>
            </a:r>
            <a:r>
              <a:rPr b="1" dirty="0" err="1"/>
              <a:t>lancement</a:t>
            </a:r>
            <a:r>
              <a:rPr b="1" dirty="0"/>
              <a:t> </a:t>
            </a:r>
            <a:r>
              <a:rPr dirty="0"/>
              <a:t>: stores, </a:t>
            </a:r>
            <a:r>
              <a:rPr dirty="0" err="1"/>
              <a:t>wishlists</a:t>
            </a:r>
            <a:r>
              <a:rPr dirty="0"/>
              <a:t>, </a:t>
            </a:r>
            <a:r>
              <a:rPr dirty="0" err="1"/>
              <a:t>communautés</a:t>
            </a:r>
            <a:r>
              <a:rPr dirty="0"/>
              <a:t>, </a:t>
            </a:r>
            <a:r>
              <a:rPr dirty="0" err="1"/>
              <a:t>créateurs</a:t>
            </a:r>
            <a:r>
              <a:rPr dirty="0"/>
              <a:t>.</a:t>
            </a:r>
            <a:endParaRPr lang="fr-FR" dirty="0"/>
          </a:p>
          <a:p>
            <a:pPr>
              <a:spcAft>
                <a:spcPts val="300"/>
              </a:spcAft>
              <a:defRPr sz="900">
                <a:solidFill>
                  <a:srgbClr val="2D2D3C"/>
                </a:solidFill>
                <a:latin typeface="Aptos"/>
              </a:defRPr>
            </a:pPr>
            <a:endParaRPr sz="500" dirty="0"/>
          </a:p>
          <a:p>
            <a:pPr>
              <a:spcAft>
                <a:spcPts val="300"/>
              </a:spcAft>
              <a:defRPr sz="900">
                <a:solidFill>
                  <a:srgbClr val="2D2D3C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Le cloud / streaming </a:t>
            </a:r>
            <a:r>
              <a:rPr dirty="0"/>
              <a:t>est à </a:t>
            </a:r>
            <a:r>
              <a:rPr dirty="0" err="1"/>
              <a:t>surveiller</a:t>
            </a:r>
            <a:r>
              <a:rPr dirty="0"/>
              <a:t>,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reste</a:t>
            </a:r>
            <a:r>
              <a:rPr dirty="0"/>
              <a:t> trop </a:t>
            </a:r>
            <a:r>
              <a:rPr dirty="0" err="1"/>
              <a:t>minoritaire</a:t>
            </a:r>
            <a:r>
              <a:rPr dirty="0"/>
              <a:t> pour porter seul le </a:t>
            </a:r>
            <a:r>
              <a:rPr dirty="0" err="1"/>
              <a:t>lancement</a:t>
            </a:r>
            <a:r>
              <a:rPr dirty="0"/>
              <a:t>.</a:t>
            </a:r>
            <a:endParaRPr lang="fr-FR" dirty="0"/>
          </a:p>
          <a:p>
            <a:pPr>
              <a:spcAft>
                <a:spcPts val="300"/>
              </a:spcAft>
              <a:defRPr sz="900">
                <a:solidFill>
                  <a:srgbClr val="2D2D3C"/>
                </a:solidFill>
                <a:latin typeface="Aptos"/>
              </a:defRPr>
            </a:pPr>
            <a:endParaRPr sz="500" dirty="0"/>
          </a:p>
          <a:p>
            <a:pPr>
              <a:spcAft>
                <a:spcPts val="300"/>
              </a:spcAft>
              <a:defRPr sz="900">
                <a:solidFill>
                  <a:srgbClr val="2D2D3C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Les DLC </a:t>
            </a:r>
            <a:r>
              <a:rPr lang="fr-FR" b="1" dirty="0"/>
              <a:t>(</a:t>
            </a:r>
            <a:r>
              <a:rPr lang="fr-FR" sz="900" b="1" dirty="0"/>
              <a:t> </a:t>
            </a:r>
            <a:r>
              <a:rPr lang="fr-FR" sz="900" dirty="0"/>
              <a:t>contenu additionnel téléchargeable</a:t>
            </a:r>
            <a:r>
              <a:rPr lang="fr-FR" sz="900" b="1" dirty="0"/>
              <a:t>) </a:t>
            </a:r>
            <a:r>
              <a:rPr dirty="0" err="1"/>
              <a:t>narratifs</a:t>
            </a:r>
            <a:r>
              <a:rPr dirty="0"/>
              <a:t> </a:t>
            </a:r>
            <a:r>
              <a:rPr dirty="0" err="1"/>
              <a:t>éventuels</a:t>
            </a:r>
            <a:r>
              <a:rPr dirty="0"/>
              <a:t> </a:t>
            </a:r>
            <a:r>
              <a:rPr dirty="0" err="1"/>
              <a:t>prolongent</a:t>
            </a:r>
            <a:r>
              <a:rPr dirty="0"/>
              <a:t> le premium sans </a:t>
            </a:r>
            <a:r>
              <a:rPr dirty="0" err="1"/>
              <a:t>monétisation</a:t>
            </a:r>
            <a:r>
              <a:rPr dirty="0"/>
              <a:t> </a:t>
            </a:r>
            <a:r>
              <a:rPr dirty="0" err="1"/>
              <a:t>agressive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6732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21484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9114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329184"/>
            <a:ext cx="2560320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04 _ </a:t>
            </a:r>
            <a:r>
              <a:rPr b="1" dirty="0">
                <a:solidFill>
                  <a:srgbClr val="FFFFFF"/>
                </a:solidFill>
              </a:rPr>
              <a:t>QUESTIONNAIRE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76656"/>
            <a:ext cx="8119082" cy="40011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000" b="1" dirty="0">
                <a:solidFill>
                  <a:srgbClr val="141642"/>
                </a:solidFill>
              </a:rPr>
              <a:t>Questionnaire : un signal </a:t>
            </a:r>
            <a:r>
              <a:rPr sz="2000" b="1" dirty="0" err="1">
                <a:solidFill>
                  <a:srgbClr val="141642"/>
                </a:solidFill>
              </a:rPr>
              <a:t>consommateur</a:t>
            </a:r>
            <a:r>
              <a:rPr sz="2000" b="1" dirty="0">
                <a:solidFill>
                  <a:srgbClr val="141642"/>
                </a:solidFill>
              </a:rPr>
              <a:t> favorable à </a:t>
            </a:r>
            <a:r>
              <a:rPr sz="2000" b="1" dirty="0" err="1">
                <a:solidFill>
                  <a:srgbClr val="141642"/>
                </a:solidFill>
              </a:rPr>
              <a:t>l’action-aventure</a:t>
            </a:r>
            <a:endParaRPr sz="2000" b="1" dirty="0">
              <a:solidFill>
                <a:srgbClr val="14164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" y="4828032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6D757D"/>
                </a:solidFill>
              </a:rPr>
              <a:t>Projet P10 — UOI Games | Données OC, questionnaire et sources externes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6009" y="4809744"/>
            <a:ext cx="29367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dirty="0">
                <a:solidFill>
                  <a:srgbClr val="6D757D"/>
                </a:solidFill>
              </a:rPr>
              <a:t>1</a:t>
            </a:r>
            <a:r>
              <a:rPr lang="fr-FR" sz="800" b="1" dirty="0">
                <a:solidFill>
                  <a:srgbClr val="6D757D"/>
                </a:solidFill>
              </a:rPr>
              <a:t>4</a:t>
            </a:r>
            <a:endParaRPr sz="800" b="1" dirty="0">
              <a:solidFill>
                <a:srgbClr val="6D757D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1234440"/>
            <a:ext cx="150876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1234440"/>
            <a:ext cx="64008" cy="822960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1307592"/>
            <a:ext cx="1280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148E8"/>
                </a:solidFill>
              </a:rPr>
              <a:t>Répondants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141642"/>
                </a:solidFill>
              </a:rPr>
              <a:t>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1234440"/>
            <a:ext cx="192024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48840" y="1234440"/>
            <a:ext cx="64008" cy="822960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0" y="1307592"/>
            <a:ext cx="1691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6D5C"/>
                </a:solidFill>
              </a:rPr>
              <a:t>Genre cité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41642"/>
                </a:solidFill>
              </a:rPr>
              <a:t>Action / aventure : 71,4 %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1234440"/>
            <a:ext cx="182880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06240" y="1234440"/>
            <a:ext cx="64008" cy="822960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1307592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AA650"/>
                </a:solidFill>
              </a:rPr>
              <a:t>Plateforme principale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141642"/>
                </a:solidFill>
              </a:rPr>
              <a:t>PC : 42,9 %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234440"/>
            <a:ext cx="214884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1234440"/>
            <a:ext cx="64008" cy="822960"/>
          </a:xfrm>
          <a:prstGeom prst="rect">
            <a:avLst/>
          </a:prstGeom>
          <a:solidFill>
            <a:srgbClr val="1E7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1307592"/>
            <a:ext cx="1920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78D2"/>
                </a:solidFill>
              </a:rPr>
              <a:t>Nouvelle licence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141642"/>
                </a:solidFill>
              </a:rPr>
              <a:t>100 % ouverts sous condition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2130551"/>
            <a:ext cx="4149484" cy="255968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questionnaire_11_concept_pref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5074"/>
            <a:ext cx="3703320" cy="225177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4572000" y="2130551"/>
            <a:ext cx="4297680" cy="255968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questionnaire_07_criteres_achat_note_moyen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843" y="2364827"/>
            <a:ext cx="3950839" cy="21020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21484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9114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0040" y="294834"/>
            <a:ext cx="2118886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05 _ </a:t>
            </a:r>
            <a:r>
              <a:rPr b="1" dirty="0">
                <a:solidFill>
                  <a:srgbClr val="FFFFFF"/>
                </a:solidFill>
              </a:rPr>
              <a:t>SWOT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87442"/>
            <a:ext cx="6507551" cy="40011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lang="fr-FR" sz="2000" b="1" dirty="0">
                <a:solidFill>
                  <a:srgbClr val="141642"/>
                </a:solidFill>
              </a:rPr>
              <a:t>U</a:t>
            </a:r>
            <a:r>
              <a:rPr sz="2000" b="1" dirty="0">
                <a:solidFill>
                  <a:srgbClr val="141642"/>
                </a:solidFill>
              </a:rPr>
              <a:t>ne </a:t>
            </a:r>
            <a:r>
              <a:rPr sz="2000" b="1" dirty="0" err="1">
                <a:solidFill>
                  <a:srgbClr val="141642"/>
                </a:solidFill>
              </a:rPr>
              <a:t>opportunité</a:t>
            </a:r>
            <a:r>
              <a:rPr sz="2000" b="1" dirty="0">
                <a:solidFill>
                  <a:srgbClr val="141642"/>
                </a:solidFill>
              </a:rPr>
              <a:t> </a:t>
            </a:r>
            <a:r>
              <a:rPr sz="2000" b="1" dirty="0" err="1">
                <a:solidFill>
                  <a:srgbClr val="141642"/>
                </a:solidFill>
              </a:rPr>
              <a:t>réelle</a:t>
            </a:r>
            <a:r>
              <a:rPr sz="2000" b="1" dirty="0">
                <a:solidFill>
                  <a:srgbClr val="141642"/>
                </a:solidFill>
              </a:rPr>
              <a:t>, </a:t>
            </a:r>
            <a:r>
              <a:rPr sz="2000" b="1" dirty="0" err="1">
                <a:solidFill>
                  <a:srgbClr val="141642"/>
                </a:solidFill>
              </a:rPr>
              <a:t>mais</a:t>
            </a:r>
            <a:r>
              <a:rPr sz="2000" b="1" dirty="0">
                <a:solidFill>
                  <a:srgbClr val="141642"/>
                </a:solidFill>
              </a:rPr>
              <a:t> </a:t>
            </a:r>
            <a:r>
              <a:rPr sz="2000" b="1" dirty="0" err="1">
                <a:solidFill>
                  <a:srgbClr val="141642"/>
                </a:solidFill>
              </a:rPr>
              <a:t>exigeante</a:t>
            </a:r>
            <a:r>
              <a:rPr sz="2000" b="1" dirty="0">
                <a:solidFill>
                  <a:srgbClr val="141642"/>
                </a:solidFill>
              </a:rPr>
              <a:t> </a:t>
            </a:r>
            <a:r>
              <a:rPr sz="2000" b="1" dirty="0" err="1">
                <a:solidFill>
                  <a:srgbClr val="141642"/>
                </a:solidFill>
              </a:rPr>
              <a:t>industriellement</a:t>
            </a:r>
            <a:endParaRPr sz="2000" b="1" dirty="0">
              <a:solidFill>
                <a:srgbClr val="14164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4916458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 dirty="0" err="1">
                <a:solidFill>
                  <a:srgbClr val="6D757D"/>
                </a:solidFill>
              </a:rPr>
              <a:t>Projet</a:t>
            </a:r>
            <a:r>
              <a:rPr sz="750" dirty="0">
                <a:solidFill>
                  <a:srgbClr val="6D757D"/>
                </a:solidFill>
              </a:rPr>
              <a:t> P10 — UOI Games | Données OC, questionnaire et sources externes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6009" y="4809744"/>
            <a:ext cx="29367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800" b="1" dirty="0">
                <a:solidFill>
                  <a:srgbClr val="6D757D"/>
                </a:solidFill>
              </a:rPr>
              <a:t>15</a:t>
            </a:r>
            <a:endParaRPr sz="800" b="1" dirty="0">
              <a:solidFill>
                <a:srgbClr val="6D757D"/>
              </a:solidFill>
            </a:endParaRPr>
          </a:p>
        </p:txBody>
      </p:sp>
      <p:pic>
        <p:nvPicPr>
          <p:cNvPr id="13" name="Picture 12" descr="swot_matrix_uoi_g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78" y="1044702"/>
            <a:ext cx="8549640" cy="36118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94358" y="4656582"/>
            <a:ext cx="7955279" cy="2286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1050" b="1" dirty="0">
                <a:solidFill>
                  <a:srgbClr val="373B48"/>
                </a:solidFill>
              </a:rPr>
              <a:t>Message</a:t>
            </a:r>
            <a:r>
              <a:rPr sz="1050" b="0" dirty="0">
                <a:solidFill>
                  <a:srgbClr val="373B48"/>
                </a:solidFill>
              </a:rPr>
              <a:t> : </a:t>
            </a:r>
            <a:r>
              <a:rPr sz="1050" b="0" dirty="0" err="1">
                <a:solidFill>
                  <a:srgbClr val="373B48"/>
                </a:solidFill>
              </a:rPr>
              <a:t>l’action-aventure</a:t>
            </a:r>
            <a:r>
              <a:rPr sz="1050" b="0" dirty="0">
                <a:solidFill>
                  <a:srgbClr val="373B48"/>
                </a:solidFill>
              </a:rPr>
              <a:t> AAA est </a:t>
            </a:r>
            <a:r>
              <a:rPr sz="1050" b="0" dirty="0" err="1">
                <a:solidFill>
                  <a:srgbClr val="373B48"/>
                </a:solidFill>
              </a:rPr>
              <a:t>commercialement</a:t>
            </a:r>
            <a:r>
              <a:rPr sz="1050" b="0" dirty="0">
                <a:solidFill>
                  <a:srgbClr val="373B48"/>
                </a:solidFill>
              </a:rPr>
              <a:t> </a:t>
            </a:r>
            <a:r>
              <a:rPr sz="1050" b="0" dirty="0" err="1">
                <a:solidFill>
                  <a:srgbClr val="373B48"/>
                </a:solidFill>
              </a:rPr>
              <a:t>lisible</a:t>
            </a:r>
            <a:r>
              <a:rPr sz="1050" b="0" dirty="0">
                <a:solidFill>
                  <a:srgbClr val="373B48"/>
                </a:solidFill>
              </a:rPr>
              <a:t>, </a:t>
            </a:r>
            <a:r>
              <a:rPr sz="1050" b="0" dirty="0" err="1">
                <a:solidFill>
                  <a:srgbClr val="373B48"/>
                </a:solidFill>
              </a:rPr>
              <a:t>mais</a:t>
            </a:r>
            <a:r>
              <a:rPr sz="1050" b="0" dirty="0">
                <a:solidFill>
                  <a:srgbClr val="373B48"/>
                </a:solidFill>
              </a:rPr>
              <a:t> impose </a:t>
            </a:r>
            <a:r>
              <a:rPr sz="1050" b="0" dirty="0" err="1">
                <a:solidFill>
                  <a:srgbClr val="373B48"/>
                </a:solidFill>
              </a:rPr>
              <a:t>une</a:t>
            </a:r>
            <a:r>
              <a:rPr sz="1050" b="0" dirty="0">
                <a:solidFill>
                  <a:srgbClr val="373B48"/>
                </a:solidFill>
              </a:rPr>
              <a:t> </a:t>
            </a:r>
            <a:r>
              <a:rPr sz="1050" b="0" dirty="0" err="1">
                <a:solidFill>
                  <a:srgbClr val="373B48"/>
                </a:solidFill>
              </a:rPr>
              <a:t>différenciation</a:t>
            </a:r>
            <a:r>
              <a:rPr sz="1050" b="0" dirty="0">
                <a:solidFill>
                  <a:srgbClr val="373B48"/>
                </a:solidFill>
              </a:rPr>
              <a:t> forte et un </a:t>
            </a:r>
            <a:r>
              <a:rPr sz="1050" b="0" dirty="0" err="1">
                <a:solidFill>
                  <a:srgbClr val="373B48"/>
                </a:solidFill>
              </a:rPr>
              <a:t>périmètre</a:t>
            </a:r>
            <a:r>
              <a:rPr sz="1050" b="0" dirty="0">
                <a:solidFill>
                  <a:srgbClr val="373B48"/>
                </a:solidFill>
              </a:rPr>
              <a:t> de production </a:t>
            </a:r>
            <a:r>
              <a:rPr sz="1050" b="0" dirty="0" err="1">
                <a:solidFill>
                  <a:srgbClr val="373B48"/>
                </a:solidFill>
              </a:rPr>
              <a:t>maîtrisé</a:t>
            </a:r>
            <a:r>
              <a:rPr sz="1050" b="0" dirty="0">
                <a:solidFill>
                  <a:srgbClr val="373B48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21484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9114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79" y="329184"/>
            <a:ext cx="2095237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05 _ </a:t>
            </a:r>
            <a:r>
              <a:rPr b="1" dirty="0">
                <a:solidFill>
                  <a:srgbClr val="FFFFFF"/>
                </a:solidFill>
              </a:rPr>
              <a:t>PESTEL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76656"/>
            <a:ext cx="6141681" cy="40011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lang="fr-FR" sz="2000" b="1" dirty="0">
                <a:solidFill>
                  <a:srgbClr val="141642"/>
                </a:solidFill>
              </a:rPr>
              <a:t>F</a:t>
            </a:r>
            <a:r>
              <a:rPr sz="2000" b="1" dirty="0" err="1">
                <a:solidFill>
                  <a:srgbClr val="141642"/>
                </a:solidFill>
              </a:rPr>
              <a:t>acteurs</a:t>
            </a:r>
            <a:r>
              <a:rPr sz="2000" b="1" dirty="0">
                <a:solidFill>
                  <a:srgbClr val="141642"/>
                </a:solidFill>
              </a:rPr>
              <a:t> externes </a:t>
            </a:r>
            <a:r>
              <a:rPr sz="2000" b="1" dirty="0" err="1">
                <a:solidFill>
                  <a:srgbClr val="141642"/>
                </a:solidFill>
              </a:rPr>
              <a:t>structurants</a:t>
            </a:r>
            <a:r>
              <a:rPr sz="2000" b="1" dirty="0">
                <a:solidFill>
                  <a:srgbClr val="141642"/>
                </a:solidFill>
              </a:rPr>
              <a:t> pour le business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910328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 dirty="0" err="1">
                <a:solidFill>
                  <a:srgbClr val="6D757D"/>
                </a:solidFill>
              </a:rPr>
              <a:t>Projet</a:t>
            </a:r>
            <a:r>
              <a:rPr sz="750" dirty="0">
                <a:solidFill>
                  <a:srgbClr val="6D757D"/>
                </a:solidFill>
              </a:rPr>
              <a:t> P10 — UOI Games | Données OC, questionnaire et sources externes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6009" y="4809744"/>
            <a:ext cx="29367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800" b="1" dirty="0">
                <a:solidFill>
                  <a:srgbClr val="6D757D"/>
                </a:solidFill>
              </a:rPr>
              <a:t>16</a:t>
            </a:r>
            <a:endParaRPr sz="800" b="1" dirty="0">
              <a:solidFill>
                <a:srgbClr val="6D757D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73421" y="1131630"/>
            <a:ext cx="4490019" cy="338550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pestel_business_plan_prior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34" y="1469959"/>
            <a:ext cx="4069079" cy="27552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800600" y="1131630"/>
            <a:ext cx="4069080" cy="338550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pestel_impact_by_dimen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469958"/>
            <a:ext cx="3719086" cy="275520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" y="4636008"/>
            <a:ext cx="7406640" cy="27432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/>
            <a:r>
              <a:rPr sz="1050" b="1" dirty="0">
                <a:solidFill>
                  <a:srgbClr val="373B48"/>
                </a:solidFill>
              </a:rPr>
              <a:t>Le </a:t>
            </a:r>
            <a:r>
              <a:rPr sz="1050" b="1" dirty="0" err="1">
                <a:solidFill>
                  <a:srgbClr val="373B48"/>
                </a:solidFill>
              </a:rPr>
              <a:t>facteur</a:t>
            </a:r>
            <a:r>
              <a:rPr sz="1050" b="1" dirty="0">
                <a:solidFill>
                  <a:srgbClr val="373B48"/>
                </a:solidFill>
              </a:rPr>
              <a:t> économique est le plus </a:t>
            </a:r>
            <a:r>
              <a:rPr sz="1050" b="1" dirty="0" err="1">
                <a:solidFill>
                  <a:srgbClr val="373B48"/>
                </a:solidFill>
              </a:rPr>
              <a:t>structurant</a:t>
            </a:r>
            <a:r>
              <a:rPr sz="1050" b="1" dirty="0">
                <a:solidFill>
                  <a:srgbClr val="373B48"/>
                </a:solidFill>
              </a:rPr>
              <a:t> </a:t>
            </a:r>
            <a:r>
              <a:rPr sz="1050" b="0" dirty="0">
                <a:solidFill>
                  <a:srgbClr val="373B48"/>
                </a:solidFill>
              </a:rPr>
              <a:t>: </a:t>
            </a:r>
            <a:r>
              <a:rPr sz="1050" b="0" dirty="0" err="1">
                <a:solidFill>
                  <a:srgbClr val="373B48"/>
                </a:solidFill>
              </a:rPr>
              <a:t>viser</a:t>
            </a:r>
            <a:r>
              <a:rPr sz="1050" b="0" dirty="0">
                <a:solidFill>
                  <a:srgbClr val="373B48"/>
                </a:solidFill>
              </a:rPr>
              <a:t> un segment premium </a:t>
            </a:r>
            <a:r>
              <a:rPr sz="1050" b="0" dirty="0" err="1">
                <a:solidFill>
                  <a:srgbClr val="373B48"/>
                </a:solidFill>
              </a:rPr>
              <a:t>internationalisable</a:t>
            </a:r>
            <a:r>
              <a:rPr sz="1050" b="0" dirty="0">
                <a:solidFill>
                  <a:srgbClr val="373B48"/>
                </a:solidFill>
              </a:rPr>
              <a:t>, </a:t>
            </a:r>
            <a:r>
              <a:rPr sz="1050" b="0" dirty="0" err="1">
                <a:solidFill>
                  <a:srgbClr val="373B48"/>
                </a:solidFill>
              </a:rPr>
              <a:t>mais</a:t>
            </a:r>
            <a:r>
              <a:rPr sz="1050" b="0" dirty="0">
                <a:solidFill>
                  <a:srgbClr val="373B48"/>
                </a:solidFill>
              </a:rPr>
              <a:t> </a:t>
            </a:r>
            <a:r>
              <a:rPr sz="1050" b="0" dirty="0" err="1">
                <a:solidFill>
                  <a:srgbClr val="373B48"/>
                </a:solidFill>
              </a:rPr>
              <a:t>éviter</a:t>
            </a:r>
            <a:r>
              <a:rPr sz="1050" b="0" dirty="0">
                <a:solidFill>
                  <a:srgbClr val="373B48"/>
                </a:solidFill>
              </a:rPr>
              <a:t> un </a:t>
            </a:r>
            <a:r>
              <a:rPr sz="1050" b="0" dirty="0" err="1">
                <a:solidFill>
                  <a:srgbClr val="373B48"/>
                </a:solidFill>
              </a:rPr>
              <a:t>périmètre</a:t>
            </a:r>
            <a:r>
              <a:rPr sz="1050" b="0" dirty="0">
                <a:solidFill>
                  <a:srgbClr val="373B48"/>
                </a:solidFill>
              </a:rPr>
              <a:t> de </a:t>
            </a:r>
            <a:r>
              <a:rPr sz="1050" b="0" dirty="0" err="1">
                <a:solidFill>
                  <a:srgbClr val="373B48"/>
                </a:solidFill>
              </a:rPr>
              <a:t>développement</a:t>
            </a:r>
            <a:r>
              <a:rPr sz="1050" b="0" dirty="0">
                <a:solidFill>
                  <a:srgbClr val="373B48"/>
                </a:solidFill>
              </a:rPr>
              <a:t> </a:t>
            </a:r>
            <a:r>
              <a:rPr sz="1050" b="0" dirty="0" err="1">
                <a:solidFill>
                  <a:srgbClr val="373B48"/>
                </a:solidFill>
              </a:rPr>
              <a:t>hypertrophié</a:t>
            </a:r>
            <a:r>
              <a:rPr sz="1050" b="0" dirty="0">
                <a:solidFill>
                  <a:srgbClr val="373B48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21484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9114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329184"/>
            <a:ext cx="2103120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06 _ </a:t>
            </a:r>
            <a:r>
              <a:rPr b="1" dirty="0">
                <a:solidFill>
                  <a:srgbClr val="FFFFFF"/>
                </a:solidFill>
              </a:rPr>
              <a:t>SEGMENTS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76656"/>
            <a:ext cx="4352089" cy="46166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lang="fr-FR" sz="2400" b="1" dirty="0">
                <a:solidFill>
                  <a:srgbClr val="141642"/>
                </a:solidFill>
              </a:rPr>
              <a:t>L</a:t>
            </a:r>
            <a:r>
              <a:rPr sz="2000" b="1" dirty="0">
                <a:solidFill>
                  <a:srgbClr val="141642"/>
                </a:solidFill>
              </a:rPr>
              <a:t>’action-</a:t>
            </a:r>
            <a:r>
              <a:rPr sz="2000" b="1" dirty="0" err="1">
                <a:solidFill>
                  <a:srgbClr val="141642"/>
                </a:solidFill>
              </a:rPr>
              <a:t>aventure</a:t>
            </a:r>
            <a:r>
              <a:rPr sz="2000" b="1" dirty="0">
                <a:solidFill>
                  <a:srgbClr val="141642"/>
                </a:solidFill>
              </a:rPr>
              <a:t> AAA </a:t>
            </a:r>
            <a:r>
              <a:rPr sz="2000" b="1" dirty="0" err="1">
                <a:solidFill>
                  <a:srgbClr val="141642"/>
                </a:solidFill>
              </a:rPr>
              <a:t>ressort</a:t>
            </a:r>
            <a:r>
              <a:rPr sz="2000" b="1" dirty="0">
                <a:solidFill>
                  <a:srgbClr val="141642"/>
                </a:solidFill>
              </a:rPr>
              <a:t> </a:t>
            </a:r>
            <a:r>
              <a:rPr sz="2000" b="1" dirty="0" err="1">
                <a:solidFill>
                  <a:srgbClr val="141642"/>
                </a:solidFill>
              </a:rPr>
              <a:t>en</a:t>
            </a:r>
            <a:r>
              <a:rPr sz="2000" b="1" dirty="0">
                <a:solidFill>
                  <a:srgbClr val="141642"/>
                </a:solidFill>
              </a:rPr>
              <a:t> tête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28032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6D757D"/>
                </a:solidFill>
              </a:rPr>
              <a:t>Projet P10 — UOI Games | Données OC, questionnaire et sources externes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6009" y="4809744"/>
            <a:ext cx="29367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800" b="1" dirty="0">
                <a:solidFill>
                  <a:srgbClr val="6D757D"/>
                </a:solidFill>
              </a:rPr>
              <a:t>17</a:t>
            </a:r>
            <a:endParaRPr sz="800" b="1" dirty="0">
              <a:solidFill>
                <a:srgbClr val="6D757D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34007" y="1234439"/>
            <a:ext cx="5855986" cy="3495215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egment_01_classement_score_decisio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87" y="1468918"/>
            <a:ext cx="5258473" cy="299792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81433" y="1596281"/>
            <a:ext cx="2928560" cy="13716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50" b="1" dirty="0">
                <a:solidFill>
                  <a:srgbClr val="7AA650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Score </a:t>
            </a:r>
            <a:r>
              <a:rPr sz="1050" dirty="0" err="1">
                <a:solidFill>
                  <a:srgbClr val="373B48"/>
                </a:solidFill>
              </a:rPr>
              <a:t>décisionnel</a:t>
            </a:r>
            <a:r>
              <a:rPr sz="1050" dirty="0">
                <a:solidFill>
                  <a:srgbClr val="373B48"/>
                </a:solidFill>
              </a:rPr>
              <a:t> final : 4,54 / 5 pour Action / </a:t>
            </a:r>
            <a:r>
              <a:rPr sz="1050" dirty="0" err="1">
                <a:solidFill>
                  <a:srgbClr val="373B48"/>
                </a:solidFill>
              </a:rPr>
              <a:t>aventure</a:t>
            </a:r>
            <a:r>
              <a:rPr sz="1050" dirty="0">
                <a:solidFill>
                  <a:srgbClr val="373B48"/>
                </a:solidFill>
              </a:rPr>
              <a:t> AAA.</a:t>
            </a:r>
          </a:p>
          <a:p>
            <a:pPr>
              <a:spcAft>
                <a:spcPts val="0"/>
              </a:spcAft>
            </a:pPr>
            <a:r>
              <a:rPr sz="1050" b="1" dirty="0">
                <a:solidFill>
                  <a:srgbClr val="7AA650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Sport / simulation arrive second </a:t>
            </a:r>
            <a:r>
              <a:rPr sz="1050" dirty="0" err="1">
                <a:solidFill>
                  <a:srgbClr val="373B48"/>
                </a:solidFill>
              </a:rPr>
              <a:t>mais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reste</a:t>
            </a:r>
            <a:r>
              <a:rPr sz="1050" dirty="0">
                <a:solidFill>
                  <a:srgbClr val="373B48"/>
                </a:solidFill>
              </a:rPr>
              <a:t> exposé aux </a:t>
            </a:r>
            <a:r>
              <a:rPr sz="1050" dirty="0" err="1">
                <a:solidFill>
                  <a:srgbClr val="373B48"/>
                </a:solidFill>
              </a:rPr>
              <a:t>barrières</a:t>
            </a:r>
            <a:r>
              <a:rPr sz="1050" dirty="0">
                <a:solidFill>
                  <a:srgbClr val="373B48"/>
                </a:solidFill>
              </a:rPr>
              <a:t> de </a:t>
            </a:r>
            <a:r>
              <a:rPr sz="1050" dirty="0" err="1">
                <a:solidFill>
                  <a:srgbClr val="373B48"/>
                </a:solidFill>
              </a:rPr>
              <a:t>licence</a:t>
            </a:r>
            <a:r>
              <a:rPr sz="1050" dirty="0">
                <a:solidFill>
                  <a:srgbClr val="373B48"/>
                </a:solidFill>
              </a:rPr>
              <a:t> et aux franchises </a:t>
            </a:r>
            <a:r>
              <a:rPr sz="1050" dirty="0" err="1">
                <a:solidFill>
                  <a:srgbClr val="373B48"/>
                </a:solidFill>
              </a:rPr>
              <a:t>établies</a:t>
            </a:r>
            <a:r>
              <a:rPr sz="1050" dirty="0">
                <a:solidFill>
                  <a:srgbClr val="373B48"/>
                </a:solidFill>
              </a:rPr>
              <a:t>.</a:t>
            </a:r>
          </a:p>
          <a:p>
            <a:pPr>
              <a:spcAft>
                <a:spcPts val="0"/>
              </a:spcAft>
            </a:pPr>
            <a:r>
              <a:rPr sz="1050" b="1" dirty="0">
                <a:solidFill>
                  <a:srgbClr val="7AA650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RPG / action-RPG </a:t>
            </a:r>
            <a:r>
              <a:rPr sz="1050" dirty="0" err="1">
                <a:solidFill>
                  <a:srgbClr val="373B48"/>
                </a:solidFill>
              </a:rPr>
              <a:t>narratif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reste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une</a:t>
            </a:r>
            <a:r>
              <a:rPr sz="1050" dirty="0">
                <a:solidFill>
                  <a:srgbClr val="373B48"/>
                </a:solidFill>
              </a:rPr>
              <a:t> option </a:t>
            </a:r>
            <a:r>
              <a:rPr sz="1050" dirty="0" err="1">
                <a:solidFill>
                  <a:srgbClr val="373B48"/>
                </a:solidFill>
              </a:rPr>
              <a:t>pertinente</a:t>
            </a:r>
            <a:r>
              <a:rPr sz="1050" dirty="0">
                <a:solidFill>
                  <a:srgbClr val="373B48"/>
                </a:solidFill>
              </a:rPr>
              <a:t>, </a:t>
            </a:r>
            <a:r>
              <a:rPr sz="1050" dirty="0" err="1">
                <a:solidFill>
                  <a:srgbClr val="373B48"/>
                </a:solidFill>
              </a:rPr>
              <a:t>plutôt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comme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enrichissement</a:t>
            </a:r>
            <a:r>
              <a:rPr sz="1050" dirty="0">
                <a:solidFill>
                  <a:srgbClr val="373B48"/>
                </a:solidFill>
              </a:rPr>
              <a:t> du concept.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1433" y="3302617"/>
            <a:ext cx="269748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1433" y="3302617"/>
            <a:ext cx="64008" cy="822960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8593" y="3375769"/>
            <a:ext cx="246888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 err="1">
                <a:solidFill>
                  <a:srgbClr val="7AA650"/>
                </a:solidFill>
              </a:rPr>
              <a:t>Décision</a:t>
            </a:r>
            <a:endParaRPr sz="1100" b="1" dirty="0">
              <a:solidFill>
                <a:srgbClr val="7AA650"/>
              </a:solidFill>
            </a:endParaRPr>
          </a:p>
          <a:p>
            <a:pPr>
              <a:spcBef>
                <a:spcPts val="200"/>
              </a:spcBef>
            </a:pPr>
            <a:r>
              <a:rPr sz="1500" b="1" dirty="0">
                <a:solidFill>
                  <a:srgbClr val="141642"/>
                </a:solidFill>
              </a:rPr>
              <a:t>Segment </a:t>
            </a:r>
            <a:r>
              <a:rPr sz="1500" b="1" dirty="0" err="1">
                <a:solidFill>
                  <a:srgbClr val="141642"/>
                </a:solidFill>
              </a:rPr>
              <a:t>recommandé</a:t>
            </a:r>
            <a:r>
              <a:rPr lang="fr-FR" sz="1500" b="1" dirty="0">
                <a:solidFill>
                  <a:srgbClr val="141642"/>
                </a:solidFill>
              </a:rPr>
              <a:t> =&gt; </a:t>
            </a:r>
            <a:r>
              <a:rPr lang="fr-FR" sz="1500" b="1" dirty="0" err="1">
                <a:solidFill>
                  <a:srgbClr val="141642"/>
                </a:solidFill>
              </a:rPr>
              <a:t>Action_Aventure</a:t>
            </a:r>
            <a:endParaRPr sz="1500" b="1" dirty="0">
              <a:solidFill>
                <a:srgbClr val="14164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21484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9114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329184"/>
            <a:ext cx="2000644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06 _ </a:t>
            </a:r>
            <a:r>
              <a:rPr b="1" dirty="0">
                <a:solidFill>
                  <a:srgbClr val="FFFFFF"/>
                </a:solidFill>
              </a:rPr>
              <a:t>SEGMENTS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76656"/>
            <a:ext cx="7288598" cy="40011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000" b="1" dirty="0" err="1">
                <a:solidFill>
                  <a:srgbClr val="141642"/>
                </a:solidFill>
              </a:rPr>
              <a:t>Attractivité</a:t>
            </a:r>
            <a:r>
              <a:rPr sz="2000" b="1" dirty="0">
                <a:solidFill>
                  <a:srgbClr val="141642"/>
                </a:solidFill>
              </a:rPr>
              <a:t> / </a:t>
            </a:r>
            <a:r>
              <a:rPr sz="2000" b="1" dirty="0" err="1">
                <a:solidFill>
                  <a:srgbClr val="141642"/>
                </a:solidFill>
              </a:rPr>
              <a:t>faisabilité</a:t>
            </a:r>
            <a:r>
              <a:rPr sz="2000" b="1" dirty="0">
                <a:solidFill>
                  <a:srgbClr val="141642"/>
                </a:solidFill>
              </a:rPr>
              <a:t> : </a:t>
            </a:r>
            <a:r>
              <a:rPr sz="2000" b="1" dirty="0" err="1">
                <a:solidFill>
                  <a:srgbClr val="141642"/>
                </a:solidFill>
              </a:rPr>
              <a:t>arbitrer</a:t>
            </a:r>
            <a:r>
              <a:rPr sz="2000" b="1" dirty="0">
                <a:solidFill>
                  <a:srgbClr val="141642"/>
                </a:solidFill>
              </a:rPr>
              <a:t> </a:t>
            </a:r>
            <a:r>
              <a:rPr sz="2000" b="1" dirty="0" err="1">
                <a:solidFill>
                  <a:srgbClr val="141642"/>
                </a:solidFill>
              </a:rPr>
              <a:t>potentiel</a:t>
            </a:r>
            <a:r>
              <a:rPr sz="2000" b="1" dirty="0">
                <a:solidFill>
                  <a:srgbClr val="141642"/>
                </a:solidFill>
              </a:rPr>
              <a:t> et </a:t>
            </a:r>
            <a:r>
              <a:rPr sz="2000" b="1" dirty="0" err="1">
                <a:solidFill>
                  <a:srgbClr val="141642"/>
                </a:solidFill>
              </a:rPr>
              <a:t>maîtrise</a:t>
            </a:r>
            <a:r>
              <a:rPr sz="2000" b="1" dirty="0">
                <a:solidFill>
                  <a:srgbClr val="141642"/>
                </a:solidFill>
              </a:rPr>
              <a:t> du </a:t>
            </a:r>
            <a:r>
              <a:rPr sz="2000" b="1" dirty="0" err="1">
                <a:solidFill>
                  <a:srgbClr val="141642"/>
                </a:solidFill>
              </a:rPr>
              <a:t>risque</a:t>
            </a:r>
            <a:endParaRPr sz="2000" b="1" dirty="0">
              <a:solidFill>
                <a:srgbClr val="14164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4901184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 dirty="0" err="1">
                <a:solidFill>
                  <a:srgbClr val="6D757D"/>
                </a:solidFill>
              </a:rPr>
              <a:t>Projet</a:t>
            </a:r>
            <a:r>
              <a:rPr sz="750" dirty="0">
                <a:solidFill>
                  <a:srgbClr val="6D757D"/>
                </a:solidFill>
              </a:rPr>
              <a:t> P10 — UOI Games | Données OC, questionnaire et sources externes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6009" y="4809744"/>
            <a:ext cx="29367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800" b="1" dirty="0">
                <a:solidFill>
                  <a:srgbClr val="6D757D"/>
                </a:solidFill>
              </a:rPr>
              <a:t>18</a:t>
            </a:r>
            <a:endParaRPr sz="800" b="1" dirty="0">
              <a:solidFill>
                <a:srgbClr val="6D757D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1143000"/>
            <a:ext cx="5029200" cy="3520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egment_04_matrice_attractivite_faisabil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1" y="1147798"/>
            <a:ext cx="5945176" cy="366194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9497" y="2103120"/>
            <a:ext cx="2788920" cy="1600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50" b="1" dirty="0">
                <a:solidFill>
                  <a:srgbClr val="7148E8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Le segment </a:t>
            </a:r>
            <a:r>
              <a:rPr sz="1050" dirty="0" err="1">
                <a:solidFill>
                  <a:srgbClr val="373B48"/>
                </a:solidFill>
              </a:rPr>
              <a:t>recommandé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maximise</a:t>
            </a:r>
            <a:r>
              <a:rPr sz="1050" dirty="0">
                <a:solidFill>
                  <a:srgbClr val="373B48"/>
                </a:solidFill>
              </a:rPr>
              <a:t> la </a:t>
            </a:r>
            <a:r>
              <a:rPr sz="1050" dirty="0" err="1">
                <a:solidFill>
                  <a:srgbClr val="373B48"/>
                </a:solidFill>
              </a:rPr>
              <a:t>lisibilité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commerciale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mais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n’est</a:t>
            </a:r>
            <a:r>
              <a:rPr sz="1050" dirty="0">
                <a:solidFill>
                  <a:srgbClr val="373B48"/>
                </a:solidFill>
              </a:rPr>
              <a:t> pas le plus simple </a:t>
            </a:r>
            <a:r>
              <a:rPr sz="1050" dirty="0" err="1">
                <a:solidFill>
                  <a:srgbClr val="373B48"/>
                </a:solidFill>
              </a:rPr>
              <a:t>opérationnellement</a:t>
            </a:r>
            <a:r>
              <a:rPr sz="1050" dirty="0">
                <a:solidFill>
                  <a:srgbClr val="373B48"/>
                </a:solidFill>
              </a:rPr>
              <a:t>.</a:t>
            </a:r>
          </a:p>
          <a:p>
            <a:pPr>
              <a:spcAft>
                <a:spcPts val="0"/>
              </a:spcAft>
            </a:pPr>
            <a:r>
              <a:rPr sz="1050" b="1" dirty="0">
                <a:solidFill>
                  <a:srgbClr val="7148E8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La </a:t>
            </a:r>
            <a:r>
              <a:rPr sz="1050" dirty="0" err="1">
                <a:solidFill>
                  <a:srgbClr val="373B48"/>
                </a:solidFill>
              </a:rPr>
              <a:t>maîtrise</a:t>
            </a:r>
            <a:r>
              <a:rPr sz="1050" dirty="0">
                <a:solidFill>
                  <a:srgbClr val="373B48"/>
                </a:solidFill>
              </a:rPr>
              <a:t> du </a:t>
            </a:r>
            <a:r>
              <a:rPr sz="1050" dirty="0" err="1">
                <a:solidFill>
                  <a:srgbClr val="373B48"/>
                </a:solidFill>
              </a:rPr>
              <a:t>périmètre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devient</a:t>
            </a:r>
            <a:r>
              <a:rPr sz="1050" dirty="0">
                <a:solidFill>
                  <a:srgbClr val="373B48"/>
                </a:solidFill>
              </a:rPr>
              <a:t> un </a:t>
            </a:r>
            <a:r>
              <a:rPr sz="1050" dirty="0" err="1">
                <a:solidFill>
                  <a:srgbClr val="373B48"/>
                </a:solidFill>
              </a:rPr>
              <a:t>facteur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clé</a:t>
            </a:r>
            <a:r>
              <a:rPr sz="1050" dirty="0">
                <a:solidFill>
                  <a:srgbClr val="373B48"/>
                </a:solidFill>
              </a:rPr>
              <a:t> : semi-</a:t>
            </a:r>
            <a:r>
              <a:rPr sz="1050" dirty="0" err="1">
                <a:solidFill>
                  <a:srgbClr val="373B48"/>
                </a:solidFill>
              </a:rPr>
              <a:t>ouvert</a:t>
            </a:r>
            <a:r>
              <a:rPr sz="1050" dirty="0">
                <a:solidFill>
                  <a:srgbClr val="373B48"/>
                </a:solidFill>
              </a:rPr>
              <a:t>, narration forte, pas </a:t>
            </a:r>
            <a:r>
              <a:rPr sz="1050" dirty="0" err="1">
                <a:solidFill>
                  <a:srgbClr val="373B48"/>
                </a:solidFill>
              </a:rPr>
              <a:t>d’open</a:t>
            </a:r>
            <a:r>
              <a:rPr sz="1050" dirty="0">
                <a:solidFill>
                  <a:srgbClr val="373B48"/>
                </a:solidFill>
              </a:rPr>
              <a:t> world </a:t>
            </a:r>
            <a:r>
              <a:rPr sz="1050" dirty="0" err="1">
                <a:solidFill>
                  <a:srgbClr val="373B48"/>
                </a:solidFill>
              </a:rPr>
              <a:t>inflationniste</a:t>
            </a:r>
            <a:r>
              <a:rPr sz="1050" dirty="0">
                <a:solidFill>
                  <a:srgbClr val="373B48"/>
                </a:solidFill>
              </a:rPr>
              <a:t>.</a:t>
            </a:r>
          </a:p>
          <a:p>
            <a:pPr>
              <a:spcAft>
                <a:spcPts val="0"/>
              </a:spcAft>
            </a:pPr>
            <a:r>
              <a:rPr sz="1050" b="1" dirty="0">
                <a:solidFill>
                  <a:srgbClr val="7148E8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Le RPG </a:t>
            </a:r>
            <a:r>
              <a:rPr sz="1050" dirty="0" err="1">
                <a:solidFill>
                  <a:srgbClr val="373B48"/>
                </a:solidFill>
              </a:rPr>
              <a:t>narratif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peut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nourrir</a:t>
            </a:r>
            <a:r>
              <a:rPr sz="1050" dirty="0">
                <a:solidFill>
                  <a:srgbClr val="373B48"/>
                </a:solidFill>
              </a:rPr>
              <a:t> la </a:t>
            </a:r>
            <a:r>
              <a:rPr sz="1050" dirty="0" err="1">
                <a:solidFill>
                  <a:srgbClr val="373B48"/>
                </a:solidFill>
              </a:rPr>
              <a:t>profondeur</a:t>
            </a:r>
            <a:r>
              <a:rPr sz="1050" dirty="0">
                <a:solidFill>
                  <a:srgbClr val="373B48"/>
                </a:solidFill>
              </a:rPr>
              <a:t> du gameplay sans </a:t>
            </a:r>
            <a:r>
              <a:rPr sz="1050" dirty="0" err="1">
                <a:solidFill>
                  <a:srgbClr val="373B48"/>
                </a:solidFill>
              </a:rPr>
              <a:t>élargir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excessivement</a:t>
            </a:r>
            <a:r>
              <a:rPr sz="1050" dirty="0">
                <a:solidFill>
                  <a:srgbClr val="373B48"/>
                </a:solidFill>
              </a:rPr>
              <a:t> la </a:t>
            </a:r>
            <a:r>
              <a:rPr sz="1050" dirty="0" err="1">
                <a:solidFill>
                  <a:srgbClr val="373B48"/>
                </a:solidFill>
              </a:rPr>
              <a:t>promesse</a:t>
            </a:r>
            <a:r>
              <a:rPr sz="1050" dirty="0">
                <a:solidFill>
                  <a:srgbClr val="373B48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21484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9114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79" y="329184"/>
            <a:ext cx="3376749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06 _ </a:t>
            </a:r>
            <a:r>
              <a:rPr b="1" dirty="0">
                <a:solidFill>
                  <a:srgbClr val="FFFFFF"/>
                </a:solidFill>
              </a:rPr>
              <a:t>RECOMMANDATION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76656"/>
            <a:ext cx="6807056" cy="40011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lang="fr-FR" sz="2000" b="1" dirty="0">
                <a:solidFill>
                  <a:srgbClr val="141642"/>
                </a:solidFill>
              </a:rPr>
              <a:t>A</a:t>
            </a:r>
            <a:r>
              <a:rPr sz="2000" b="1" dirty="0" err="1">
                <a:solidFill>
                  <a:srgbClr val="141642"/>
                </a:solidFill>
              </a:rPr>
              <a:t>ction-aventure</a:t>
            </a:r>
            <a:r>
              <a:rPr sz="2000" b="1" dirty="0">
                <a:solidFill>
                  <a:srgbClr val="141642"/>
                </a:solidFill>
              </a:rPr>
              <a:t> premium, nouvelle </a:t>
            </a:r>
            <a:r>
              <a:rPr sz="2000" b="1" dirty="0" err="1">
                <a:solidFill>
                  <a:srgbClr val="141642"/>
                </a:solidFill>
              </a:rPr>
              <a:t>licence</a:t>
            </a:r>
            <a:r>
              <a:rPr sz="2000" b="1" dirty="0">
                <a:solidFill>
                  <a:srgbClr val="141642"/>
                </a:solidFill>
              </a:rPr>
              <a:t>, PC + consoles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28032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6D757D"/>
                </a:solidFill>
              </a:rPr>
              <a:t>Projet P10 — UOI Games | Données OC, questionnaire et sources externes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6009" y="4809744"/>
            <a:ext cx="29367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dirty="0">
                <a:solidFill>
                  <a:srgbClr val="6D757D"/>
                </a:solidFill>
              </a:rPr>
              <a:t>1</a:t>
            </a:r>
            <a:r>
              <a:rPr lang="fr-FR" sz="800" b="1" dirty="0">
                <a:solidFill>
                  <a:srgbClr val="6D757D"/>
                </a:solidFill>
              </a:rPr>
              <a:t>9</a:t>
            </a:r>
            <a:endParaRPr sz="800" b="1" dirty="0">
              <a:solidFill>
                <a:srgbClr val="6D757D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1188720"/>
            <a:ext cx="246888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1188720"/>
            <a:ext cx="64008" cy="868680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261872"/>
            <a:ext cx="22402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148E8"/>
                </a:solidFill>
              </a:rPr>
              <a:t>Segment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141642"/>
                </a:solidFill>
              </a:rPr>
              <a:t>Action-aventure AAA premium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1188720"/>
            <a:ext cx="246888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46120" y="1188720"/>
            <a:ext cx="64008" cy="868680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79" y="1261872"/>
            <a:ext cx="22402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6D5C"/>
                </a:solidFill>
              </a:rPr>
              <a:t>Plateformes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41642"/>
                </a:solidFill>
              </a:rPr>
              <a:t>PC + PlayStation + Xbox en priorité.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1188720"/>
            <a:ext cx="246888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97880" y="1188720"/>
            <a:ext cx="64008" cy="868680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0" y="1261872"/>
            <a:ext cx="22402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AA650"/>
                </a:solidFill>
              </a:rPr>
              <a:t>Modèle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141642"/>
                </a:solidFill>
              </a:rPr>
              <a:t>Jeu premium digital, éditions spéciales, DLC narratifs éventuels.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423160"/>
            <a:ext cx="228600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r>
              <a:rPr sz="1200" b="1">
                <a:solidFill>
                  <a:srgbClr val="7148E8"/>
                </a:solidFill>
              </a:rPr>
              <a:t>Positionnement proposé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697480"/>
            <a:ext cx="3886200" cy="13258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b="1" dirty="0">
                <a:solidFill>
                  <a:srgbClr val="7148E8"/>
                </a:solidFill>
              </a:rPr>
              <a:t>• </a:t>
            </a:r>
            <a:r>
              <a:rPr sz="1100" dirty="0">
                <a:solidFill>
                  <a:srgbClr val="373B48"/>
                </a:solidFill>
              </a:rPr>
              <a:t>Nouvelle </a:t>
            </a:r>
            <a:r>
              <a:rPr sz="1100" dirty="0" err="1">
                <a:solidFill>
                  <a:srgbClr val="373B48"/>
                </a:solidFill>
              </a:rPr>
              <a:t>licence</a:t>
            </a:r>
            <a:r>
              <a:rPr sz="1100" dirty="0">
                <a:solidFill>
                  <a:srgbClr val="373B48"/>
                </a:solidFill>
              </a:rPr>
              <a:t> grand public, </a:t>
            </a:r>
            <a:r>
              <a:rPr sz="1100" dirty="0" err="1">
                <a:solidFill>
                  <a:srgbClr val="373B48"/>
                </a:solidFill>
              </a:rPr>
              <a:t>orientée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aventure</a:t>
            </a:r>
            <a:r>
              <a:rPr sz="1100" dirty="0">
                <a:solidFill>
                  <a:srgbClr val="373B48"/>
                </a:solidFill>
              </a:rPr>
              <a:t> narrative et </a:t>
            </a:r>
            <a:r>
              <a:rPr sz="1100" dirty="0" err="1">
                <a:solidFill>
                  <a:srgbClr val="373B48"/>
                </a:solidFill>
              </a:rPr>
              <a:t>expérience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cinématographique</a:t>
            </a:r>
            <a:r>
              <a:rPr sz="1100" dirty="0">
                <a:solidFill>
                  <a:srgbClr val="373B48"/>
                </a:solidFill>
              </a:rPr>
              <a:t>.</a:t>
            </a:r>
          </a:p>
          <a:p>
            <a:pPr>
              <a:spcAft>
                <a:spcPts val="0"/>
              </a:spcAft>
            </a:pPr>
            <a:r>
              <a:rPr sz="1100" b="1" dirty="0">
                <a:solidFill>
                  <a:srgbClr val="7148E8"/>
                </a:solidFill>
              </a:rPr>
              <a:t>• </a:t>
            </a:r>
            <a:r>
              <a:rPr sz="1100" dirty="0" err="1">
                <a:solidFill>
                  <a:srgbClr val="373B48"/>
                </a:solidFill>
              </a:rPr>
              <a:t>Univers</a:t>
            </a:r>
            <a:r>
              <a:rPr sz="1100" dirty="0">
                <a:solidFill>
                  <a:srgbClr val="373B48"/>
                </a:solidFill>
              </a:rPr>
              <a:t> fort, gameplay accessible, </a:t>
            </a:r>
            <a:r>
              <a:rPr sz="1100" dirty="0" err="1">
                <a:solidFill>
                  <a:srgbClr val="373B48"/>
                </a:solidFill>
              </a:rPr>
              <a:t>rythme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lisible</a:t>
            </a:r>
            <a:r>
              <a:rPr sz="1100" dirty="0">
                <a:solidFill>
                  <a:srgbClr val="373B48"/>
                </a:solidFill>
              </a:rPr>
              <a:t>, </a:t>
            </a:r>
            <a:r>
              <a:rPr sz="1100" dirty="0" err="1">
                <a:solidFill>
                  <a:srgbClr val="373B48"/>
                </a:solidFill>
              </a:rPr>
              <a:t>qualité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visuelle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élevée</a:t>
            </a:r>
            <a:r>
              <a:rPr sz="1100" dirty="0">
                <a:solidFill>
                  <a:srgbClr val="373B48"/>
                </a:solidFill>
              </a:rPr>
              <a:t>.</a:t>
            </a:r>
          </a:p>
          <a:p>
            <a:pPr>
              <a:spcAft>
                <a:spcPts val="0"/>
              </a:spcAft>
            </a:pPr>
            <a:r>
              <a:rPr sz="1100" b="1" dirty="0">
                <a:solidFill>
                  <a:srgbClr val="7148E8"/>
                </a:solidFill>
              </a:rPr>
              <a:t>• </a:t>
            </a:r>
            <a:r>
              <a:rPr sz="1100" dirty="0">
                <a:solidFill>
                  <a:srgbClr val="373B48"/>
                </a:solidFill>
              </a:rPr>
              <a:t>Jeu premium digital avec extensions narratives </a:t>
            </a:r>
            <a:r>
              <a:rPr sz="1100" dirty="0" err="1">
                <a:solidFill>
                  <a:srgbClr val="373B48"/>
                </a:solidFill>
              </a:rPr>
              <a:t>éventuelles</a:t>
            </a:r>
            <a:r>
              <a:rPr sz="1100" dirty="0">
                <a:solidFill>
                  <a:srgbClr val="373B48"/>
                </a:solidFill>
              </a:rPr>
              <a:t>, sans </a:t>
            </a:r>
            <a:r>
              <a:rPr sz="1100" dirty="0" err="1">
                <a:solidFill>
                  <a:srgbClr val="373B48"/>
                </a:solidFill>
              </a:rPr>
              <a:t>monétisation</a:t>
            </a:r>
            <a:r>
              <a:rPr sz="1100" dirty="0">
                <a:solidFill>
                  <a:srgbClr val="373B48"/>
                </a:solidFill>
              </a:rPr>
              <a:t> </a:t>
            </a:r>
            <a:r>
              <a:rPr sz="1100" dirty="0" err="1">
                <a:solidFill>
                  <a:srgbClr val="373B48"/>
                </a:solidFill>
              </a:rPr>
              <a:t>agressive</a:t>
            </a:r>
            <a:r>
              <a:rPr sz="1100" dirty="0">
                <a:solidFill>
                  <a:srgbClr val="373B48"/>
                </a:solidFill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423160"/>
            <a:ext cx="210312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r>
              <a:rPr sz="1200" b="1">
                <a:solidFill>
                  <a:srgbClr val="FF6D5C"/>
                </a:solidFill>
              </a:rPr>
              <a:t>Concept de jeu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269748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41642"/>
                </a:solidFill>
              </a:rPr>
              <a:t>Une aventure narrative spectaculaire, semi-ouverte, centrée sur l’exploration, l’action et un univers immédiatement reconnaissable.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21484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9114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79" y="329184"/>
            <a:ext cx="2402665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06 _ </a:t>
            </a:r>
            <a:r>
              <a:rPr b="1" dirty="0">
                <a:solidFill>
                  <a:srgbClr val="FFFFFF"/>
                </a:solidFill>
              </a:rPr>
              <a:t>PRÉVISION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76656"/>
            <a:ext cx="7379521" cy="40011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000" b="1" dirty="0">
                <a:solidFill>
                  <a:srgbClr val="141642"/>
                </a:solidFill>
              </a:rPr>
              <a:t>3 </a:t>
            </a:r>
            <a:r>
              <a:rPr sz="2000" b="1" dirty="0" err="1">
                <a:solidFill>
                  <a:srgbClr val="141642"/>
                </a:solidFill>
              </a:rPr>
              <a:t>scénarios</a:t>
            </a:r>
            <a:r>
              <a:rPr sz="2000" b="1" dirty="0">
                <a:solidFill>
                  <a:srgbClr val="141642"/>
                </a:solidFill>
              </a:rPr>
              <a:t> pour </a:t>
            </a:r>
            <a:r>
              <a:rPr sz="2000" b="1" dirty="0" err="1">
                <a:solidFill>
                  <a:srgbClr val="141642"/>
                </a:solidFill>
              </a:rPr>
              <a:t>cadrer</a:t>
            </a:r>
            <a:r>
              <a:rPr sz="2000" b="1" dirty="0">
                <a:solidFill>
                  <a:srgbClr val="141642"/>
                </a:solidFill>
              </a:rPr>
              <a:t> </a:t>
            </a:r>
            <a:r>
              <a:rPr sz="2000" b="1" dirty="0" err="1">
                <a:solidFill>
                  <a:srgbClr val="141642"/>
                </a:solidFill>
              </a:rPr>
              <a:t>l’ambition</a:t>
            </a:r>
            <a:r>
              <a:rPr sz="2000" b="1" dirty="0">
                <a:solidFill>
                  <a:srgbClr val="141642"/>
                </a:solidFill>
              </a:rPr>
              <a:t> </a:t>
            </a:r>
            <a:r>
              <a:rPr sz="2000" b="1" dirty="0" err="1">
                <a:solidFill>
                  <a:srgbClr val="141642"/>
                </a:solidFill>
              </a:rPr>
              <a:t>commerciale</a:t>
            </a:r>
            <a:r>
              <a:rPr lang="fr-FR" sz="2000" b="1" dirty="0">
                <a:solidFill>
                  <a:srgbClr val="141642"/>
                </a:solidFill>
              </a:rPr>
              <a:t> (Cf. Annexe A7)</a:t>
            </a:r>
            <a:endParaRPr sz="2000" b="1" dirty="0">
              <a:solidFill>
                <a:srgbClr val="14164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4901184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 dirty="0" err="1">
                <a:solidFill>
                  <a:srgbClr val="6D757D"/>
                </a:solidFill>
              </a:rPr>
              <a:t>Projet</a:t>
            </a:r>
            <a:r>
              <a:rPr sz="750" dirty="0">
                <a:solidFill>
                  <a:srgbClr val="6D757D"/>
                </a:solidFill>
              </a:rPr>
              <a:t> P10 — UOI Games | Données OC, questionnaire et sources externes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59" y="4901184"/>
            <a:ext cx="29367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800" b="1" dirty="0">
                <a:solidFill>
                  <a:srgbClr val="6D757D"/>
                </a:solidFill>
              </a:rPr>
              <a:t>20</a:t>
            </a:r>
            <a:endParaRPr sz="800" b="1" dirty="0">
              <a:solidFill>
                <a:srgbClr val="6D757D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57655" y="1234440"/>
            <a:ext cx="4368626" cy="30815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orecast_03_ventes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24822"/>
            <a:ext cx="4047008" cy="247961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617719" y="1234440"/>
            <a:ext cx="4368625" cy="30815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orecast_04_revenus_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931" y="1388294"/>
            <a:ext cx="3886199" cy="261614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5178" y="4365787"/>
            <a:ext cx="9033642" cy="54406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normAutofit/>
          </a:bodyPr>
          <a:lstStyle/>
          <a:p>
            <a:r>
              <a:rPr sz="1050" b="1" dirty="0" err="1">
                <a:solidFill>
                  <a:srgbClr val="373B48"/>
                </a:solidFill>
              </a:rPr>
              <a:t>Scénario</a:t>
            </a:r>
            <a:r>
              <a:rPr sz="1050" b="1" dirty="0">
                <a:solidFill>
                  <a:srgbClr val="373B48"/>
                </a:solidFill>
              </a:rPr>
              <a:t> central </a:t>
            </a:r>
            <a:r>
              <a:rPr sz="1050" b="0" dirty="0">
                <a:solidFill>
                  <a:srgbClr val="373B48"/>
                </a:solidFill>
              </a:rPr>
              <a:t>: 3.0 M </a:t>
            </a:r>
            <a:r>
              <a:rPr sz="1050" b="0" dirty="0" err="1">
                <a:solidFill>
                  <a:srgbClr val="373B48"/>
                </a:solidFill>
              </a:rPr>
              <a:t>d’unités</a:t>
            </a:r>
            <a:r>
              <a:rPr sz="1050" b="0" dirty="0">
                <a:solidFill>
                  <a:srgbClr val="373B48"/>
                </a:solidFill>
              </a:rPr>
              <a:t>, soit 210 M€ de </a:t>
            </a:r>
            <a:r>
              <a:rPr sz="1050" b="0" dirty="0" err="1">
                <a:solidFill>
                  <a:srgbClr val="373B48"/>
                </a:solidFill>
              </a:rPr>
              <a:t>revenu</a:t>
            </a:r>
            <a:r>
              <a:rPr sz="1050" b="0" dirty="0">
                <a:solidFill>
                  <a:srgbClr val="373B48"/>
                </a:solidFill>
              </a:rPr>
              <a:t> </a:t>
            </a:r>
            <a:r>
              <a:rPr sz="1050" b="0" dirty="0" err="1">
                <a:solidFill>
                  <a:srgbClr val="373B48"/>
                </a:solidFill>
              </a:rPr>
              <a:t>consommateur</a:t>
            </a:r>
            <a:r>
              <a:rPr sz="1050" b="0" dirty="0">
                <a:solidFill>
                  <a:srgbClr val="373B48"/>
                </a:solidFill>
              </a:rPr>
              <a:t> </a:t>
            </a:r>
            <a:r>
              <a:rPr sz="1050" b="0" dirty="0" err="1">
                <a:solidFill>
                  <a:srgbClr val="373B48"/>
                </a:solidFill>
              </a:rPr>
              <a:t>indicatif</a:t>
            </a:r>
            <a:r>
              <a:rPr sz="1050" b="0" dirty="0">
                <a:solidFill>
                  <a:srgbClr val="373B48"/>
                </a:solidFill>
              </a:rPr>
              <a:t>. </a:t>
            </a:r>
            <a:r>
              <a:rPr sz="1050" b="0" dirty="0" err="1">
                <a:solidFill>
                  <a:srgbClr val="373B48"/>
                </a:solidFill>
              </a:rPr>
              <a:t>Prévision</a:t>
            </a:r>
            <a:r>
              <a:rPr sz="1050" b="0" dirty="0">
                <a:solidFill>
                  <a:srgbClr val="373B48"/>
                </a:solidFill>
              </a:rPr>
              <a:t> </a:t>
            </a:r>
            <a:r>
              <a:rPr sz="1050" b="0" dirty="0" err="1">
                <a:solidFill>
                  <a:srgbClr val="373B48"/>
                </a:solidFill>
              </a:rPr>
              <a:t>volontairement</a:t>
            </a:r>
            <a:r>
              <a:rPr sz="1050" b="0" dirty="0">
                <a:solidFill>
                  <a:srgbClr val="373B48"/>
                </a:solidFill>
              </a:rPr>
              <a:t> </a:t>
            </a:r>
            <a:r>
              <a:rPr sz="1050" b="0" dirty="0" err="1">
                <a:solidFill>
                  <a:srgbClr val="373B48"/>
                </a:solidFill>
              </a:rPr>
              <a:t>grossière</a:t>
            </a:r>
            <a:r>
              <a:rPr sz="1050" b="0" dirty="0">
                <a:solidFill>
                  <a:srgbClr val="373B48"/>
                </a:solidFill>
              </a:rPr>
              <a:t>, non assimilable à </a:t>
            </a:r>
            <a:r>
              <a:rPr sz="1050" b="0" dirty="0" err="1">
                <a:solidFill>
                  <a:srgbClr val="373B48"/>
                </a:solidFill>
              </a:rPr>
              <a:t>une</a:t>
            </a:r>
            <a:r>
              <a:rPr sz="1050" b="0" dirty="0">
                <a:solidFill>
                  <a:srgbClr val="373B48"/>
                </a:solidFill>
              </a:rPr>
              <a:t> marge </a:t>
            </a:r>
            <a:r>
              <a:rPr sz="1050" b="0" dirty="0" err="1">
                <a:solidFill>
                  <a:srgbClr val="373B48"/>
                </a:solidFill>
              </a:rPr>
              <a:t>nette</a:t>
            </a:r>
            <a:r>
              <a:rPr sz="1050" b="0" dirty="0">
                <a:solidFill>
                  <a:srgbClr val="373B48"/>
                </a:solidFill>
              </a:rPr>
              <a:t>.</a:t>
            </a:r>
            <a:endParaRPr lang="fr-FR" sz="1050" b="0" dirty="0">
              <a:solidFill>
                <a:srgbClr val="373B48"/>
              </a:solidFill>
            </a:endParaRPr>
          </a:p>
          <a:p>
            <a:r>
              <a:rPr lang="fr-FR" sz="1050" b="1" dirty="0">
                <a:solidFill>
                  <a:srgbClr val="373B48"/>
                </a:solidFill>
              </a:rPr>
              <a:t>Revenu net prudent </a:t>
            </a:r>
            <a:r>
              <a:rPr lang="fr-FR" sz="1050" dirty="0">
                <a:solidFill>
                  <a:srgbClr val="373B48"/>
                </a:solidFill>
              </a:rPr>
              <a:t>= Revenu consommateur – Commissions distribution (~ 30 %) – Remises et promotions (~ 5 %).</a:t>
            </a:r>
            <a:endParaRPr lang="fr-FR" sz="1050" b="0" dirty="0">
              <a:solidFill>
                <a:srgbClr val="373B48"/>
              </a:solidFill>
            </a:endParaRPr>
          </a:p>
          <a:p>
            <a:pPr algn="ctr"/>
            <a:endParaRPr lang="fr-FR" sz="1050" dirty="0">
              <a:solidFill>
                <a:srgbClr val="373B48"/>
              </a:solidFill>
            </a:endParaRPr>
          </a:p>
          <a:p>
            <a:pPr algn="ctr"/>
            <a:endParaRPr lang="fr-FR" sz="1050" b="0" dirty="0">
              <a:solidFill>
                <a:srgbClr val="373B48"/>
              </a:solidFill>
            </a:endParaRPr>
          </a:p>
          <a:p>
            <a:pPr algn="ctr"/>
            <a:endParaRPr sz="1050" b="0" dirty="0">
              <a:solidFill>
                <a:srgbClr val="373B48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214845" cy="64008"/>
          </a:xfrm>
          <a:prstGeom prst="rect">
            <a:avLst/>
          </a:prstGeom>
          <a:solidFill>
            <a:srgbClr val="FF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4885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9731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4577" y="164592"/>
            <a:ext cx="1214845" cy="64008"/>
          </a:xfrm>
          <a:prstGeom prst="rect">
            <a:avLst/>
          </a:prstGeom>
          <a:solidFill>
            <a:srgbClr val="988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9422" y="164592"/>
            <a:ext cx="1214845" cy="64008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4268" y="164592"/>
            <a:ext cx="1214845" cy="64008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9114" y="164592"/>
            <a:ext cx="1214845" cy="64008"/>
          </a:xfrm>
          <a:prstGeom prst="rect">
            <a:avLst/>
          </a:prstGeom>
          <a:solidFill>
            <a:srgbClr val="7A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329184"/>
            <a:ext cx="3080582" cy="292608"/>
          </a:xfrm>
          <a:prstGeom prst="round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06 _ PLAN D’ACTION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676656"/>
            <a:ext cx="5029200" cy="4001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fr-FR" sz="2000" b="1" dirty="0">
                <a:solidFill>
                  <a:srgbClr val="141642"/>
                </a:solidFill>
              </a:rPr>
              <a:t>S</a:t>
            </a:r>
            <a:r>
              <a:rPr sz="2000" b="1" dirty="0" err="1">
                <a:solidFill>
                  <a:srgbClr val="141642"/>
                </a:solidFill>
              </a:rPr>
              <a:t>écuriser</a:t>
            </a:r>
            <a:r>
              <a:rPr sz="2000" b="1" dirty="0">
                <a:solidFill>
                  <a:srgbClr val="141642"/>
                </a:solidFill>
              </a:rPr>
              <a:t> </a:t>
            </a:r>
            <a:r>
              <a:rPr sz="2000" b="1" dirty="0" err="1">
                <a:solidFill>
                  <a:srgbClr val="141642"/>
                </a:solidFill>
              </a:rPr>
              <a:t>l’investissement</a:t>
            </a:r>
            <a:r>
              <a:rPr sz="2000" b="1" dirty="0">
                <a:solidFill>
                  <a:srgbClr val="141642"/>
                </a:solidFill>
              </a:rPr>
              <a:t> par </a:t>
            </a:r>
            <a:r>
              <a:rPr sz="2000" b="1" dirty="0" err="1">
                <a:solidFill>
                  <a:srgbClr val="141642"/>
                </a:solidFill>
              </a:rPr>
              <a:t>jalons</a:t>
            </a:r>
            <a:endParaRPr sz="2000" b="1" dirty="0">
              <a:solidFill>
                <a:srgbClr val="14164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" y="4828032"/>
            <a:ext cx="7772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6D757D"/>
                </a:solidFill>
              </a:rPr>
              <a:t>Projet P10 — UOI Games | Données OC, questionnaire et sources externes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6009" y="4809744"/>
            <a:ext cx="29367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800" b="1" dirty="0">
                <a:solidFill>
                  <a:srgbClr val="6D757D"/>
                </a:solidFill>
              </a:rPr>
              <a:t>21</a:t>
            </a:r>
            <a:endParaRPr sz="800" b="1" dirty="0">
              <a:solidFill>
                <a:srgbClr val="6D757D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37160" y="1143000"/>
            <a:ext cx="5212080" cy="35078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reco_01_priorisation_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10" y="1524823"/>
            <a:ext cx="4663440" cy="278200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40680" y="1325880"/>
            <a:ext cx="219456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r>
              <a:rPr sz="1200" b="1">
                <a:solidFill>
                  <a:srgbClr val="7148E8"/>
                </a:solidFill>
              </a:rPr>
              <a:t>Décision finale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645920"/>
            <a:ext cx="3515710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50" b="1" dirty="0">
                <a:solidFill>
                  <a:srgbClr val="7148E8"/>
                </a:solidFill>
              </a:rPr>
              <a:t>• </a:t>
            </a:r>
            <a:r>
              <a:rPr sz="1050" dirty="0" err="1">
                <a:solidFill>
                  <a:srgbClr val="373B48"/>
                </a:solidFill>
              </a:rPr>
              <a:t>Valider</a:t>
            </a:r>
            <a:r>
              <a:rPr sz="1050" dirty="0">
                <a:solidFill>
                  <a:srgbClr val="373B48"/>
                </a:solidFill>
              </a:rPr>
              <a:t> le segment Action-</a:t>
            </a:r>
            <a:r>
              <a:rPr sz="1050" dirty="0" err="1">
                <a:solidFill>
                  <a:srgbClr val="373B48"/>
                </a:solidFill>
              </a:rPr>
              <a:t>aventure</a:t>
            </a:r>
            <a:r>
              <a:rPr sz="1050" dirty="0">
                <a:solidFill>
                  <a:srgbClr val="373B48"/>
                </a:solidFill>
              </a:rPr>
              <a:t> AAA premium </a:t>
            </a:r>
            <a:r>
              <a:rPr sz="1050" dirty="0" err="1">
                <a:solidFill>
                  <a:srgbClr val="373B48"/>
                </a:solidFill>
              </a:rPr>
              <a:t>comme</a:t>
            </a:r>
            <a:r>
              <a:rPr sz="1050" dirty="0">
                <a:solidFill>
                  <a:srgbClr val="373B48"/>
                </a:solidFill>
              </a:rPr>
              <a:t> axe </a:t>
            </a:r>
            <a:r>
              <a:rPr sz="1050" dirty="0" err="1">
                <a:solidFill>
                  <a:srgbClr val="373B48"/>
                </a:solidFill>
              </a:rPr>
              <a:t>prioritaire</a:t>
            </a:r>
            <a:r>
              <a:rPr sz="1050" dirty="0">
                <a:solidFill>
                  <a:srgbClr val="373B48"/>
                </a:solidFill>
              </a:rPr>
              <a:t>.</a:t>
            </a:r>
          </a:p>
          <a:p>
            <a:pPr>
              <a:spcAft>
                <a:spcPts val="0"/>
              </a:spcAft>
            </a:pPr>
            <a:r>
              <a:rPr sz="1050" b="1" dirty="0">
                <a:solidFill>
                  <a:srgbClr val="7148E8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Lancer </a:t>
            </a:r>
            <a:r>
              <a:rPr sz="1050" dirty="0" err="1">
                <a:solidFill>
                  <a:srgbClr val="373B48"/>
                </a:solidFill>
              </a:rPr>
              <a:t>une</a:t>
            </a:r>
            <a:r>
              <a:rPr sz="1050" dirty="0">
                <a:solidFill>
                  <a:srgbClr val="373B48"/>
                </a:solidFill>
              </a:rPr>
              <a:t> phase de prototype court </a:t>
            </a:r>
            <a:r>
              <a:rPr sz="1050" dirty="0" err="1">
                <a:solidFill>
                  <a:srgbClr val="373B48"/>
                </a:solidFill>
              </a:rPr>
              <a:t>puis</a:t>
            </a:r>
            <a:r>
              <a:rPr sz="1050" dirty="0">
                <a:solidFill>
                  <a:srgbClr val="373B48"/>
                </a:solidFill>
              </a:rPr>
              <a:t> de vertical slice avant engagement </a:t>
            </a:r>
            <a:r>
              <a:rPr sz="1050" dirty="0" err="1">
                <a:solidFill>
                  <a:srgbClr val="373B48"/>
                </a:solidFill>
              </a:rPr>
              <a:t>lourd</a:t>
            </a:r>
            <a:r>
              <a:rPr sz="1050" dirty="0">
                <a:solidFill>
                  <a:srgbClr val="373B48"/>
                </a:solidFill>
              </a:rPr>
              <a:t>.</a:t>
            </a:r>
          </a:p>
          <a:p>
            <a:pPr>
              <a:spcAft>
                <a:spcPts val="0"/>
              </a:spcAft>
            </a:pPr>
            <a:r>
              <a:rPr sz="1050" b="1" dirty="0">
                <a:solidFill>
                  <a:srgbClr val="7148E8"/>
                </a:solidFill>
              </a:rPr>
              <a:t>• </a:t>
            </a:r>
            <a:r>
              <a:rPr sz="1050" dirty="0">
                <a:solidFill>
                  <a:srgbClr val="373B48"/>
                </a:solidFill>
              </a:rPr>
              <a:t>Tester </a:t>
            </a:r>
            <a:r>
              <a:rPr sz="1050" dirty="0" err="1">
                <a:solidFill>
                  <a:srgbClr val="373B48"/>
                </a:solidFill>
              </a:rPr>
              <a:t>rapidement</a:t>
            </a:r>
            <a:r>
              <a:rPr sz="1050" dirty="0">
                <a:solidFill>
                  <a:srgbClr val="373B48"/>
                </a:solidFill>
              </a:rPr>
              <a:t> la </a:t>
            </a:r>
            <a:r>
              <a:rPr sz="1050" dirty="0" err="1">
                <a:solidFill>
                  <a:srgbClr val="373B48"/>
                </a:solidFill>
              </a:rPr>
              <a:t>promesse</a:t>
            </a:r>
            <a:r>
              <a:rPr sz="1050" dirty="0">
                <a:solidFill>
                  <a:srgbClr val="373B48"/>
                </a:solidFill>
              </a:rPr>
              <a:t> </a:t>
            </a:r>
            <a:r>
              <a:rPr sz="1050" dirty="0" err="1">
                <a:solidFill>
                  <a:srgbClr val="373B48"/>
                </a:solidFill>
              </a:rPr>
              <a:t>auprès</a:t>
            </a:r>
            <a:r>
              <a:rPr sz="1050" dirty="0">
                <a:solidFill>
                  <a:srgbClr val="373B48"/>
                </a:solidFill>
              </a:rPr>
              <a:t> d’un panel plus large de </a:t>
            </a:r>
            <a:r>
              <a:rPr sz="1050" dirty="0" err="1">
                <a:solidFill>
                  <a:srgbClr val="373B48"/>
                </a:solidFill>
              </a:rPr>
              <a:t>joueurs</a:t>
            </a:r>
            <a:r>
              <a:rPr sz="1050" dirty="0">
                <a:solidFill>
                  <a:srgbClr val="373B48"/>
                </a:solidFill>
              </a:rPr>
              <a:t> PC/console.</a:t>
            </a:r>
          </a:p>
          <a:p>
            <a:pPr>
              <a:spcAft>
                <a:spcPts val="0"/>
              </a:spcAft>
            </a:pPr>
            <a:r>
              <a:rPr sz="1050" b="1" dirty="0">
                <a:solidFill>
                  <a:srgbClr val="7148E8"/>
                </a:solidFill>
              </a:rPr>
              <a:t>• </a:t>
            </a:r>
            <a:r>
              <a:rPr sz="1050" dirty="0" err="1">
                <a:solidFill>
                  <a:srgbClr val="373B48"/>
                </a:solidFill>
              </a:rPr>
              <a:t>Maîtriser</a:t>
            </a:r>
            <a:r>
              <a:rPr sz="1050" dirty="0">
                <a:solidFill>
                  <a:srgbClr val="373B48"/>
                </a:solidFill>
              </a:rPr>
              <a:t> le </a:t>
            </a:r>
            <a:r>
              <a:rPr sz="1050" dirty="0" err="1">
                <a:solidFill>
                  <a:srgbClr val="373B48"/>
                </a:solidFill>
              </a:rPr>
              <a:t>périmètre</a:t>
            </a:r>
            <a:r>
              <a:rPr sz="1050" dirty="0">
                <a:solidFill>
                  <a:srgbClr val="373B48"/>
                </a:solidFill>
              </a:rPr>
              <a:t> : semi-</a:t>
            </a:r>
            <a:r>
              <a:rPr sz="1050" dirty="0" err="1">
                <a:solidFill>
                  <a:srgbClr val="373B48"/>
                </a:solidFill>
              </a:rPr>
              <a:t>ouvert</a:t>
            </a:r>
            <a:r>
              <a:rPr sz="1050" dirty="0">
                <a:solidFill>
                  <a:srgbClr val="373B48"/>
                </a:solidFill>
              </a:rPr>
              <a:t>, narration forte, pas de </a:t>
            </a:r>
            <a:r>
              <a:rPr sz="1050" dirty="0" err="1">
                <a:solidFill>
                  <a:srgbClr val="373B48"/>
                </a:solidFill>
              </a:rPr>
              <a:t>dérive</a:t>
            </a:r>
            <a:r>
              <a:rPr sz="1050" dirty="0">
                <a:solidFill>
                  <a:srgbClr val="373B48"/>
                </a:solidFill>
              </a:rPr>
              <a:t> de production.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3657600"/>
            <a:ext cx="283464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0" y="3657600"/>
            <a:ext cx="64008" cy="685800"/>
          </a:xfrm>
          <a:prstGeom prst="rect">
            <a:avLst/>
          </a:prstGeom>
          <a:solidFill>
            <a:srgbClr val="71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23560" y="3730752"/>
            <a:ext cx="26060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148E8"/>
                </a:solidFill>
              </a:rPr>
              <a:t>Synthèse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141642"/>
                </a:solidFill>
              </a:rPr>
              <a:t>Ambitieux, mais cadré : potentiel international + exécution maîtrisée.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itle 7"/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Title 8"/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ubtitle 9"/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 idx="9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Subtitle 1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Title 12"/>
          <p:cNvSpPr>
            <a:spLocks noGrp="1"/>
          </p:cNvSpPr>
          <p:nvPr>
            <p:ph type="title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Subtitle 1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164592"/>
            <a:ext cx="868680" cy="256032"/>
          </a:xfrm>
          <a:prstGeom prst="round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ANNEXES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93776"/>
            <a:ext cx="8321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1E1E"/>
                </a:solidFill>
                <a:latin typeface="Arial"/>
              </a:rPr>
              <a:t>Annexes — traçabilité, hypothèses et preuves d’analyse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84124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5F5F5F"/>
                </a:solidFill>
                <a:latin typeface="Arial"/>
              </a:rPr>
              <a:t>Bloc à mobiliser en réponse aux questions de Juliette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069848"/>
            <a:ext cx="685800" cy="32004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840" y="1069848"/>
            <a:ext cx="86868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74519" y="1069848"/>
            <a:ext cx="548640" cy="32004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23160" y="1069848"/>
            <a:ext cx="640080" cy="32004"/>
          </a:xfrm>
          <a:prstGeom prst="rect">
            <a:avLst/>
          </a:prstGeom>
          <a:solidFill>
            <a:srgbClr val="F6D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63239" y="1069848"/>
            <a:ext cx="731520" cy="3200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794759" y="1069848"/>
            <a:ext cx="68580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4956048"/>
            <a:ext cx="6583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" b="0">
                <a:solidFill>
                  <a:srgbClr val="5F5F5F"/>
                </a:solidFill>
                <a:latin typeface="Arial"/>
              </a:rPr>
              <a:t>Projet P10 — UOI Games | Annexes — méthode, sources, scoring, hypothèses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25" y="4871545"/>
            <a:ext cx="3840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700" b="1" dirty="0">
                <a:solidFill>
                  <a:srgbClr val="5F5F5F"/>
                </a:solidFill>
                <a:latin typeface="Arial"/>
              </a:rPr>
              <a:t>22</a:t>
            </a:r>
            <a:endParaRPr sz="700" b="1" dirty="0">
              <a:solidFill>
                <a:srgbClr val="5F5F5F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141732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Ces slides documentent le raisonnement sans alourdir la soutenance.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173736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F5F5F"/>
                </a:solidFill>
                <a:latin typeface="Arial"/>
              </a:rPr>
              <a:t>Le support principal raconte la décision ; les annexes prouvent la méthode, les sources et les hypothèses.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331720"/>
            <a:ext cx="1920240" cy="59436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A1</a:t>
            </a:r>
          </a:p>
          <a:p>
            <a:pPr>
              <a:spcBef>
                <a:spcPts val="200"/>
              </a:spcBef>
            </a:pPr>
            <a:r>
              <a:rPr sz="770">
                <a:solidFill>
                  <a:srgbClr val="5F5F5F"/>
                </a:solidFill>
                <a:latin typeface="Arial"/>
              </a:rPr>
              <a:t>Arborescence &amp; livrables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331720"/>
            <a:ext cx="54864" cy="594360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651760" y="2331720"/>
            <a:ext cx="1920240" cy="59436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A2</a:t>
            </a:r>
          </a:p>
          <a:p>
            <a:pPr>
              <a:spcBef>
                <a:spcPts val="200"/>
              </a:spcBef>
            </a:pPr>
            <a:r>
              <a:rPr sz="770">
                <a:solidFill>
                  <a:srgbClr val="5F5F5F"/>
                </a:solidFill>
                <a:latin typeface="Arial"/>
              </a:rPr>
              <a:t>Données &amp; limites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2331720"/>
            <a:ext cx="54864" cy="594360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800600" y="2331720"/>
            <a:ext cx="1920240" cy="59436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A3</a:t>
            </a:r>
          </a:p>
          <a:p>
            <a:pPr>
              <a:spcBef>
                <a:spcPts val="200"/>
              </a:spcBef>
            </a:pPr>
            <a:r>
              <a:rPr sz="770">
                <a:solidFill>
                  <a:srgbClr val="5F5F5F"/>
                </a:solidFill>
                <a:latin typeface="Arial"/>
              </a:rPr>
              <a:t>Sources externes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00600" y="2331720"/>
            <a:ext cx="54864" cy="594360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949440" y="2331720"/>
            <a:ext cx="1920240" cy="59436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A4</a:t>
            </a:r>
          </a:p>
          <a:p>
            <a:pPr>
              <a:spcBef>
                <a:spcPts val="200"/>
              </a:spcBef>
            </a:pPr>
            <a:r>
              <a:rPr sz="770">
                <a:solidFill>
                  <a:srgbClr val="5F5F5F"/>
                </a:solidFill>
                <a:latin typeface="Arial"/>
              </a:rPr>
              <a:t>Questionnaire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2331720"/>
            <a:ext cx="54864" cy="59436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0"/>
            <a:ext cx="1920240" cy="59436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A5</a:t>
            </a:r>
          </a:p>
          <a:p>
            <a:pPr>
              <a:spcBef>
                <a:spcPts val="200"/>
              </a:spcBef>
            </a:pPr>
            <a:r>
              <a:rPr sz="770">
                <a:solidFill>
                  <a:srgbClr val="5F5F5F"/>
                </a:solidFill>
                <a:latin typeface="Arial"/>
              </a:rPr>
              <a:t>Scoring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200400"/>
            <a:ext cx="54864" cy="594360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651760" y="3200400"/>
            <a:ext cx="1920240" cy="59436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A6</a:t>
            </a:r>
          </a:p>
          <a:p>
            <a:pPr>
              <a:spcBef>
                <a:spcPts val="200"/>
              </a:spcBef>
            </a:pPr>
            <a:r>
              <a:rPr sz="770">
                <a:solidFill>
                  <a:srgbClr val="5F5F5F"/>
                </a:solidFill>
                <a:latin typeface="Arial"/>
              </a:rPr>
              <a:t>SWOT/PESTEL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3200400"/>
            <a:ext cx="54864" cy="594360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800600" y="3200400"/>
            <a:ext cx="1920240" cy="59436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A7</a:t>
            </a:r>
          </a:p>
          <a:p>
            <a:pPr>
              <a:spcBef>
                <a:spcPts val="200"/>
              </a:spcBef>
            </a:pPr>
            <a:r>
              <a:rPr sz="770">
                <a:solidFill>
                  <a:srgbClr val="5F5F5F"/>
                </a:solidFill>
                <a:latin typeface="Arial"/>
              </a:rPr>
              <a:t>Prévision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00600" y="3200400"/>
            <a:ext cx="54864" cy="594360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949440" y="3200400"/>
            <a:ext cx="1920240" cy="59436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00" b="1" dirty="0">
                <a:solidFill>
                  <a:srgbClr val="1E1E1E"/>
                </a:solidFill>
                <a:latin typeface="Arial"/>
              </a:rPr>
              <a:t>A8</a:t>
            </a:r>
          </a:p>
          <a:p>
            <a:pPr>
              <a:spcBef>
                <a:spcPts val="200"/>
              </a:spcBef>
            </a:pPr>
            <a:r>
              <a:rPr lang="fr-FR" sz="770" dirty="0">
                <a:solidFill>
                  <a:srgbClr val="5F5F5F"/>
                </a:solidFill>
                <a:latin typeface="Arial"/>
              </a:rPr>
              <a:t>Roadmap de mise en </a:t>
            </a:r>
            <a:r>
              <a:rPr lang="fr-FR" sz="770" dirty="0" err="1">
                <a:solidFill>
                  <a:srgbClr val="5F5F5F"/>
                </a:solidFill>
                <a:latin typeface="Arial"/>
              </a:rPr>
              <a:t>oeuvre</a:t>
            </a:r>
            <a:endParaRPr sz="770" dirty="0">
              <a:solidFill>
                <a:srgbClr val="5F5F5F"/>
              </a:solidFill>
              <a:latin typeface="Aria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949440" y="3200400"/>
            <a:ext cx="54864" cy="59436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2">
            <a:extLst>
              <a:ext uri="{FF2B5EF4-FFF2-40B4-BE49-F238E27FC236}">
                <a16:creationId xmlns:a16="http://schemas.microsoft.com/office/drawing/2014/main" id="{57C3C8D2-A089-FDE5-AE06-21F285A25736}"/>
              </a:ext>
            </a:extLst>
          </p:cNvPr>
          <p:cNvSpPr/>
          <p:nvPr/>
        </p:nvSpPr>
        <p:spPr>
          <a:xfrm>
            <a:off x="502920" y="4064508"/>
            <a:ext cx="1920240" cy="59436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00" b="1" dirty="0">
                <a:solidFill>
                  <a:srgbClr val="1E1E1E"/>
                </a:solidFill>
                <a:latin typeface="Arial"/>
              </a:rPr>
              <a:t>A</a:t>
            </a:r>
            <a:r>
              <a:rPr lang="fr-FR" sz="900" b="1" dirty="0">
                <a:solidFill>
                  <a:srgbClr val="1E1E1E"/>
                </a:solidFill>
                <a:latin typeface="Arial"/>
              </a:rPr>
              <a:t>9</a:t>
            </a:r>
            <a:endParaRPr sz="900" b="1" dirty="0">
              <a:solidFill>
                <a:srgbClr val="1E1E1E"/>
              </a:solidFill>
              <a:latin typeface="Arial"/>
            </a:endParaRPr>
          </a:p>
          <a:p>
            <a:pPr>
              <a:spcBef>
                <a:spcPts val="200"/>
              </a:spcBef>
            </a:pPr>
            <a:r>
              <a:rPr sz="770" dirty="0">
                <a:solidFill>
                  <a:srgbClr val="5F5F5F"/>
                </a:solidFill>
                <a:latin typeface="Arial"/>
              </a:rPr>
              <a:t>Power BI-ready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DD32C7B-41EA-7E6E-4BE6-6BC782610010}"/>
              </a:ext>
            </a:extLst>
          </p:cNvPr>
          <p:cNvSpPr/>
          <p:nvPr/>
        </p:nvSpPr>
        <p:spPr>
          <a:xfrm>
            <a:off x="502920" y="4054260"/>
            <a:ext cx="54864" cy="594360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itle 7"/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Title 8"/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ubtitle 9"/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 idx="9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Subtitle 1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Title 12"/>
          <p:cNvSpPr>
            <a:spLocks noGrp="1"/>
          </p:cNvSpPr>
          <p:nvPr>
            <p:ph type="title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Subtitle 1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164592"/>
            <a:ext cx="868680" cy="256032"/>
          </a:xfrm>
          <a:prstGeom prst="round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A1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93776"/>
            <a:ext cx="8321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1E1E"/>
                </a:solidFill>
                <a:latin typeface="Arial"/>
              </a:rPr>
              <a:t>Arborescence projet et livrables générés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84124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5F5F5F"/>
                </a:solidFill>
                <a:latin typeface="Arial"/>
              </a:rPr>
              <a:t>Organisation retenue pour garantir la reproductibilité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069848"/>
            <a:ext cx="685800" cy="32004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840" y="1069848"/>
            <a:ext cx="86868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74519" y="1069848"/>
            <a:ext cx="548640" cy="32004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23160" y="1069848"/>
            <a:ext cx="640080" cy="32004"/>
          </a:xfrm>
          <a:prstGeom prst="rect">
            <a:avLst/>
          </a:prstGeom>
          <a:solidFill>
            <a:srgbClr val="F6D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63239" y="1069848"/>
            <a:ext cx="731520" cy="3200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794759" y="1069848"/>
            <a:ext cx="68580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4956048"/>
            <a:ext cx="6583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" b="0">
                <a:solidFill>
                  <a:srgbClr val="5F5F5F"/>
                </a:solidFill>
                <a:latin typeface="Arial"/>
              </a:rPr>
              <a:t>Projet P10 — UOI Games | Annexes — méthode, sources, scoring, hypothèses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34" y="4855464"/>
            <a:ext cx="384091" cy="1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660" b="1" dirty="0">
                <a:solidFill>
                  <a:srgbClr val="5F5F5F"/>
                </a:solidFill>
                <a:latin typeface="Arial"/>
              </a:rPr>
              <a:t>23</a:t>
            </a:r>
            <a:endParaRPr sz="660" b="1" dirty="0">
              <a:solidFill>
                <a:srgbClr val="5F5F5F"/>
              </a:solidFill>
              <a:latin typeface="Arial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11480" y="1325880"/>
            <a:ext cx="2651760" cy="32461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Dossier Drive</a:t>
            </a:r>
          </a:p>
          <a:p>
            <a:pPr>
              <a:spcBef>
                <a:spcPts val="200"/>
              </a:spcBef>
            </a:pPr>
            <a:r>
              <a:rPr sz="760">
                <a:solidFill>
                  <a:srgbClr val="5F5F5F"/>
                </a:solidFill>
                <a:latin typeface="Arial"/>
              </a:rPr>
              <a:t>01_data_raw : données brutes
02_data_clean : tables nettoyées
03_notebooks : notebook complet
04_outputs : graphiques, Excel, synthèses
05_sources : sources externes et BI-ready
06_presentation : support final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1325880"/>
            <a:ext cx="54864" cy="3246120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246120" y="1325880"/>
            <a:ext cx="2651760" cy="32461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Sorties par étape</a:t>
            </a:r>
          </a:p>
          <a:p>
            <a:pPr>
              <a:spcBef>
                <a:spcPts val="200"/>
              </a:spcBef>
            </a:pPr>
            <a:r>
              <a:rPr sz="760">
                <a:solidFill>
                  <a:srgbClr val="5F5F5F"/>
                </a:solidFill>
                <a:latin typeface="Arial"/>
              </a:rPr>
              <a:t>1-2 audit
3 préparation
4 analyses exploratoires
5 sources externes
5 bis BI-ready
6 questionnaire
7 segmentation
7 bis SWOT/PESTEL
8 recommandation/prévision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1325880"/>
            <a:ext cx="54864" cy="3246120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080760" y="1325880"/>
            <a:ext cx="2651760" cy="32461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Livrables</a:t>
            </a:r>
          </a:p>
          <a:p>
            <a:pPr>
              <a:spcBef>
                <a:spcPts val="200"/>
              </a:spcBef>
            </a:pPr>
            <a:r>
              <a:rPr sz="780">
                <a:solidFill>
                  <a:srgbClr val="5F5F5F"/>
                </a:solidFill>
                <a:latin typeface="Arial"/>
              </a:rPr>
              <a:t>Présentation finale : décision business
Notebook : preuves analytiques
Exports : graphiques, tables, synthèses
Power BI-ready : base pour dashboard complémentaire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1325880"/>
            <a:ext cx="54864" cy="3246120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itle 7"/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Title 8"/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ubtitle 9"/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 idx="9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Subtitle 1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Title 12"/>
          <p:cNvSpPr>
            <a:spLocks noGrp="1"/>
          </p:cNvSpPr>
          <p:nvPr>
            <p:ph type="title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Subtitle 1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7883"/>
            <a:ext cx="9144000" cy="51435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164592"/>
            <a:ext cx="868680" cy="256032"/>
          </a:xfrm>
          <a:prstGeom prst="round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A2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93776"/>
            <a:ext cx="8321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1E1E"/>
                </a:solidFill>
                <a:latin typeface="Arial"/>
              </a:rPr>
              <a:t>Données sources, retraitements et limites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84124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5F5F5F"/>
                </a:solidFill>
                <a:latin typeface="Arial"/>
              </a:rPr>
              <a:t>Les fichiers OC sont exploitables, mais doivent être interprétés correctement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069848"/>
            <a:ext cx="685800" cy="32004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840" y="1069848"/>
            <a:ext cx="86868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74519" y="1069848"/>
            <a:ext cx="548640" cy="32004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23160" y="1069848"/>
            <a:ext cx="640080" cy="32004"/>
          </a:xfrm>
          <a:prstGeom prst="rect">
            <a:avLst/>
          </a:prstGeom>
          <a:solidFill>
            <a:srgbClr val="F6D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63239" y="1069848"/>
            <a:ext cx="731520" cy="3200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794759" y="1069848"/>
            <a:ext cx="68580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4956048"/>
            <a:ext cx="6583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" b="0">
                <a:solidFill>
                  <a:srgbClr val="5F5F5F"/>
                </a:solidFill>
                <a:latin typeface="Arial"/>
              </a:rPr>
              <a:t>Projet P10 — UOI Games | Annexes — méthode, sources, scoring, hypothèses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25" y="4879428"/>
            <a:ext cx="3840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700" b="1" dirty="0">
                <a:solidFill>
                  <a:srgbClr val="5F5F5F"/>
                </a:solidFill>
                <a:latin typeface="Arial"/>
              </a:rPr>
              <a:t>24</a:t>
            </a:r>
            <a:endParaRPr sz="700" b="1" dirty="0">
              <a:solidFill>
                <a:srgbClr val="5F5F5F"/>
              </a:solidFill>
              <a:latin typeface="Arial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054428"/>
              </p:ext>
            </p:extLst>
          </p:nvPr>
        </p:nvGraphicFramePr>
        <p:xfrm>
          <a:off x="411480" y="1353312"/>
          <a:ext cx="7912713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2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1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32004" marR="32004" marT="18288" marB="18288">
                    <a:solidFill>
                      <a:srgbClr val="745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FFFFFF"/>
                          </a:solidFill>
                          <a:latin typeface="Arial"/>
                        </a:rPr>
                        <a:t>Volume</a:t>
                      </a:r>
                    </a:p>
                  </a:txBody>
                  <a:tcPr marL="32004" marR="32004" marT="18288" marB="18288">
                    <a:solidFill>
                      <a:srgbClr val="745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FFFFFF"/>
                          </a:solidFill>
                          <a:latin typeface="Arial"/>
                        </a:rPr>
                        <a:t>Usage</a:t>
                      </a:r>
                    </a:p>
                  </a:txBody>
                  <a:tcPr marL="32004" marR="32004" marT="18288" marB="18288">
                    <a:solidFill>
                      <a:srgbClr val="745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FFFFFF"/>
                          </a:solidFill>
                          <a:latin typeface="Arial"/>
                        </a:rPr>
                        <a:t>Limite</a:t>
                      </a:r>
                    </a:p>
                  </a:txBody>
                  <a:tcPr marL="32004" marR="32004" marT="18288" marB="18288">
                    <a:solidFill>
                      <a:srgbClr val="745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VideoGame_Sales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16 545 lignes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Ventes historiques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Arrêt 2016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Consoles 2022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20 lignes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Base installée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dirty="0">
                          <a:solidFill>
                            <a:srgbClr val="1E1E1E"/>
                          </a:solidFill>
                          <a:latin typeface="Arial"/>
                        </a:rPr>
                        <a:t>Vision </a:t>
                      </a:r>
                      <a:r>
                        <a:rPr sz="660" b="0" dirty="0" err="1">
                          <a:solidFill>
                            <a:srgbClr val="1E1E1E"/>
                          </a:solidFill>
                          <a:latin typeface="Arial"/>
                        </a:rPr>
                        <a:t>cumulée</a:t>
                      </a:r>
                      <a:endParaRPr sz="660" b="0" dirty="0">
                        <a:solidFill>
                          <a:srgbClr val="1E1E1E"/>
                        </a:solidFill>
                        <a:latin typeface="Arial"/>
                      </a:endParaRP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All_publish 2022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440 896 lignes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Catalogue / engagement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Catalogue ≠ ventes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Questionnaire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14 réponses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Signal consommateur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Convenance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Sources externes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8 sources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Actualisation marché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dirty="0" err="1">
                          <a:solidFill>
                            <a:srgbClr val="1E1E1E"/>
                          </a:solidFill>
                          <a:latin typeface="Arial"/>
                        </a:rPr>
                        <a:t>Niveau</a:t>
                      </a:r>
                      <a:r>
                        <a:rPr sz="660" b="0" dirty="0">
                          <a:solidFill>
                            <a:srgbClr val="1E1E1E"/>
                          </a:solidFill>
                          <a:latin typeface="Arial"/>
                        </a:rPr>
                        <a:t> macro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02920" y="3611880"/>
            <a:ext cx="2560320" cy="77724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Ventes historiques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5F5F5F"/>
                </a:solidFill>
                <a:latin typeface="Arial"/>
              </a:rPr>
              <a:t>9 060,8 M d’unités nettoyées ; unités exprimées en millions.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11880"/>
            <a:ext cx="54864" cy="777240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291840" y="3611880"/>
            <a:ext cx="2560320" cy="77724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Corrections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5F5F5F"/>
                </a:solidFill>
                <a:latin typeface="Arial"/>
              </a:rPr>
              <a:t>Atati → Atari ; oUI → Oui ; Xbox 36 → Xbox 360.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611880"/>
            <a:ext cx="54864" cy="777240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080760" y="3611880"/>
            <a:ext cx="2560320" cy="77724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Principe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5F5F5F"/>
                </a:solidFill>
                <a:latin typeface="Arial"/>
              </a:rPr>
              <a:t>Triangulation : interne + externe + questionnaire.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3611880"/>
            <a:ext cx="54864" cy="777240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itle 7"/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Title 8"/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ubtitle 9"/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 idx="9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Subtitle 1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Title 12"/>
          <p:cNvSpPr>
            <a:spLocks noGrp="1"/>
          </p:cNvSpPr>
          <p:nvPr>
            <p:ph type="title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Subtitle 1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164592"/>
            <a:ext cx="868680" cy="256032"/>
          </a:xfrm>
          <a:prstGeom prst="round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93776"/>
            <a:ext cx="8321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1E1E"/>
                </a:solidFill>
                <a:latin typeface="Arial"/>
              </a:rPr>
              <a:t>Sources externes récentes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84124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5F5F5F"/>
                </a:solidFill>
                <a:latin typeface="Arial"/>
              </a:rPr>
              <a:t>Actualiser le marché post-2016 et qualifier les tendances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069848"/>
            <a:ext cx="685800" cy="32004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840" y="1069848"/>
            <a:ext cx="86868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74519" y="1069848"/>
            <a:ext cx="548640" cy="32004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23160" y="1069848"/>
            <a:ext cx="640080" cy="32004"/>
          </a:xfrm>
          <a:prstGeom prst="rect">
            <a:avLst/>
          </a:prstGeom>
          <a:solidFill>
            <a:srgbClr val="F6D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63239" y="1069848"/>
            <a:ext cx="731520" cy="3200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794759" y="1069848"/>
            <a:ext cx="68580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4956048"/>
            <a:ext cx="6583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" b="0">
                <a:solidFill>
                  <a:srgbClr val="5F5F5F"/>
                </a:solidFill>
                <a:latin typeface="Arial"/>
              </a:rPr>
              <a:t>Projet P10 — UOI Games | Annexes — méthode, sources, scoring, hypothèses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6538" y="4850801"/>
            <a:ext cx="6482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700" b="1" dirty="0">
                <a:solidFill>
                  <a:srgbClr val="5F5F5F"/>
                </a:solidFill>
                <a:latin typeface="Arial"/>
              </a:rPr>
              <a:t>25</a:t>
            </a:r>
            <a:endParaRPr sz="700" b="1" dirty="0">
              <a:solidFill>
                <a:srgbClr val="5F5F5F"/>
              </a:solidFill>
              <a:latin typeface="Arial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11480" y="1325880"/>
            <a:ext cx="2011680" cy="9144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Monde</a:t>
            </a:r>
          </a:p>
          <a:p>
            <a:pPr>
              <a:spcBef>
                <a:spcPts val="200"/>
              </a:spcBef>
            </a:pPr>
            <a:r>
              <a:rPr sz="770">
                <a:solidFill>
                  <a:srgbClr val="5F5F5F"/>
                </a:solidFill>
                <a:latin typeface="Arial"/>
              </a:rPr>
              <a:t>188,8 Md$ en 2025
206,5 Md$ prévus en 2028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1325880"/>
            <a:ext cx="54864" cy="914400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560320" y="1325880"/>
            <a:ext cx="2011680" cy="9144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Europe</a:t>
            </a:r>
          </a:p>
          <a:p>
            <a:pPr>
              <a:spcBef>
                <a:spcPts val="200"/>
              </a:spcBef>
            </a:pPr>
            <a:r>
              <a:rPr sz="770">
                <a:solidFill>
                  <a:srgbClr val="5F5F5F"/>
                </a:solidFill>
                <a:latin typeface="Arial"/>
              </a:rPr>
              <a:t>26,8 Md€ en 2024
90 % digital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1325880"/>
            <a:ext cx="54864" cy="914400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709160" y="1325880"/>
            <a:ext cx="2011680" cy="9144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France</a:t>
            </a:r>
          </a:p>
          <a:p>
            <a:pPr>
              <a:spcBef>
                <a:spcPts val="200"/>
              </a:spcBef>
            </a:pPr>
            <a:r>
              <a:rPr sz="770">
                <a:solidFill>
                  <a:srgbClr val="5F5F5F"/>
                </a:solidFill>
                <a:latin typeface="Arial"/>
              </a:rPr>
              <a:t>5,7 Md€ en 2024
Console : 2,5 Md€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1325880"/>
            <a:ext cx="54864" cy="914400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858000" y="1325880"/>
            <a:ext cx="1828800" cy="9144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États-Unis</a:t>
            </a:r>
          </a:p>
          <a:p>
            <a:pPr>
              <a:spcBef>
                <a:spcPts val="200"/>
              </a:spcBef>
            </a:pPr>
            <a:r>
              <a:rPr sz="770">
                <a:solidFill>
                  <a:srgbClr val="5F5F5F"/>
                </a:solidFill>
                <a:latin typeface="Arial"/>
              </a:rPr>
              <a:t>58,7 Md$ en 2024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1325880"/>
            <a:ext cx="54864" cy="9144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11480" y="2514600"/>
          <a:ext cx="83210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FFFFFF"/>
                          </a:solidFill>
                          <a:latin typeface="Arial"/>
                        </a:rPr>
                        <a:t>Organisme</a:t>
                      </a:r>
                    </a:p>
                  </a:txBody>
                  <a:tcPr marL="32004" marR="32004" marT="18288" marB="18288">
                    <a:solidFill>
                      <a:srgbClr val="745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FFFFFF"/>
                          </a:solidFill>
                          <a:latin typeface="Arial"/>
                        </a:rPr>
                        <a:t>Zone</a:t>
                      </a:r>
                    </a:p>
                  </a:txBody>
                  <a:tcPr marL="32004" marR="32004" marT="18288" marB="18288">
                    <a:solidFill>
                      <a:srgbClr val="745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FFFFFF"/>
                          </a:solidFill>
                          <a:latin typeface="Arial"/>
                        </a:rPr>
                        <a:t>Utilisation</a:t>
                      </a:r>
                    </a:p>
                  </a:txBody>
                  <a:tcPr marL="32004" marR="32004" marT="18288" marB="18288">
                    <a:solidFill>
                      <a:srgbClr val="745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E1E1E"/>
                          </a:solidFill>
                          <a:latin typeface="Arial"/>
                        </a:rPr>
                        <a:t>Newzoo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E1E1E"/>
                          </a:solidFill>
                          <a:latin typeface="Arial"/>
                        </a:rPr>
                        <a:t>Monde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E1E1E"/>
                          </a:solidFill>
                          <a:latin typeface="Arial"/>
                        </a:rPr>
                        <a:t>Taille du marché mondial, nombre de joueurs, croissance par plateforme, perspect…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E1E1E"/>
                          </a:solidFill>
                          <a:latin typeface="Arial"/>
                        </a:rPr>
                        <a:t>Video Games Europe / EGDF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E1E1E"/>
                          </a:solidFill>
                          <a:latin typeface="Arial"/>
                        </a:rPr>
                        <a:t>Europe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E1E1E"/>
                          </a:solidFill>
                          <a:latin typeface="Arial"/>
                        </a:rPr>
                        <a:t>Marché européen, profils joueurs, device split, digital / physique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E1E1E"/>
                          </a:solidFill>
                          <a:latin typeface="Arial"/>
                        </a:rPr>
                        <a:t>SELL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 dirty="0">
                          <a:solidFill>
                            <a:srgbClr val="1E1E1E"/>
                          </a:solidFill>
                          <a:latin typeface="Arial"/>
                        </a:rPr>
                        <a:t>France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E1E1E"/>
                          </a:solidFill>
                          <a:latin typeface="Arial"/>
                        </a:rPr>
                        <a:t>Poids des écosystèmes console, PC et mobile en France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E1E1E"/>
                          </a:solidFill>
                          <a:latin typeface="Arial"/>
                        </a:rPr>
                        <a:t>ESA / Circana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E1E1E"/>
                          </a:solidFill>
                          <a:latin typeface="Arial"/>
                        </a:rPr>
                        <a:t>États-Unis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E1E1E"/>
                          </a:solidFill>
                          <a:latin typeface="Arial"/>
                        </a:rPr>
                        <a:t>Marché américain, dépenses consommateurs, poids du contenu et du mobile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E1E1E"/>
                          </a:solidFill>
                          <a:latin typeface="Arial"/>
                        </a:rPr>
                        <a:t>ESA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E1E1E"/>
                          </a:solidFill>
                          <a:latin typeface="Arial"/>
                        </a:rPr>
                        <a:t>États-Unis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 dirty="0" err="1">
                          <a:solidFill>
                            <a:srgbClr val="1E1E1E"/>
                          </a:solidFill>
                          <a:latin typeface="Arial"/>
                        </a:rPr>
                        <a:t>Profils</a:t>
                      </a:r>
                      <a:r>
                        <a:rPr sz="630" b="0" dirty="0">
                          <a:solidFill>
                            <a:srgbClr val="1E1E1E"/>
                          </a:solidFill>
                          <a:latin typeface="Arial"/>
                        </a:rPr>
                        <a:t> des </a:t>
                      </a:r>
                      <a:r>
                        <a:rPr sz="630" b="0" dirty="0" err="1">
                          <a:solidFill>
                            <a:srgbClr val="1E1E1E"/>
                          </a:solidFill>
                          <a:latin typeface="Arial"/>
                        </a:rPr>
                        <a:t>joueurs</a:t>
                      </a:r>
                      <a:r>
                        <a:rPr sz="630" b="0" dirty="0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sz="630" b="0" dirty="0" err="1">
                          <a:solidFill>
                            <a:srgbClr val="1E1E1E"/>
                          </a:solidFill>
                          <a:latin typeface="Arial"/>
                        </a:rPr>
                        <a:t>américains</a:t>
                      </a:r>
                      <a:r>
                        <a:rPr sz="630" b="0" dirty="0">
                          <a:solidFill>
                            <a:srgbClr val="1E1E1E"/>
                          </a:solidFill>
                          <a:latin typeface="Arial"/>
                        </a:rPr>
                        <a:t>, diffusion du jeu </a:t>
                      </a:r>
                      <a:r>
                        <a:rPr sz="630" b="0" dirty="0" err="1">
                          <a:solidFill>
                            <a:srgbClr val="1E1E1E"/>
                          </a:solidFill>
                          <a:latin typeface="Arial"/>
                        </a:rPr>
                        <a:t>vidéo</a:t>
                      </a:r>
                      <a:r>
                        <a:rPr sz="630" b="0" dirty="0">
                          <a:solidFill>
                            <a:srgbClr val="1E1E1E"/>
                          </a:solidFill>
                          <a:latin typeface="Arial"/>
                        </a:rPr>
                        <a:t> dans la population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itle 7"/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Title 8"/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ubtitle 9"/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 idx="9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Subtitle 1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Title 12"/>
          <p:cNvSpPr>
            <a:spLocks noGrp="1"/>
          </p:cNvSpPr>
          <p:nvPr>
            <p:ph type="title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Subtitle 1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164592"/>
            <a:ext cx="868680" cy="256032"/>
          </a:xfrm>
          <a:prstGeom prst="round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A4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93776"/>
            <a:ext cx="8321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1E1E"/>
                </a:solidFill>
                <a:latin typeface="Arial"/>
              </a:rPr>
              <a:t>Questionnaire consommateurs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84124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5F5F5F"/>
                </a:solidFill>
                <a:latin typeface="Arial"/>
              </a:rPr>
              <a:t>Signal exploratoire : 10 questions, 14 répondants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069848"/>
            <a:ext cx="685800" cy="32004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840" y="1069848"/>
            <a:ext cx="86868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74519" y="1069848"/>
            <a:ext cx="548640" cy="32004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23160" y="1069848"/>
            <a:ext cx="640080" cy="32004"/>
          </a:xfrm>
          <a:prstGeom prst="rect">
            <a:avLst/>
          </a:prstGeom>
          <a:solidFill>
            <a:srgbClr val="F6D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63239" y="1069848"/>
            <a:ext cx="731520" cy="3200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794759" y="1069848"/>
            <a:ext cx="68580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4956048"/>
            <a:ext cx="6583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" b="0">
                <a:solidFill>
                  <a:srgbClr val="5F5F5F"/>
                </a:solidFill>
                <a:latin typeface="Arial"/>
              </a:rPr>
              <a:t>Projet P10 — UOI Games | Annexes — méthode, sources, scoring, hypothèses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25" y="4871545"/>
            <a:ext cx="3840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700" b="1" dirty="0">
                <a:solidFill>
                  <a:srgbClr val="5F5F5F"/>
                </a:solidFill>
                <a:latin typeface="Arial"/>
              </a:rPr>
              <a:t>26</a:t>
            </a:r>
            <a:endParaRPr sz="700" b="1" dirty="0">
              <a:solidFill>
                <a:srgbClr val="5F5F5F"/>
              </a:solidFill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11480" y="1325880"/>
            <a:ext cx="4617720" cy="3154680"/>
          </a:xfrm>
          <a:prstGeom prst="rect">
            <a:avLst/>
          </a:prstGeom>
          <a:solidFill>
            <a:srgbClr val="FFFFFF"/>
          </a:solidFill>
          <a:ln w="8890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982243"/>
            <a:ext cx="4544568" cy="1841953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5257800" y="1417320"/>
            <a:ext cx="3429000" cy="77724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Méthode</a:t>
            </a:r>
          </a:p>
          <a:p>
            <a:pPr>
              <a:spcBef>
                <a:spcPts val="200"/>
              </a:spcBef>
            </a:pPr>
            <a:r>
              <a:rPr sz="770">
                <a:solidFill>
                  <a:srgbClr val="5F5F5F"/>
                </a:solidFill>
                <a:latin typeface="Arial"/>
              </a:rPr>
              <a:t>Google Forms anonyme ; joueurs réguliers, occasionnels et acheteurs potentiels.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1417320"/>
            <a:ext cx="54864" cy="777240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257800" y="2377440"/>
            <a:ext cx="3429000" cy="77724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Critères dominants</a:t>
            </a:r>
          </a:p>
          <a:p>
            <a:pPr>
              <a:spcBef>
                <a:spcPts val="200"/>
              </a:spcBef>
            </a:pPr>
            <a:r>
              <a:rPr sz="770">
                <a:solidFill>
                  <a:srgbClr val="5F5F5F"/>
                </a:solidFill>
                <a:latin typeface="Arial"/>
              </a:rPr>
              <a:t>Qualité graphique 4,14/5 ; Histoire 4,0/5 ; Univers 4,0/5.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7800" y="2377440"/>
            <a:ext cx="54864" cy="777240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257800" y="3337560"/>
            <a:ext cx="3429000" cy="77724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Usage</a:t>
            </a:r>
          </a:p>
          <a:p>
            <a:pPr>
              <a:spcBef>
                <a:spcPts val="200"/>
              </a:spcBef>
            </a:pPr>
            <a:r>
              <a:rPr sz="770">
                <a:solidFill>
                  <a:srgbClr val="5F5F5F"/>
                </a:solidFill>
                <a:latin typeface="Arial"/>
              </a:rPr>
              <a:t>Poids de 20 % dans le score data final : éclairage, non preuve statistique.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57800" y="3337560"/>
            <a:ext cx="54864" cy="777240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itle 7"/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Title 8"/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ubtitle 9"/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 idx="9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Subtitle 1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Title 12"/>
          <p:cNvSpPr>
            <a:spLocks noGrp="1"/>
          </p:cNvSpPr>
          <p:nvPr>
            <p:ph type="title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Subtitle 1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-2697"/>
            <a:ext cx="9144000" cy="51435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164592"/>
            <a:ext cx="868680" cy="256032"/>
          </a:xfrm>
          <a:prstGeom prst="round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A5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93776"/>
            <a:ext cx="8321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1E1E"/>
                </a:solidFill>
                <a:latin typeface="Arial"/>
              </a:rPr>
              <a:t>Méthode de scoring des segments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84124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5F5F5F"/>
                </a:solidFill>
                <a:latin typeface="Arial"/>
              </a:rPr>
              <a:t>Un score d’aide à la décision, pas un verdict automatique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069848"/>
            <a:ext cx="685800" cy="32004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840" y="1069848"/>
            <a:ext cx="86868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74519" y="1069848"/>
            <a:ext cx="548640" cy="32004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23160" y="1069848"/>
            <a:ext cx="640080" cy="32004"/>
          </a:xfrm>
          <a:prstGeom prst="rect">
            <a:avLst/>
          </a:prstGeom>
          <a:solidFill>
            <a:srgbClr val="F6D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63239" y="1069848"/>
            <a:ext cx="731520" cy="3200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794759" y="1069848"/>
            <a:ext cx="68580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4956048"/>
            <a:ext cx="6583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" b="0">
                <a:solidFill>
                  <a:srgbClr val="5F5F5F"/>
                </a:solidFill>
                <a:latin typeface="Arial"/>
              </a:rPr>
              <a:t>Projet P10 — UOI Games | Annexes — méthode, sources, scoring, hypothèses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34" y="4878259"/>
            <a:ext cx="3840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700" b="1" dirty="0">
                <a:solidFill>
                  <a:srgbClr val="5F5F5F"/>
                </a:solidFill>
                <a:latin typeface="Arial"/>
              </a:rPr>
              <a:t>27</a:t>
            </a:r>
            <a:endParaRPr sz="700" b="1" dirty="0">
              <a:solidFill>
                <a:srgbClr val="5F5F5F"/>
              </a:solidFill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11480" y="1325880"/>
            <a:ext cx="4800600" cy="3246120"/>
          </a:xfrm>
          <a:prstGeom prst="rect">
            <a:avLst/>
          </a:prstGeom>
          <a:solidFill>
            <a:srgbClr val="FFFFFF"/>
          </a:solidFill>
          <a:ln w="8890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segment_02_decomposition_scores_ponder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666981"/>
            <a:ext cx="4727448" cy="2563916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5440680" y="1417320"/>
            <a:ext cx="3246120" cy="77724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Score data final</a:t>
            </a:r>
          </a:p>
          <a:p>
            <a:pPr>
              <a:spcBef>
                <a:spcPts val="200"/>
              </a:spcBef>
            </a:pPr>
            <a:r>
              <a:rPr sz="780">
                <a:solidFill>
                  <a:srgbClr val="5F5F5F"/>
                </a:solidFill>
                <a:latin typeface="Arial"/>
              </a:rPr>
              <a:t>40 % interne + 40 % externe + 20 % questionnaire.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0680" y="1417320"/>
            <a:ext cx="54864" cy="777240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440680" y="2377440"/>
            <a:ext cx="3246120" cy="77724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Score décisionnel</a:t>
            </a:r>
          </a:p>
          <a:p>
            <a:pPr>
              <a:spcBef>
                <a:spcPts val="200"/>
              </a:spcBef>
            </a:pPr>
            <a:r>
              <a:rPr sz="780">
                <a:solidFill>
                  <a:srgbClr val="5F5F5F"/>
                </a:solidFill>
                <a:latin typeface="Arial"/>
              </a:rPr>
              <a:t>80 % score data final + 20 % grille stratégique qualitative.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40680" y="2377440"/>
            <a:ext cx="54864" cy="777240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440680" y="3337560"/>
            <a:ext cx="3246120" cy="77724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Résultat</a:t>
            </a:r>
          </a:p>
          <a:p>
            <a:pPr>
              <a:spcBef>
                <a:spcPts val="200"/>
              </a:spcBef>
            </a:pPr>
            <a:r>
              <a:rPr sz="780">
                <a:solidFill>
                  <a:srgbClr val="5F5F5F"/>
                </a:solidFill>
                <a:latin typeface="Arial"/>
              </a:rPr>
              <a:t>Action / aventure AAA : 4,54/5 — segment recommandé.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40680" y="3337560"/>
            <a:ext cx="54864" cy="777240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itle 7"/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Title 8"/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ubtitle 9"/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 idx="9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Subtitle 1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Title 12"/>
          <p:cNvSpPr>
            <a:spLocks noGrp="1"/>
          </p:cNvSpPr>
          <p:nvPr>
            <p:ph type="title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Subtitle 1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164592"/>
            <a:ext cx="868680" cy="256032"/>
          </a:xfrm>
          <a:prstGeom prst="round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A6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93776"/>
            <a:ext cx="8321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1E1E"/>
                </a:solidFill>
                <a:latin typeface="Arial"/>
              </a:rPr>
              <a:t>SWOT et PESTEL détaillés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84124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5F5F5F"/>
                </a:solidFill>
                <a:latin typeface="Arial"/>
              </a:rPr>
              <a:t>Facteurs internes et externes traduits en décisions opérationnelles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069848"/>
            <a:ext cx="685800" cy="32004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840" y="1069848"/>
            <a:ext cx="86868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74519" y="1069848"/>
            <a:ext cx="548640" cy="32004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23160" y="1069848"/>
            <a:ext cx="640080" cy="32004"/>
          </a:xfrm>
          <a:prstGeom prst="rect">
            <a:avLst/>
          </a:prstGeom>
          <a:solidFill>
            <a:srgbClr val="F6D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63239" y="1069848"/>
            <a:ext cx="731520" cy="3200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794759" y="1069848"/>
            <a:ext cx="68580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4956048"/>
            <a:ext cx="6583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" b="0">
                <a:solidFill>
                  <a:srgbClr val="5F5F5F"/>
                </a:solidFill>
                <a:latin typeface="Arial"/>
              </a:rPr>
              <a:t>Projet P10 — UOI Games | Annexes — méthode, sources, scoring, hypothèses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25" y="4855464"/>
            <a:ext cx="3840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700" b="1" dirty="0">
                <a:solidFill>
                  <a:srgbClr val="5F5F5F"/>
                </a:solidFill>
                <a:latin typeface="Arial"/>
              </a:rPr>
              <a:t>28</a:t>
            </a:r>
            <a:endParaRPr sz="700" b="1" dirty="0">
              <a:solidFill>
                <a:srgbClr val="5F5F5F"/>
              </a:solidFill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11480" y="1325880"/>
            <a:ext cx="4251960" cy="3246120"/>
          </a:xfrm>
          <a:prstGeom prst="rect">
            <a:avLst/>
          </a:prstGeom>
          <a:solidFill>
            <a:srgbClr val="FFFFFF"/>
          </a:solidFill>
          <a:ln w="8890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358322"/>
            <a:ext cx="4178808" cy="3181235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892040" y="1325880"/>
            <a:ext cx="4110070" cy="3246120"/>
          </a:xfrm>
          <a:prstGeom prst="rect">
            <a:avLst/>
          </a:prstGeom>
          <a:solidFill>
            <a:srgbClr val="FFFFFF"/>
          </a:solidFill>
          <a:ln w="8890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271" y="1563624"/>
            <a:ext cx="3721608" cy="28586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02920" y="4645152"/>
            <a:ext cx="8092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" b="1">
                <a:solidFill>
                  <a:srgbClr val="1E1E1E"/>
                </a:solidFill>
                <a:latin typeface="Arial"/>
              </a:rPr>
              <a:t>Lecture : marché et segment porteurs, mais nécessité de compenser l’absence de licence par une forte différenciation et une production par jalons.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itle 7"/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Title 8"/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ubtitle 9"/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 idx="9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Subtitle 1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Title 12"/>
          <p:cNvSpPr>
            <a:spLocks noGrp="1"/>
          </p:cNvSpPr>
          <p:nvPr>
            <p:ph type="title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Subtitle 1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-25" y="-311921"/>
            <a:ext cx="9144000" cy="5455421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164592"/>
            <a:ext cx="868680" cy="256032"/>
          </a:xfrm>
          <a:prstGeom prst="round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A7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93776"/>
            <a:ext cx="8321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1E1E"/>
                </a:solidFill>
                <a:latin typeface="Arial"/>
              </a:rPr>
              <a:t>Prévision commerciale : scénarios et hypothèses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84124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5F5F5F"/>
                </a:solidFill>
                <a:latin typeface="Arial"/>
              </a:rPr>
              <a:t>Ordre de grandeur commercial, non budget de production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069848"/>
            <a:ext cx="685800" cy="32004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840" y="1069848"/>
            <a:ext cx="86868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74519" y="1069848"/>
            <a:ext cx="548640" cy="32004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23160" y="1069848"/>
            <a:ext cx="640080" cy="32004"/>
          </a:xfrm>
          <a:prstGeom prst="rect">
            <a:avLst/>
          </a:prstGeom>
          <a:solidFill>
            <a:srgbClr val="F6D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63239" y="1069848"/>
            <a:ext cx="731520" cy="3200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794759" y="1069848"/>
            <a:ext cx="68580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5865" y="4943445"/>
            <a:ext cx="3840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700" b="1" dirty="0">
                <a:solidFill>
                  <a:srgbClr val="5F5F5F"/>
                </a:solidFill>
                <a:latin typeface="Arial"/>
              </a:rPr>
              <a:t>29</a:t>
            </a:r>
            <a:endParaRPr sz="700" b="1" dirty="0">
              <a:solidFill>
                <a:srgbClr val="5F5F5F"/>
              </a:solidFill>
              <a:latin typeface="Arial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943052"/>
              </p:ext>
            </p:extLst>
          </p:nvPr>
        </p:nvGraphicFramePr>
        <p:xfrm>
          <a:off x="170891" y="1191334"/>
          <a:ext cx="379476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690" b="1" dirty="0" err="1">
                          <a:solidFill>
                            <a:srgbClr val="FFFFFF"/>
                          </a:solidFill>
                          <a:latin typeface="Arial"/>
                        </a:rPr>
                        <a:t>Scénario</a:t>
                      </a:r>
                      <a:endParaRPr sz="69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2004" marR="32004" marT="18288" marB="18288">
                    <a:solidFill>
                      <a:srgbClr val="745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Ventes</a:t>
                      </a:r>
                    </a:p>
                  </a:txBody>
                  <a:tcPr marL="32004" marR="32004" marT="18288" marB="18288">
                    <a:solidFill>
                      <a:srgbClr val="745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Revenu conso.</a:t>
                      </a:r>
                    </a:p>
                  </a:txBody>
                  <a:tcPr marL="32004" marR="32004" marT="18288" marB="18288">
                    <a:solidFill>
                      <a:srgbClr val="745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Net prudent</a:t>
                      </a:r>
                    </a:p>
                  </a:txBody>
                  <a:tcPr marL="32004" marR="32004" marT="18288" marB="18288">
                    <a:solidFill>
                      <a:srgbClr val="745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E1E1E"/>
                          </a:solidFill>
                          <a:latin typeface="Arial"/>
                        </a:rPr>
                        <a:t>Prudent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E1E1E"/>
                          </a:solidFill>
                          <a:latin typeface="Arial"/>
                        </a:rPr>
                        <a:t>1.2 M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 dirty="0">
                          <a:solidFill>
                            <a:srgbClr val="1E1E1E"/>
                          </a:solidFill>
                          <a:latin typeface="Arial"/>
                        </a:rPr>
                        <a:t>84.0 M€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E1E1E"/>
                          </a:solidFill>
                          <a:latin typeface="Arial"/>
                        </a:rPr>
                        <a:t>55.9 M€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E1E1E"/>
                          </a:solidFill>
                          <a:latin typeface="Arial"/>
                        </a:rPr>
                        <a:t>Central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E1E1E"/>
                          </a:solidFill>
                          <a:latin typeface="Arial"/>
                        </a:rPr>
                        <a:t>3.0 M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E1E1E"/>
                          </a:solidFill>
                          <a:latin typeface="Arial"/>
                        </a:rPr>
                        <a:t>210.0 M€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E1E1E"/>
                          </a:solidFill>
                          <a:latin typeface="Arial"/>
                        </a:rPr>
                        <a:t>139.6 M€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690" b="0" dirty="0" err="1">
                          <a:solidFill>
                            <a:srgbClr val="1E1E1E"/>
                          </a:solidFill>
                          <a:latin typeface="Arial"/>
                        </a:rPr>
                        <a:t>Ambitieux</a:t>
                      </a:r>
                      <a:endParaRPr sz="690" b="0" dirty="0">
                        <a:solidFill>
                          <a:srgbClr val="1E1E1E"/>
                        </a:solidFill>
                        <a:latin typeface="Arial"/>
                      </a:endParaRP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E1E1E"/>
                          </a:solidFill>
                          <a:latin typeface="Arial"/>
                        </a:rPr>
                        <a:t>6.0 M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E1E1E"/>
                          </a:solidFill>
                          <a:latin typeface="Arial"/>
                        </a:rPr>
                        <a:t>419.9 M€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 dirty="0">
                          <a:solidFill>
                            <a:srgbClr val="1E1E1E"/>
                          </a:solidFill>
                          <a:latin typeface="Arial"/>
                        </a:rPr>
                        <a:t>279.3 M€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4791458" y="1135220"/>
            <a:ext cx="4227852" cy="2890872"/>
          </a:xfrm>
          <a:prstGeom prst="rect">
            <a:avLst/>
          </a:prstGeom>
          <a:solidFill>
            <a:srgbClr val="FFFFFF"/>
          </a:solidFill>
          <a:ln w="8890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forecast_05_sensibilite_prix_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309" y="1238952"/>
            <a:ext cx="3807042" cy="2702882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47550" y="2570101"/>
            <a:ext cx="3794760" cy="1163039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 dirty="0" err="1">
                <a:solidFill>
                  <a:srgbClr val="1E1E1E"/>
                </a:solidFill>
                <a:latin typeface="Arial"/>
              </a:rPr>
              <a:t>Hypothèses</a:t>
            </a:r>
            <a:endParaRPr sz="960" b="1" dirty="0">
              <a:solidFill>
                <a:srgbClr val="1E1E1E"/>
              </a:solidFill>
              <a:latin typeface="Arial"/>
            </a:endParaRPr>
          </a:p>
          <a:p>
            <a:pPr>
              <a:spcBef>
                <a:spcPts val="200"/>
              </a:spcBef>
            </a:pPr>
            <a:r>
              <a:rPr sz="730" dirty="0">
                <a:solidFill>
                  <a:srgbClr val="5F5F5F"/>
                </a:solidFill>
                <a:latin typeface="Arial"/>
              </a:rPr>
              <a:t>Segment : Action / </a:t>
            </a:r>
            <a:r>
              <a:rPr sz="730" dirty="0" err="1">
                <a:solidFill>
                  <a:srgbClr val="5F5F5F"/>
                </a:solidFill>
                <a:latin typeface="Arial"/>
              </a:rPr>
              <a:t>aventure</a:t>
            </a:r>
            <a:r>
              <a:rPr sz="730" dirty="0">
                <a:solidFill>
                  <a:srgbClr val="5F5F5F"/>
                </a:solidFill>
                <a:latin typeface="Arial"/>
              </a:rPr>
              <a:t> AAA
Prix public : 69,99 €
Commission </a:t>
            </a:r>
            <a:r>
              <a:rPr sz="730" dirty="0" err="1">
                <a:solidFill>
                  <a:srgbClr val="5F5F5F"/>
                </a:solidFill>
                <a:latin typeface="Arial"/>
              </a:rPr>
              <a:t>plateforme</a:t>
            </a:r>
            <a:r>
              <a:rPr sz="730" dirty="0">
                <a:solidFill>
                  <a:srgbClr val="5F5F5F"/>
                </a:solidFill>
                <a:latin typeface="Arial"/>
              </a:rPr>
              <a:t> : 30 %
</a:t>
            </a:r>
            <a:r>
              <a:rPr sz="730" dirty="0" err="1">
                <a:solidFill>
                  <a:srgbClr val="5F5F5F"/>
                </a:solidFill>
                <a:latin typeface="Arial"/>
              </a:rPr>
              <a:t>Décote</a:t>
            </a:r>
            <a:r>
              <a:rPr sz="730" dirty="0">
                <a:solidFill>
                  <a:srgbClr val="5F5F5F"/>
                </a:solidFill>
                <a:latin typeface="Arial"/>
              </a:rPr>
              <a:t> </a:t>
            </a:r>
            <a:r>
              <a:rPr sz="730" dirty="0" err="1">
                <a:solidFill>
                  <a:srgbClr val="5F5F5F"/>
                </a:solidFill>
                <a:latin typeface="Arial"/>
              </a:rPr>
              <a:t>prudente</a:t>
            </a:r>
            <a:r>
              <a:rPr sz="730" dirty="0">
                <a:solidFill>
                  <a:srgbClr val="5F5F5F"/>
                </a:solidFill>
                <a:latin typeface="Arial"/>
              </a:rPr>
              <a:t> : 5 %
</a:t>
            </a:r>
            <a:r>
              <a:rPr sz="730" dirty="0" err="1">
                <a:solidFill>
                  <a:srgbClr val="5F5F5F"/>
                </a:solidFill>
                <a:latin typeface="Arial"/>
              </a:rPr>
              <a:t>Prévision</a:t>
            </a:r>
            <a:r>
              <a:rPr sz="730" dirty="0">
                <a:solidFill>
                  <a:srgbClr val="5F5F5F"/>
                </a:solidFill>
                <a:latin typeface="Arial"/>
              </a:rPr>
              <a:t> : sell-through </a:t>
            </a:r>
            <a:r>
              <a:rPr sz="730" dirty="0" err="1">
                <a:solidFill>
                  <a:srgbClr val="5F5F5F"/>
                </a:solidFill>
                <a:latin typeface="Arial"/>
              </a:rPr>
              <a:t>consommateur</a:t>
            </a:r>
            <a:endParaRPr sz="730" dirty="0">
              <a:solidFill>
                <a:srgbClr val="5F5F5F"/>
              </a:solidFill>
              <a:latin typeface="Aria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01831" y="2621023"/>
            <a:ext cx="45719" cy="1118423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5DDD7989-D102-F855-FF5F-693224C94883}"/>
              </a:ext>
            </a:extLst>
          </p:cNvPr>
          <p:cNvSpPr txBox="1"/>
          <p:nvPr/>
        </p:nvSpPr>
        <p:spPr>
          <a:xfrm>
            <a:off x="124690" y="3829814"/>
            <a:ext cx="4250714" cy="12772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900" b="1" u="sng" dirty="0">
                <a:solidFill>
                  <a:srgbClr val="FF0000"/>
                </a:solidFill>
              </a:rPr>
              <a:t>Ancrage macroéconomique </a:t>
            </a:r>
            <a:r>
              <a:rPr lang="fr-FR" sz="900" dirty="0"/>
              <a:t>:</a:t>
            </a:r>
          </a:p>
          <a:p>
            <a:r>
              <a:rPr lang="fr-FR" sz="900" dirty="0"/>
              <a:t>Marché mondial PC + console 2025 : 85,8 Md$.</a:t>
            </a:r>
          </a:p>
          <a:p>
            <a:r>
              <a:rPr lang="fr-FR" sz="900" dirty="0"/>
              <a:t>À 70 €/$ par jeu premium, cela représente environ 1,2 milliard d’unités équivalent plein tarif, tous revenus PC + console confondus.</a:t>
            </a:r>
          </a:p>
          <a:p>
            <a:endParaRPr lang="fr-FR" sz="500" dirty="0"/>
          </a:p>
          <a:p>
            <a:r>
              <a:rPr lang="fr-FR" sz="900" b="1" u="sng" dirty="0">
                <a:solidFill>
                  <a:srgbClr val="FF0000"/>
                </a:solidFill>
              </a:rPr>
              <a:t>Les scénarios UOI Games correspondent à </a:t>
            </a:r>
            <a:r>
              <a:rPr lang="fr-FR" sz="900" dirty="0"/>
              <a:t>:</a:t>
            </a:r>
          </a:p>
          <a:p>
            <a:r>
              <a:rPr lang="fr-FR" sz="900" dirty="0"/>
              <a:t>• Prudent : 1,2 M unités ≈ 0,10 % du marché adressable</a:t>
            </a:r>
          </a:p>
          <a:p>
            <a:r>
              <a:rPr lang="fr-FR" sz="900" dirty="0"/>
              <a:t>• Central : 3,0 M unités ≈ 0,24 %</a:t>
            </a:r>
          </a:p>
          <a:p>
            <a:r>
              <a:rPr lang="fr-FR" sz="900" dirty="0"/>
              <a:t>• Ambitieux : 6,0 M unités ≈ 0,49 %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5F858571-FBAC-7A57-19CF-697E0AE123C1}"/>
              </a:ext>
            </a:extLst>
          </p:cNvPr>
          <p:cNvSpPr txBox="1"/>
          <p:nvPr/>
        </p:nvSpPr>
        <p:spPr>
          <a:xfrm>
            <a:off x="4791458" y="4048336"/>
            <a:ext cx="422785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900" dirty="0"/>
              <a:t>Les volumes testés correspondent à une pénétration comprise entre environ </a:t>
            </a:r>
            <a:r>
              <a:rPr lang="fr-FR" sz="900" b="1" dirty="0"/>
              <a:t>0,04 % et 0,41 %</a:t>
            </a:r>
            <a:r>
              <a:rPr lang="fr-FR" sz="900" dirty="0"/>
              <a:t> du marché mondial PC + console 2025 en équivalent plein tarif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42FC9496-D892-FF9D-4098-225B95597A14}"/>
              </a:ext>
            </a:extLst>
          </p:cNvPr>
          <p:cNvSpPr txBox="1"/>
          <p:nvPr/>
        </p:nvSpPr>
        <p:spPr>
          <a:xfrm>
            <a:off x="4791458" y="4454908"/>
            <a:ext cx="4227852" cy="5078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900" b="1" dirty="0">
                <a:solidFill>
                  <a:srgbClr val="FF0000"/>
                </a:solidFill>
              </a:rPr>
              <a:t>Lecture</a:t>
            </a:r>
            <a:r>
              <a:rPr lang="fr-FR" sz="900" dirty="0"/>
              <a:t> : parts de marché indicatives, calculées en équivalent jeu premium ; le marché réel inclut aussi contenus additionnels, abonnements et microtransactions.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3AE28-3211-B6E1-0D78-22A24A1C5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6E18-9177-3BE3-8CA9-778D2F62A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A8912-BFD3-CD41-0BAB-63370ACBCA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B8B55B-35AD-0A49-F7A0-45A1CA5425CE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03EA5D4-4159-3D43-2CC3-087A3A686BA7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57B86EE-2FB9-3336-CC7D-6AC7F1588C74}"/>
              </a:ext>
            </a:extLst>
          </p:cNvPr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A842B2E-2686-E24B-9FE9-8F26405C5629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0F92BC0-9B1A-ACC3-C574-F9E1871928D5}"/>
              </a:ext>
            </a:extLst>
          </p:cNvPr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EE6A4EB-48ED-1FAF-198A-07767279EF0A}"/>
              </a:ext>
            </a:extLst>
          </p:cNvPr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7F53BBD5-3E15-90B5-375F-01D420F7E8B7}"/>
              </a:ext>
            </a:extLst>
          </p:cNvPr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A8710D2-171F-CB50-2334-F2D1EB05D81F}"/>
              </a:ext>
            </a:extLst>
          </p:cNvPr>
          <p:cNvSpPr>
            <a:spLocks noGrp="1"/>
          </p:cNvSpPr>
          <p:nvPr>
            <p:ph type="title" idx="9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7B8DC70B-06D3-EF9E-D749-D63588F695F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92C2484-1313-F2EC-7227-9007AF7C85EC}"/>
              </a:ext>
            </a:extLst>
          </p:cNvPr>
          <p:cNvSpPr>
            <a:spLocks noGrp="1"/>
          </p:cNvSpPr>
          <p:nvPr>
            <p:ph type="title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1D5CC9D4-C88C-24E0-AFD5-CAFE204CBB63}"/>
              </a:ext>
            </a:extLst>
          </p:cNvPr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48B2EB-9ACD-9016-D93F-983B5FB7D9AB}"/>
              </a:ext>
            </a:extLst>
          </p:cNvPr>
          <p:cNvSpPr/>
          <p:nvPr/>
        </p:nvSpPr>
        <p:spPr>
          <a:xfrm>
            <a:off x="-25" y="-311921"/>
            <a:ext cx="9144000" cy="5455421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B7AA148-A6D0-DDA4-5498-B97D49E54C79}"/>
              </a:ext>
            </a:extLst>
          </p:cNvPr>
          <p:cNvSpPr/>
          <p:nvPr/>
        </p:nvSpPr>
        <p:spPr>
          <a:xfrm>
            <a:off x="320040" y="164592"/>
            <a:ext cx="868680" cy="256032"/>
          </a:xfrm>
          <a:prstGeom prst="round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FFFFFF"/>
                </a:solidFill>
                <a:latin typeface="Arial"/>
              </a:rPr>
              <a:t>A8</a:t>
            </a:r>
            <a:endParaRPr sz="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02FC41-E6F8-AEF7-28B1-5E3A1D6CAEBB}"/>
              </a:ext>
            </a:extLst>
          </p:cNvPr>
          <p:cNvSpPr txBox="1"/>
          <p:nvPr/>
        </p:nvSpPr>
        <p:spPr>
          <a:xfrm>
            <a:off x="320040" y="493776"/>
            <a:ext cx="83210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700" b="1" dirty="0">
                <a:solidFill>
                  <a:srgbClr val="1E1E1E"/>
                </a:solidFill>
                <a:latin typeface="Arial"/>
              </a:rPr>
              <a:t>Roadmap indicative de mise en </a:t>
            </a:r>
            <a:r>
              <a:rPr lang="fr-FR" sz="1700" b="1" dirty="0" err="1">
                <a:solidFill>
                  <a:srgbClr val="1E1E1E"/>
                </a:solidFill>
                <a:latin typeface="Arial"/>
              </a:rPr>
              <a:t>oeuvre</a:t>
            </a:r>
            <a:endParaRPr sz="1700" b="1" dirty="0">
              <a:solidFill>
                <a:srgbClr val="1E1E1E"/>
              </a:solidFill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4F5D3A-8B8F-E32D-783D-DF332A197194}"/>
              </a:ext>
            </a:extLst>
          </p:cNvPr>
          <p:cNvSpPr txBox="1"/>
          <p:nvPr/>
        </p:nvSpPr>
        <p:spPr>
          <a:xfrm>
            <a:off x="329184" y="841248"/>
            <a:ext cx="8229600" cy="21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819" b="0" dirty="0">
                <a:solidFill>
                  <a:srgbClr val="5F5F5F"/>
                </a:solidFill>
                <a:latin typeface="Arial"/>
              </a:rPr>
              <a:t>De la validation du concept au post-lancement</a:t>
            </a:r>
            <a:endParaRPr sz="819" b="0" dirty="0">
              <a:solidFill>
                <a:srgbClr val="5F5F5F"/>
              </a:solidFill>
              <a:latin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A1E35-41AA-5866-392C-455064F1B277}"/>
              </a:ext>
            </a:extLst>
          </p:cNvPr>
          <p:cNvSpPr/>
          <p:nvPr/>
        </p:nvSpPr>
        <p:spPr>
          <a:xfrm>
            <a:off x="320040" y="1069848"/>
            <a:ext cx="685800" cy="32004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E3FCD-C7A2-4058-8F89-9596FB46E741}"/>
              </a:ext>
            </a:extLst>
          </p:cNvPr>
          <p:cNvSpPr/>
          <p:nvPr/>
        </p:nvSpPr>
        <p:spPr>
          <a:xfrm>
            <a:off x="1005840" y="1069848"/>
            <a:ext cx="86868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A87B54-A786-0705-D801-5F1E39C9F2C9}"/>
              </a:ext>
            </a:extLst>
          </p:cNvPr>
          <p:cNvSpPr/>
          <p:nvPr/>
        </p:nvSpPr>
        <p:spPr>
          <a:xfrm>
            <a:off x="1874519" y="1069848"/>
            <a:ext cx="548640" cy="32004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B413CC-5761-BFCE-4C21-9B8D29465C2E}"/>
              </a:ext>
            </a:extLst>
          </p:cNvPr>
          <p:cNvSpPr/>
          <p:nvPr/>
        </p:nvSpPr>
        <p:spPr>
          <a:xfrm>
            <a:off x="2423160" y="1069848"/>
            <a:ext cx="640080" cy="32004"/>
          </a:xfrm>
          <a:prstGeom prst="rect">
            <a:avLst/>
          </a:prstGeom>
          <a:solidFill>
            <a:srgbClr val="F6D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E9DA52-35C9-973E-2FF6-6C874F81F9B0}"/>
              </a:ext>
            </a:extLst>
          </p:cNvPr>
          <p:cNvSpPr/>
          <p:nvPr/>
        </p:nvSpPr>
        <p:spPr>
          <a:xfrm>
            <a:off x="3063239" y="1069848"/>
            <a:ext cx="731520" cy="3200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C4A7D0-28AD-925B-6D25-07D84B8BD8C8}"/>
              </a:ext>
            </a:extLst>
          </p:cNvPr>
          <p:cNvSpPr/>
          <p:nvPr/>
        </p:nvSpPr>
        <p:spPr>
          <a:xfrm>
            <a:off x="3794759" y="1069848"/>
            <a:ext cx="68580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E7EC4D-9A51-53C5-B97A-36BB560BF17B}"/>
              </a:ext>
            </a:extLst>
          </p:cNvPr>
          <p:cNvSpPr txBox="1"/>
          <p:nvPr/>
        </p:nvSpPr>
        <p:spPr>
          <a:xfrm>
            <a:off x="8775865" y="4943445"/>
            <a:ext cx="3840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700" b="1" dirty="0">
                <a:solidFill>
                  <a:srgbClr val="5F5F5F"/>
                </a:solidFill>
                <a:latin typeface="Arial"/>
              </a:rPr>
              <a:t>29</a:t>
            </a:r>
            <a:endParaRPr sz="700" b="1" dirty="0">
              <a:solidFill>
                <a:srgbClr val="5F5F5F"/>
              </a:solidFill>
              <a:latin typeface="Arial"/>
            </a:endParaRP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23BC3312-E5BF-F865-B832-C24E5B248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006" y="1361389"/>
            <a:ext cx="9144000" cy="1432786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0B3DF1BE-1CCA-77C9-540A-76A0CF173670}"/>
              </a:ext>
            </a:extLst>
          </p:cNvPr>
          <p:cNvSpPr txBox="1"/>
          <p:nvPr/>
        </p:nvSpPr>
        <p:spPr>
          <a:xfrm>
            <a:off x="575441" y="3023068"/>
            <a:ext cx="7622628" cy="101566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fr-FR" sz="1200" dirty="0"/>
              <a:t>Produire un pitch complet et un prototype jouable très court.</a:t>
            </a:r>
          </a:p>
          <a:p>
            <a:pPr marL="228600" indent="-228600">
              <a:buAutoNum type="arabicPeriod"/>
            </a:pPr>
            <a:r>
              <a:rPr lang="fr-FR" sz="1200" dirty="0"/>
              <a:t>Tester le concept auprès de joueurs cibles et enrichir le questionnaire avec un panel plus large.</a:t>
            </a:r>
          </a:p>
          <a:p>
            <a:pPr marL="228600" indent="-228600">
              <a:buAutoNum type="arabicPeriod"/>
            </a:pPr>
            <a:r>
              <a:rPr lang="fr-FR" sz="1200" dirty="0"/>
              <a:t>Construire un vertical slice : gameplay, direction artistique, boucle de progression et éléments narratifs.</a:t>
            </a:r>
          </a:p>
          <a:p>
            <a:pPr marL="228600" indent="-228600">
              <a:buAutoNum type="arabicPeriod"/>
            </a:pPr>
            <a:r>
              <a:rPr lang="fr-FR" sz="1200" dirty="0"/>
              <a:t>Préparer </a:t>
            </a:r>
            <a:r>
              <a:rPr lang="fr-FR" sz="1200" dirty="0" err="1"/>
              <a:t>wishlist</a:t>
            </a:r>
            <a:r>
              <a:rPr lang="fr-FR" sz="1200" dirty="0"/>
              <a:t> Steam/console stores, communauté, trailer, relations presse et création de contenus.</a:t>
            </a:r>
          </a:p>
          <a:p>
            <a:pPr marL="228600" indent="-228600">
              <a:buAutoNum type="arabicPeriod"/>
            </a:pPr>
            <a:r>
              <a:rPr lang="fr-FR" sz="1200" dirty="0"/>
              <a:t>Prévoir extensions narratives et contenu additionnel non intrusif. </a:t>
            </a:r>
          </a:p>
        </p:txBody>
      </p:sp>
      <p:sp>
        <p:nvSpPr>
          <p:cNvPr id="41" name="TextBox 24">
            <a:extLst>
              <a:ext uri="{FF2B5EF4-FFF2-40B4-BE49-F238E27FC236}">
                <a16:creationId xmlns:a16="http://schemas.microsoft.com/office/drawing/2014/main" id="{59A6745D-926D-6AFB-0112-C5A0E06FEC41}"/>
              </a:ext>
            </a:extLst>
          </p:cNvPr>
          <p:cNvSpPr txBox="1"/>
          <p:nvPr/>
        </p:nvSpPr>
        <p:spPr>
          <a:xfrm>
            <a:off x="329184" y="4826790"/>
            <a:ext cx="6583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" b="0" dirty="0" err="1">
                <a:solidFill>
                  <a:srgbClr val="5F5F5F"/>
                </a:solidFill>
                <a:latin typeface="Arial"/>
              </a:rPr>
              <a:t>Projet</a:t>
            </a:r>
            <a:r>
              <a:rPr sz="660" b="0" dirty="0">
                <a:solidFill>
                  <a:srgbClr val="5F5F5F"/>
                </a:solidFill>
                <a:latin typeface="Arial"/>
              </a:rPr>
              <a:t> P10 — UOI Games | Annexes — </a:t>
            </a:r>
            <a:r>
              <a:rPr sz="660" b="0" dirty="0" err="1">
                <a:solidFill>
                  <a:srgbClr val="5F5F5F"/>
                </a:solidFill>
                <a:latin typeface="Arial"/>
              </a:rPr>
              <a:t>méthode</a:t>
            </a:r>
            <a:r>
              <a:rPr sz="660" b="0" dirty="0">
                <a:solidFill>
                  <a:srgbClr val="5F5F5F"/>
                </a:solidFill>
                <a:latin typeface="Arial"/>
              </a:rPr>
              <a:t>, sources, scoring, </a:t>
            </a:r>
            <a:r>
              <a:rPr sz="660" b="0" dirty="0" err="1">
                <a:solidFill>
                  <a:srgbClr val="5F5F5F"/>
                </a:solidFill>
                <a:latin typeface="Arial"/>
              </a:rPr>
              <a:t>hypothèses</a:t>
            </a:r>
            <a:endParaRPr sz="660" b="0" dirty="0">
              <a:solidFill>
                <a:srgbClr val="5F5F5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76253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itle 7"/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Title 8"/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ubtitle 9"/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 idx="9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Subtitle 1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Title 12"/>
          <p:cNvSpPr>
            <a:spLocks noGrp="1"/>
          </p:cNvSpPr>
          <p:nvPr>
            <p:ph type="title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Subtitle 1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164592"/>
            <a:ext cx="868680" cy="256032"/>
          </a:xfrm>
          <a:prstGeom prst="round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FFFFFF"/>
                </a:solidFill>
                <a:latin typeface="Arial"/>
              </a:rPr>
              <a:t>A9</a:t>
            </a:r>
            <a:endParaRPr sz="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0040" y="493776"/>
            <a:ext cx="83210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1E1E1E"/>
                </a:solidFill>
                <a:latin typeface="Arial"/>
              </a:rPr>
              <a:t>Tables Power BI</a:t>
            </a:r>
            <a:r>
              <a:rPr lang="fr-FR" sz="1700" b="1" dirty="0">
                <a:solidFill>
                  <a:srgbClr val="1E1E1E"/>
                </a:solidFill>
                <a:latin typeface="Arial"/>
              </a:rPr>
              <a:t> </a:t>
            </a:r>
            <a:r>
              <a:rPr sz="1700" b="1" dirty="0">
                <a:solidFill>
                  <a:srgbClr val="1E1E1E"/>
                </a:solidFill>
                <a:latin typeface="Arial"/>
              </a:rPr>
              <a:t>-</a:t>
            </a:r>
            <a:r>
              <a:rPr lang="fr-FR" sz="1700" b="1" dirty="0">
                <a:solidFill>
                  <a:srgbClr val="1E1E1E"/>
                </a:solidFill>
                <a:latin typeface="Arial"/>
              </a:rPr>
              <a:t> </a:t>
            </a:r>
            <a:r>
              <a:rPr sz="1700" b="1" dirty="0">
                <a:solidFill>
                  <a:srgbClr val="1E1E1E"/>
                </a:solidFill>
                <a:latin typeface="Arial"/>
              </a:rPr>
              <a:t>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84124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5F5F5F"/>
                </a:solidFill>
                <a:latin typeface="Arial"/>
              </a:rPr>
              <a:t>Une couche structurée pour prolonger le travail en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069848"/>
            <a:ext cx="685800" cy="32004"/>
          </a:xfrm>
          <a:prstGeom prst="rect">
            <a:avLst/>
          </a:prstGeom>
          <a:solidFill>
            <a:srgbClr val="F77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840" y="1069848"/>
            <a:ext cx="86868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74519" y="1069848"/>
            <a:ext cx="548640" cy="32004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23160" y="1069848"/>
            <a:ext cx="640080" cy="32004"/>
          </a:xfrm>
          <a:prstGeom prst="rect">
            <a:avLst/>
          </a:prstGeom>
          <a:solidFill>
            <a:srgbClr val="F6D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63239" y="1069848"/>
            <a:ext cx="731520" cy="3200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794759" y="1069848"/>
            <a:ext cx="685800" cy="32004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4956048"/>
            <a:ext cx="6583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" b="0" dirty="0" err="1">
                <a:solidFill>
                  <a:srgbClr val="5F5F5F"/>
                </a:solidFill>
                <a:latin typeface="Arial"/>
              </a:rPr>
              <a:t>Projet</a:t>
            </a:r>
            <a:r>
              <a:rPr sz="660" b="0" dirty="0">
                <a:solidFill>
                  <a:srgbClr val="5F5F5F"/>
                </a:solidFill>
                <a:latin typeface="Arial"/>
              </a:rPr>
              <a:t> P10 — UOI Games | Annexes — </a:t>
            </a:r>
            <a:r>
              <a:rPr sz="660" b="0" dirty="0" err="1">
                <a:solidFill>
                  <a:srgbClr val="5F5F5F"/>
                </a:solidFill>
                <a:latin typeface="Arial"/>
              </a:rPr>
              <a:t>méthode</a:t>
            </a:r>
            <a:r>
              <a:rPr sz="660" b="0" dirty="0">
                <a:solidFill>
                  <a:srgbClr val="5F5F5F"/>
                </a:solidFill>
                <a:latin typeface="Arial"/>
              </a:rPr>
              <a:t>, sources, scoring, </a:t>
            </a:r>
            <a:r>
              <a:rPr sz="660" b="0" dirty="0" err="1">
                <a:solidFill>
                  <a:srgbClr val="5F5F5F"/>
                </a:solidFill>
                <a:latin typeface="Arial"/>
              </a:rPr>
              <a:t>hypothèses</a:t>
            </a:r>
            <a:endParaRPr sz="660" b="0" dirty="0">
              <a:solidFill>
                <a:srgbClr val="5F5F5F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56985" y="4872044"/>
            <a:ext cx="4669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700" b="1" dirty="0">
                <a:solidFill>
                  <a:srgbClr val="5F5F5F"/>
                </a:solidFill>
                <a:latin typeface="Arial"/>
              </a:rPr>
              <a:t>30</a:t>
            </a:r>
            <a:endParaRPr sz="700" b="1" dirty="0">
              <a:solidFill>
                <a:srgbClr val="5F5F5F"/>
              </a:solidFill>
              <a:latin typeface="Arial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11480" y="1325880"/>
          <a:ext cx="83210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FFFFFF"/>
                          </a:solidFill>
                          <a:latin typeface="Arial"/>
                        </a:rPr>
                        <a:t>Famille</a:t>
                      </a:r>
                    </a:p>
                  </a:txBody>
                  <a:tcPr marL="32004" marR="32004" marT="18288" marB="18288">
                    <a:solidFill>
                      <a:srgbClr val="745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FFFFFF"/>
                          </a:solidFill>
                          <a:latin typeface="Arial"/>
                        </a:rPr>
                        <a:t>Tables représentatives</a:t>
                      </a:r>
                    </a:p>
                  </a:txBody>
                  <a:tcPr marL="32004" marR="32004" marT="18288" marB="18288">
                    <a:solidFill>
                      <a:srgbClr val="745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FFFFFF"/>
                          </a:solidFill>
                          <a:latin typeface="Arial"/>
                        </a:rPr>
                        <a:t>Usage</a:t>
                      </a:r>
                    </a:p>
                  </a:txBody>
                  <a:tcPr marL="32004" marR="32004" marT="18288" marB="18288">
                    <a:solidFill>
                      <a:srgbClr val="745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Dimensions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dim_segment, dim_zone, dim_year, dim_external_source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Filtres, axes, traçabilité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Scores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fact_segment_scores_final_decision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Comparer les segments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Questionnaire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fact_questionnaire_responses, genres, plateformes, critères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Analyser les préférences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SWOT / PESTEL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dim_swot_item, dim_pestel_item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Documenter risques/opportunités</a:t>
                      </a:r>
                    </a:p>
                  </a:txBody>
                  <a:tcPr marL="32004" marR="32004" marT="18288" marB="18288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Prévision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fact_sales_forecast_scenarios, sensitivity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1E1E"/>
                          </a:solidFill>
                          <a:latin typeface="Arial"/>
                        </a:rPr>
                        <a:t>Tester volumes et prix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02920" y="3886200"/>
            <a:ext cx="3931920" cy="6858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Principe</a:t>
            </a:r>
          </a:p>
          <a:p>
            <a:pPr>
              <a:spcBef>
                <a:spcPts val="200"/>
              </a:spcBef>
            </a:pPr>
            <a:r>
              <a:rPr sz="740">
                <a:solidFill>
                  <a:srgbClr val="5F5F5F"/>
                </a:solidFill>
                <a:latin typeface="Arial"/>
              </a:rPr>
              <a:t>Ne pas mélanger artificiellement les sources macro avec les jeux : relations via segments, années, zones, plateformes.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886200"/>
            <a:ext cx="54864" cy="685800"/>
          </a:xfrm>
          <a:prstGeom prst="rect">
            <a:avLst/>
          </a:prstGeom>
          <a:solidFill>
            <a:srgbClr val="745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709160" y="3886200"/>
            <a:ext cx="3931920" cy="6858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F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73152" rtlCol="0" anchor="ctr"/>
          <a:lstStyle/>
          <a:p>
            <a:pPr algn="ctr"/>
            <a:r>
              <a:rPr sz="960" b="1">
                <a:solidFill>
                  <a:srgbClr val="1E1E1E"/>
                </a:solidFill>
                <a:latin typeface="Arial"/>
              </a:rPr>
              <a:t>Utilité</a:t>
            </a:r>
          </a:p>
          <a:p>
            <a:pPr>
              <a:spcBef>
                <a:spcPts val="200"/>
              </a:spcBef>
            </a:pPr>
            <a:r>
              <a:rPr sz="740">
                <a:solidFill>
                  <a:srgbClr val="5F5F5F"/>
                </a:solidFill>
                <a:latin typeface="Arial"/>
              </a:rPr>
              <a:t>Dashboard possible en bonus : tendances, segments, questionnaire, SWOT/PESTEL, prévisions.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60" y="3886200"/>
            <a:ext cx="54864" cy="685800"/>
          </a:xfrm>
          <a:prstGeom prst="rect">
            <a:avLst/>
          </a:prstGeom>
          <a:solidFill>
            <a:srgbClr val="76A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Words>3026</Words>
  <Application>Microsoft Office PowerPoint</Application>
  <PresentationFormat>Affichage à l'écran (16:9)</PresentationFormat>
  <Paragraphs>446</Paragraphs>
  <Slides>31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6" baseType="lpstr">
      <vt:lpstr>Aptos Display</vt:lpstr>
      <vt:lpstr>Space Grotesk Medium</vt:lpstr>
      <vt:lpstr>Arial</vt:lpstr>
      <vt:lpstr>Aptos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Jeremy</dc:creator>
  <cp:lastModifiedBy>Henrique Da Costa</cp:lastModifiedBy>
  <cp:revision>11</cp:revision>
  <dcterms:modified xsi:type="dcterms:W3CDTF">2026-06-09T21:07:43Z</dcterms:modified>
</cp:coreProperties>
</file>